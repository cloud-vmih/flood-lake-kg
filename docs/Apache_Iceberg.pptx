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a2f92803c74a20" /><Relationship Type="http://schemas.openxmlformats.org/officeDocument/2006/relationships/extended-properties" Target="/docProps/app.xml" Id="R43310ed4d40c4585" /><Relationship Type="http://schemas.openxmlformats.org/officeDocument/2006/relationships/officeDocument" Target="/ppt/presentation.xml" Id="R88f24dbf814c4542" /></Relationships>
</file>

<file path=ppt/presentation.xml><?xml version="1.0" encoding="utf-8"?>
<p:presentation xmlns:p="http://schemas.openxmlformats.org/presentationml/2006/main">
  <p:sldMasterIdLst>
    <p:sldMasterId xmlns:r="http://schemas.openxmlformats.org/officeDocument/2006/relationships" id="2147483648" r:id="Ra1b02785949848b9"/>
  </p:sldMasterIdLst>
  <p:notesMasterIdLst>
    <p:notesMasterId xmlns:r="http://schemas.openxmlformats.org/officeDocument/2006/relationships" r:id="R7b2ded66016b4c7a"/>
  </p:notesMasterIdLst>
  <p:sldIdLst>
    <p:sldId xmlns:r="http://schemas.openxmlformats.org/officeDocument/2006/relationships" id="256" r:id="R044c217dcc394cdc"/>
    <p:sldId xmlns:r="http://schemas.openxmlformats.org/officeDocument/2006/relationships" id="257" r:id="Rff87aab568cc48d4"/>
    <p:sldId xmlns:r="http://schemas.openxmlformats.org/officeDocument/2006/relationships" id="258" r:id="R8c219bd7d6b243fe"/>
    <p:sldId xmlns:r="http://schemas.openxmlformats.org/officeDocument/2006/relationships" id="259" r:id="Rc2c20e01790c4d1f"/>
    <p:sldId xmlns:r="http://schemas.openxmlformats.org/officeDocument/2006/relationships" id="260" r:id="R88f5887fe22046cf"/>
    <p:sldId xmlns:r="http://schemas.openxmlformats.org/officeDocument/2006/relationships" id="261" r:id="Re77dd4e51fa042e4"/>
    <p:sldId xmlns:r="http://schemas.openxmlformats.org/officeDocument/2006/relationships" id="262" r:id="R90bbc0b5de694b3c"/>
    <p:sldId xmlns:r="http://schemas.openxmlformats.org/officeDocument/2006/relationships" id="263" r:id="Re8f0a085f2db44c7"/>
    <p:sldId xmlns:r="http://schemas.openxmlformats.org/officeDocument/2006/relationships" id="264" r:id="Ra8d926da6d9a42f3"/>
    <p:sldId xmlns:r="http://schemas.openxmlformats.org/officeDocument/2006/relationships" id="265" r:id="R5b8c746d609b4688"/>
    <p:sldId xmlns:r="http://schemas.openxmlformats.org/officeDocument/2006/relationships" id="266" r:id="R0d68411a154d492c"/>
    <p:sldId xmlns:r="http://schemas.openxmlformats.org/officeDocument/2006/relationships" id="267" r:id="Rd2fc7f3257274118"/>
    <p:sldId xmlns:r="http://schemas.openxmlformats.org/officeDocument/2006/relationships" id="268" r:id="R37c51a7697e54533"/>
    <p:sldId xmlns:r="http://schemas.openxmlformats.org/officeDocument/2006/relationships" id="269" r:id="R6293fab9ed704fd5"/>
    <p:sldId xmlns:r="http://schemas.openxmlformats.org/officeDocument/2006/relationships" id="270" r:id="R4ada143717624d33"/>
    <p:sldId xmlns:r="http://schemas.openxmlformats.org/officeDocument/2006/relationships" id="271" r:id="Refe64ba3563d4cac"/>
    <p:sldId xmlns:r="http://schemas.openxmlformats.org/officeDocument/2006/relationships" id="272" r:id="R82442b12493f40c3"/>
    <p:sldId xmlns:r="http://schemas.openxmlformats.org/officeDocument/2006/relationships" id="273" r:id="Rf4eba7b6f4dd4fd6"/>
    <p:sldId xmlns:r="http://schemas.openxmlformats.org/officeDocument/2006/relationships" id="274" r:id="R157f82197d304301"/>
    <p:sldId xmlns:r="http://schemas.openxmlformats.org/officeDocument/2006/relationships" id="275" r:id="Rbc699d4f1f5643c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6ab8d5a06b454a" /><Relationship Type="http://schemas.openxmlformats.org/officeDocument/2006/relationships/slideMaster" Target="/ppt/slideMasters/slideMaster1.xml" Id="Ra1b02785949848b9" /><Relationship Type="http://schemas.openxmlformats.org/officeDocument/2006/relationships/notesMaster" Target="/ppt/notesMasters/notesMaster1.xml" Id="R7b2ded66016b4c7a" /><Relationship Type="http://schemas.openxmlformats.org/officeDocument/2006/relationships/presProps" Target="/ppt/presProps.xml" Id="R073d3b6a0ed14b6a" /><Relationship Type="http://schemas.openxmlformats.org/officeDocument/2006/relationships/tableStyles" Target="/ppt/tableStyles.xml" Id="Rcfbee50feaa54c17" /><Relationship Type="http://schemas.openxmlformats.org/officeDocument/2006/relationships/slide" Target="/ppt/slides/slide1.xml" Id="R044c217dcc394cdc" /><Relationship Type="http://schemas.openxmlformats.org/officeDocument/2006/relationships/slide" Target="/ppt/slides/slide2.xml" Id="Rff87aab568cc48d4" /><Relationship Type="http://schemas.openxmlformats.org/officeDocument/2006/relationships/slide" Target="/ppt/slides/slide3.xml" Id="R8c219bd7d6b243fe" /><Relationship Type="http://schemas.openxmlformats.org/officeDocument/2006/relationships/slide" Target="/ppt/slides/slide4.xml" Id="Rc2c20e01790c4d1f" /><Relationship Type="http://schemas.openxmlformats.org/officeDocument/2006/relationships/slide" Target="/ppt/slides/slide5.xml" Id="R88f5887fe22046cf" /><Relationship Type="http://schemas.openxmlformats.org/officeDocument/2006/relationships/slide" Target="/ppt/slides/slide6.xml" Id="Re77dd4e51fa042e4" /><Relationship Type="http://schemas.openxmlformats.org/officeDocument/2006/relationships/slide" Target="/ppt/slides/slide7.xml" Id="R90bbc0b5de694b3c" /><Relationship Type="http://schemas.openxmlformats.org/officeDocument/2006/relationships/slide" Target="/ppt/slides/slide8.xml" Id="Re8f0a085f2db44c7" /><Relationship Type="http://schemas.openxmlformats.org/officeDocument/2006/relationships/slide" Target="/ppt/slides/slide9.xml" Id="Ra8d926da6d9a42f3" /><Relationship Type="http://schemas.openxmlformats.org/officeDocument/2006/relationships/slide" Target="/ppt/slides/slide10.xml" Id="R5b8c746d609b4688" /><Relationship Type="http://schemas.openxmlformats.org/officeDocument/2006/relationships/slide" Target="/ppt/slides/slide11.xml" Id="R0d68411a154d492c" /><Relationship Type="http://schemas.openxmlformats.org/officeDocument/2006/relationships/slide" Target="/ppt/slides/slide12.xml" Id="Rd2fc7f3257274118" /><Relationship Type="http://schemas.openxmlformats.org/officeDocument/2006/relationships/slide" Target="/ppt/slides/slide13.xml" Id="R37c51a7697e54533" /><Relationship Type="http://schemas.openxmlformats.org/officeDocument/2006/relationships/slide" Target="/ppt/slides/slide14.xml" Id="R6293fab9ed704fd5" /><Relationship Type="http://schemas.openxmlformats.org/officeDocument/2006/relationships/slide" Target="/ppt/slides/slide15.xml" Id="R4ada143717624d33" /><Relationship Type="http://schemas.openxmlformats.org/officeDocument/2006/relationships/slide" Target="/ppt/slides/slide16.xml" Id="Refe64ba3563d4cac" /><Relationship Type="http://schemas.openxmlformats.org/officeDocument/2006/relationships/slide" Target="/ppt/slides/slide17.xml" Id="R82442b12493f40c3" /><Relationship Type="http://schemas.openxmlformats.org/officeDocument/2006/relationships/slide" Target="/ppt/slides/slide18.xml" Id="Rf4eba7b6f4dd4fd6" /><Relationship Type="http://schemas.openxmlformats.org/officeDocument/2006/relationships/slide" Target="/ppt/slides/slide19.xml" Id="R157f82197d304301" /><Relationship Type="http://schemas.openxmlformats.org/officeDocument/2006/relationships/slide" Target="/ppt/slides/slide20.xml" Id="Rbc699d4f1f5643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156b1cad1d46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a3c9a6ea9f45f6" /><Relationship Type="http://schemas.openxmlformats.org/officeDocument/2006/relationships/notesMaster" Target="/ppt/notesMasters/notesMaster1.xml" Id="R82692bfec33f4b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d9ffbfd7be4acc" /><Relationship Type="http://schemas.openxmlformats.org/officeDocument/2006/relationships/notesMaster" Target="/ppt/notesMasters/notesMaster1.xml" Id="R3975ac0a18f643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eaff2a9e344c2a" /><Relationship Type="http://schemas.openxmlformats.org/officeDocument/2006/relationships/notesMaster" Target="/ppt/notesMasters/notesMaster1.xml" Id="R47f6c9072e6442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0c093d197b4954" /><Relationship Type="http://schemas.openxmlformats.org/officeDocument/2006/relationships/notesMaster" Target="/ppt/notesMasters/notesMaster1.xml" Id="Rd0627e6298694d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9e9773bfa84796" /><Relationship Type="http://schemas.openxmlformats.org/officeDocument/2006/relationships/notesMaster" Target="/ppt/notesMasters/notesMaster1.xml" Id="R78deef22b7134b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f49dfebb1f4c15" /><Relationship Type="http://schemas.openxmlformats.org/officeDocument/2006/relationships/notesMaster" Target="/ppt/notesMasters/notesMaster1.xml" Id="R863be26967dc48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f24ac35c7f4f91" /><Relationship Type="http://schemas.openxmlformats.org/officeDocument/2006/relationships/notesMaster" Target="/ppt/notesMasters/notesMaster1.xml" Id="Rcf9ae35d54b240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12cb0d1f5a4474" /><Relationship Type="http://schemas.openxmlformats.org/officeDocument/2006/relationships/notesMaster" Target="/ppt/notesMasters/notesMaster1.xml" Id="R9fead9b8fc0245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a41dd3e8414dbd" /><Relationship Type="http://schemas.openxmlformats.org/officeDocument/2006/relationships/notesMaster" Target="/ppt/notesMasters/notesMaster1.xml" Id="Rae33eb2fa0b647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081619e0af48f7" /><Relationship Type="http://schemas.openxmlformats.org/officeDocument/2006/relationships/notesMaster" Target="/ppt/notesMasters/notesMaster1.xml" Id="Rc22c7efb926b470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37309deb72435e" /><Relationship Type="http://schemas.openxmlformats.org/officeDocument/2006/relationships/notesMaster" Target="/ppt/notesMasters/notesMaster1.xml" Id="Rdb77f5645a21423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7f8ac368284a9d" /><Relationship Type="http://schemas.openxmlformats.org/officeDocument/2006/relationships/notesMaster" Target="/ppt/notesMasters/notesMaster1.xml" Id="Rf99ed3c637834ef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c30988d3f6d4dbf" /><Relationship Type="http://schemas.openxmlformats.org/officeDocument/2006/relationships/notesMaster" Target="/ppt/notesMasters/notesMaster1.xml" Id="R70b2d09c93194bf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e68e6c3ed5d4c8f" /><Relationship Type="http://schemas.openxmlformats.org/officeDocument/2006/relationships/notesMaster" Target="/ppt/notesMasters/notesMaster1.xml" Id="Rf47a93a5915b4ec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dabbb12192947f3" /><Relationship Type="http://schemas.openxmlformats.org/officeDocument/2006/relationships/notesMaster" Target="/ppt/notesMasters/notesMaster1.xml" Id="R484b84ecfc2645d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88f4e7067d9490e" /><Relationship Type="http://schemas.openxmlformats.org/officeDocument/2006/relationships/notesMaster" Target="/ppt/notesMasters/notesMaster1.xml" Id="Ra4705f1f3b12477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d1859d8f61c4ea7" /><Relationship Type="http://schemas.openxmlformats.org/officeDocument/2006/relationships/notesMaster" Target="/ppt/notesMasters/notesMaster1.xml" Id="R41c9ec0b73f6410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a5440daa48e4b0a" /><Relationship Type="http://schemas.openxmlformats.org/officeDocument/2006/relationships/notesMaster" Target="/ppt/notesMasters/notesMaster1.xml" Id="R72dd19c41966498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a7a66b9de654f54" /><Relationship Type="http://schemas.openxmlformats.org/officeDocument/2006/relationships/notesMaster" Target="/ppt/notesMasters/notesMaster1.xml" Id="R7d5e6106c2894a3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866793b9698472c" /><Relationship Type="http://schemas.openxmlformats.org/officeDocument/2006/relationships/notesMaster" Target="/ppt/notesMasters/notesMaster1.xml" Id="Rc1f75565729942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câu hỏi: Một thư mục chứa Parquet đã đủ để trở thành một bảng đáng tin cậy chưa? Iceberg bổ sung metadata và quy tắc quản lý bảng, giúp nhiều engine cùng làm việc với dữ liệu lớn. Lộ trình buổi trình bày: vấn đề của data lake truyền thống, cấu trúc metadata, các cơ chế cốt lõi và vận hành. Thiết kế dùng bảng màu xanh–tím nhạt–trắng theo tên mẫu Canva được cung cấp; không sao chép bố cục mẫu vì trang mẫu chưa truy cập được.</a:t>
            </a:r>
          </a:p>
          <a:p xmlns:a="http://schemas.openxmlformats.org/drawingml/2006/main">
            <a:r>
              <a:t/>
            </a:r>
          </a:p>
          <a:p xmlns:a="http://schemas.openxmlformats.org/drawingml/2006/main">
            <a:r>
              <a:t>Nguồn nội dung: Đề cương TLCN.docx (tài liệu do người dùng cung cấp).</a:t>
            </a:r>
          </a:p>
          <a:p xmlns:a="http://schemas.openxmlformats.org/drawingml/2006/main">
            <a:r>
              <a:t>Tham khảo: https://iceberg.apache.org/spec/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Phạm vi so sánh là bảng Hive kiểu thư mục truyền thống, không phải khẳng định mọi bảng Hive đều thiếu ACID. Khi người đọc dựa vào listing và các file đang được thay đổi, nhiều writer khó phối hợp an toàn. Iceberg định nghĩa chính xác tập file thuộc một trạng thái đã commit, giúp tách việc ghi file vật lý khỏi thời điểm công bố dữ liệu cho người đọc.</a:t>
            </a:r>
          </a:p>
          <a:p xmlns:a="http://schemas.openxmlformats.org/drawingml/2006/main">
            <a:r>
              <a:t/>
            </a:r>
          </a:p>
          <a:p xmlns:a="http://schemas.openxmlformats.org/drawingml/2006/main">
            <a:r>
              <a:t>Nguồn nội dung: Đề cương TLCN.docx (tài liệu do người dùng cung cấp).</a:t>
            </a:r>
          </a:p>
          <a:p xmlns:a="http://schemas.openxmlformats.org/drawingml/2006/main">
            <a:r>
              <a:t>Tham khảo: https://iceberg.apache.org/docs/latest/reliability/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Iceberg là open table format, được khởi xướng tại Netflix. Một table format mô tả cách các file kết hợp thành bảng và trạng thái nào được xem là hợp lệ. Engine thực thi query; object store hoặc hệ thống file lưu bytes. Catalog là thành phần quản lý tên bảng và điểm truy cập metadata. Mức hỗ trợ tính năng phụ thuộc engine và phiên bản tích hợp.</a:t>
            </a:r>
          </a:p>
          <a:p xmlns:a="http://schemas.openxmlformats.org/drawingml/2006/main">
            <a:r>
              <a:t/>
            </a:r>
          </a:p>
          <a:p xmlns:a="http://schemas.openxmlformats.org/drawingml/2006/main">
            <a:r>
              <a:t>Nguồn nội dung: Đề cương TLCN.docx (tài liệu do người dùng cung cấp).</a:t>
            </a:r>
          </a:p>
          <a:p xmlns:a="http://schemas.openxmlformats.org/drawingml/2006/main">
            <a:r>
              <a:t>Tham khảo: https://iceberg.apache.org/spec/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sơ đồ từ catalog. Metadata JSON chứa tập snapshot còn được lưu; snapshot được chọn chỉ đến một manifest list. Mỗi mục của manifest list tham chiếu một manifest. Trong sơ đồ, nút Manifest biểu diễn cả lớp manifest, không có nghĩa một manifest trộn data files và delete files. Mỗi manifest chỉ chứa một loại content và dùng một partition spec. Các file dữ liệu và metadata đã ghi được xem là bất biến.</a:t>
            </a:r>
          </a:p>
          <a:p xmlns:a="http://schemas.openxmlformats.org/drawingml/2006/main">
            <a:r>
              <a:t/>
            </a:r>
          </a:p>
          <a:p xmlns:a="http://schemas.openxmlformats.org/drawingml/2006/main">
            <a:r>
              <a:t>Nguồn nội dung: Đề cương TLCN.docx (tài liệu do người dùng cung cấp).</a:t>
            </a:r>
          </a:p>
          <a:p xmlns:a="http://schemas.openxmlformats.org/drawingml/2006/main">
            <a:r>
              <a:t>Tham khảo: https://iceberg.apache.org/spec/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Catalog trả về thông tin để tải bảng và phối hợp commit. Cách triển khai thay đổi con trỏ phụ thuộc catalog: REST, Hive Metastore, JDBC, Glue hoặc cơ chế catalog tương ứng. Hình v10 sang v11 mô tả con trỏ chuyển sang metadata mới; metadata cũ không bị sửa. Việc ghi các file xong chưa làm người đọc thấy chúng: chỉ khi commit thành công thì trạng thái mới được công bố.</a:t>
            </a:r>
          </a:p>
          <a:p xmlns:a="http://schemas.openxmlformats.org/drawingml/2006/main">
            <a:r>
              <a:t/>
            </a:r>
          </a:p>
          <a:p xmlns:a="http://schemas.openxmlformats.org/drawingml/2006/main">
            <a:r>
              <a:t>Nguồn nội dung: Đề cương TLCN.docx (tài liệu do người dùng cung cấp).</a:t>
            </a:r>
          </a:p>
          <a:p xmlns:a="http://schemas.openxmlformats.org/drawingml/2006/main">
            <a:r>
              <a:t>Tham khảo: https://iceberg.apache.org/docs/latest/reliability/</a:t>
            </a:r>
          </a:p>
          <a:p xmlns:a="http://schemas.openxmlformats.org/drawingml/2006/main">
            <a:r>
              <a:t>Tham khảo: https://iceberg.apache.org/spec/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đoạn JSON minh họa đã rút gọn, không phải metadata hoàn chỉnh. Snapshot được chọn chứa đường dẫn đến manifest list của chính nó. Thay đổi schema hoặc thuộc tính có thể tạo metadata JSON mới mà không tạo snapshot dữ liệu. Rewrite/compaction có thể tạo snapshot mới dù tập dòng logic không đổi. Một commit có thể gộp nhiều thay đổi; không phải mỗi dòng insert sinh một metadata file. Snapshot chia sẻ lại các manifest và data file không đổi để tránh sao chép toàn bộ bảng.</a:t>
            </a:r>
          </a:p>
          <a:p xmlns:a="http://schemas.openxmlformats.org/drawingml/2006/main">
            <a:r>
              <a:t/>
            </a:r>
          </a:p>
          <a:p xmlns:a="http://schemas.openxmlformats.org/drawingml/2006/main">
            <a:r>
              <a:t>Nguồn nội dung: Đề cương TLCN.docx (tài liệu do người dùng cung cấp).</a:t>
            </a:r>
          </a:p>
          <a:p xmlns:a="http://schemas.openxmlformats.org/drawingml/2006/main">
            <a:r>
              <a:t>Tham khảo: https://iceberg.apache.org/spec/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Sơ đồ minh họa một append thêm batch: snapshot sau dùng lại M1, M2 và bổ sung M3. Đây không phải quy tắc một batch luôn đúng một manifest; số lượng phụ thuộc writer, kích thước metadata và chính sách gộp manifest. Một manifest có thể chứa nhiều partition nhưng chỉ một partition spec và một loại content. Dữ liệu và delete files được phân biệt bằng các manifest riêng. Có thể rewrite manifests để cải thiện cách tổ chức metadata khi số manifest tăng.</a:t>
            </a:r>
          </a:p>
          <a:p xmlns:a="http://schemas.openxmlformats.org/drawingml/2006/main">
            <a:r>
              <a:t/>
            </a:r>
          </a:p>
          <a:p xmlns:a="http://schemas.openxmlformats.org/drawingml/2006/main">
            <a:r>
              <a:t>Nguồn nội dung: Đề cương TLCN.docx (tài liệu do người dùng cung cấp).</a:t>
            </a:r>
          </a:p>
          <a:p xmlns:a="http://schemas.openxmlformats.org/drawingml/2006/main">
            <a:r>
              <a:t>Tham khảo: https://iceberg.apache.org/spec/</a:t>
            </a:r>
          </a:p>
          <a:p xmlns:a="http://schemas.openxmlformats.org/drawingml/2006/main">
            <a:r>
              <a:t>Tham khảo: https://iceberg.apache.org/docs/latest/maintenance/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Ngày trên slide cùng năm, dùng ký hiệu ngày/tháng để dễ đọc. Truy vấn dùng khoảng từ đầu ngày 10/01 đến trước đầu ngày 11/01. Với partition days(event_time), manifest list lưu lower/upper bound của từng partition field qua các file trong manifest, cùng cờ null (và NaN khi áp dụng). Range chỉ cho phép loại trừ chắc chắn, không chứng minh có dòng khớp. Engine mở M2 rồi dùng partition và thống kê từng file để pruning tiếp. Min/max cột amount nằm trong entry của data file ở manifest; Parquet còn có thống kê row group. Mức pushdown thực tế tùy engine.</a:t>
            </a:r>
          </a:p>
          <a:p xmlns:a="http://schemas.openxmlformats.org/drawingml/2006/main">
            <a:r>
              <a:t/>
            </a:r>
          </a:p>
          <a:p xmlns:a="http://schemas.openxmlformats.org/drawingml/2006/main">
            <a:r>
              <a:t>Nguồn nội dung: Đề cương TLCN.docx (tài liệu do người dùng cung cấp).</a:t>
            </a:r>
          </a:p>
          <a:p xmlns:a="http://schemas.openxmlformats.org/drawingml/2006/main">
            <a:r>
              <a:t>Tham khảo: https://iceberg.apache.org/spec/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cơ chế minh họa thuộc Iceberg format v2. Position delete định danh bằng đường dẫn data file và vị trí dòng, có thể kèm dữ liệu dòng tùy chọn. Equality delete ghi giá trị của một hoặc nhiều field IDs; không mặc định đó là khóa chính duy nhất. Engine áp dụng delete dựa trên partition, sequence number và quy tắc của từng loại delete. Equality delete không được áp dụng bừa lên các row mới được ghi sau nó. Iceberg format v3 bổ sung deletion vectors; không cần đi sâu trong phần nhập môn này.</a:t>
            </a:r>
          </a:p>
          <a:p xmlns:a="http://schemas.openxmlformats.org/drawingml/2006/main">
            <a:r>
              <a:t/>
            </a:r>
          </a:p>
          <a:p xmlns:a="http://schemas.openxmlformats.org/drawingml/2006/main">
            <a:r>
              <a:t>Nguồn nội dung: Đề cương TLCN.docx (tài liệu do người dùng cung cấp).</a:t>
            </a:r>
          </a:p>
          <a:p xmlns:a="http://schemas.openxmlformats.org/drawingml/2006/main">
            <a:r>
              <a:t>Tham khảo: https://iceberg.apache.org/spec/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Writer xây trạng thái mới dựa trên metadata gốc. Các file không đổi được tái sử dụng, không phải mọi commit viết lại toàn bộ manifest và dữ liệu. Nếu commit thất bại, các file đã ghi có thể chưa được tham chiếu và cần được dọn bằng quy trình an toàn sau đó. Số lần retry và hành vi rebase phụ thuộc loại thao tác, xung đột và engine. Một transaction ở đây áp dụng cho một bảng; không tự suy ra giao dịch nhiều bảng.</a:t>
            </a:r>
          </a:p>
          <a:p xmlns:a="http://schemas.openxmlformats.org/drawingml/2006/main">
            <a:r>
              <a:t/>
            </a:r>
          </a:p>
          <a:p xmlns:a="http://schemas.openxmlformats.org/drawingml/2006/main">
            <a:r>
              <a:t>Nguồn nội dung: Đề cương TLCN.docx (tài liệu do người dùng cung cấp).</a:t>
            </a:r>
          </a:p>
          <a:p xmlns:a="http://schemas.openxmlformats.org/drawingml/2006/main">
            <a:r>
              <a:t>Tham khảo: https://iceberg.apache.org/docs/latest/reliability/</a:t>
            </a:r>
          </a:p>
          <a:p xmlns:a="http://schemas.openxmlformats.org/drawingml/2006/main">
            <a:r>
              <a:t>Tham khảo: https://iceberg.apache.org/spec/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 chốt một snapshot nhất quán để lập kế hoạch và đọc. Việc chọn file dựa trên metadata của snapshot, tránh phụ thuộc listing toàn bộ thư mục để suy ra trạng thái bảng. Pruning và predicate pushdown xảy ra ở nhiều lớp và tùy năng lực engine/file format. Với bảng dùng merge-on-read, reader cần loại các dòng bị delete và đọc các dòng thay thế trong data files mới. Không có bước mặc định chọn dòng mới nhất theo khóa nghiệp vụ.</a:t>
            </a:r>
          </a:p>
          <a:p xmlns:a="http://schemas.openxmlformats.org/drawingml/2006/main">
            <a:r>
              <a:t/>
            </a:r>
          </a:p>
          <a:p xmlns:a="http://schemas.openxmlformats.org/drawingml/2006/main">
            <a:r>
              <a:t>Nguồn nội dung: Đề cương TLCN.docx (tài liệu do người dùng cung cấp).</a:t>
            </a:r>
          </a:p>
          <a:p xmlns:a="http://schemas.openxmlformats.org/drawingml/2006/main">
            <a:r>
              <a:t>Tham khảo: https://iceberg.apache.org/spec/</a:t>
            </a:r>
          </a:p>
          <a:p xmlns:a="http://schemas.openxmlformats.org/drawingml/2006/main">
            <a:r>
              <a:t>Tham khảo: https://iceberg.apache.org/docs/latest/reliability/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ví dụ hai append độc lập. Optimistic concurrency nghĩa là writer chuẩn bị công việc mà không giữ khóa độc quyền dài hạn, sau đó kiểm tra và công bố commit. Writer B làm mới metadata và kiểm tra lại; append độc lập thường có thể rebase. Update/delete/overwrite có thể xung đột dữ liệu và bị từ chối, không phải cứ catalog đổi là retry sẽ thành công. Các kiểm tra cũng phụ thuộc isolation level và thao tác. Atomicity và snapshot consistency giúp reader không thấy tập file ghi dở.</a:t>
            </a:r>
          </a:p>
          <a:p xmlns:a="http://schemas.openxmlformats.org/drawingml/2006/main">
            <a:r>
              <a:t/>
            </a:r>
          </a:p>
          <a:p xmlns:a="http://schemas.openxmlformats.org/drawingml/2006/main">
            <a:r>
              <a:t>Nguồn nội dung: Đề cương TLCN.docx (tài liệu do người dùng cung cấp).</a:t>
            </a:r>
          </a:p>
          <a:p xmlns:a="http://schemas.openxmlformats.org/drawingml/2006/main">
            <a:r>
              <a:t>Tham khảo: https://iceberg.apache.org/docs/latest/reliability/</a:t>
            </a:r>
          </a:p>
          <a:p xmlns:a="http://schemas.openxmlformats.org/drawingml/2006/main">
            <a:r>
              <a:t>Tham khảo: https://iceberg.apache.org/spec/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Field ID giúp engine xác định đúng cột dù tên và thứ tự thay đổi. Trong ví dụ, đổi customer_name thành full_name giữ cùng ID; thêm email nullable không cần ghi lại file cũ. Đổi int sang long là widening tương thích. Không phải mọi phép đổi kiểu đều được phép. Drop column thay đổi schema, không đồng nghĩa bytes của cột đã bị xóa vật lý khỏi các file cũ. Nếu thêm lại một tên cột cũ, cột mới phải có ID khác để không đọc nhầm dữ liệu trước đó.</a:t>
            </a:r>
          </a:p>
          <a:p xmlns:a="http://schemas.openxmlformats.org/drawingml/2006/main">
            <a:r>
              <a:t/>
            </a:r>
          </a:p>
          <a:p xmlns:a="http://schemas.openxmlformats.org/drawingml/2006/main">
            <a:r>
              <a:t>Nguồn nội dung: Đề cương TLCN.docx (tài liệu do người dùng cung cấp).</a:t>
            </a:r>
          </a:p>
          <a:p xmlns:a="http://schemas.openxmlformats.org/drawingml/2006/main">
            <a:r>
              <a:t>Tham khảo: https://iceberg.apache.org/docs/latest/evolution/</a:t>
            </a:r>
          </a:p>
          <a:p xmlns:a="http://schemas.openxmlformats.org/drawingml/2006/main">
            <a:r>
              <a:t>Tham khảo: https://iceberg.apache.org/spec/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Iceberg lưu lịch sử partition specs và biết spec của từng manifest. Khi đổi từ months sang days, dữ liệu cũ không tự chuyển sang partition ngày. Query vẫn đúng vì engine diễn giải mỗi nhóm file theo spec tương ứng. Lợi ích pruning theo ngày cho dữ liệu cũ chỉ xuất hiện nếu rewrite dữ liệu đó theo spec mới. Đây là partition evolution, còn hidden partitioning giải quyết trải nghiệm viết và truy vấn mà không cần quản lý cột partition vật lý riêng.</a:t>
            </a:r>
          </a:p>
          <a:p xmlns:a="http://schemas.openxmlformats.org/drawingml/2006/main">
            <a:r>
              <a:t/>
            </a:r>
          </a:p>
          <a:p xmlns:a="http://schemas.openxmlformats.org/drawingml/2006/main">
            <a:r>
              <a:t>Nguồn nội dung: Đề cương TLCN.docx (tài liệu do người dùng cung cấp).</a:t>
            </a:r>
          </a:p>
          <a:p xmlns:a="http://schemas.openxmlformats.org/drawingml/2006/main">
            <a:r>
              <a:t>Tham khảo: https://iceberg.apache.org/docs/latest/evolution/</a:t>
            </a:r>
          </a:p>
          <a:p xmlns:a="http://schemas.openxmlformats.org/drawingml/2006/main">
            <a:r>
              <a:t>Tham khảo: https://iceberg.apache.org/spec/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Ví dụ SQL theo cách viết Spark SQL. Người dùng chỉ lọc event_time; Iceberg chiếu predicate qua transform days để pruning partition. Khi ghi, writer tính partition từ cột nguồn, giảm lỗi duy trì riêng các cột year/month/day. Các transform của spec gồm identity, bucket, truncate, year, month, day và hour, tùy kiểu nguồn; tên hàm DDL có thể khác giữa engine. Dùng range có cả cận dưới và cận trên để minh họa đúng một ngày, không chỉ dùng &gt;= rồi ngụ ý chỉ đọc ngày đó.</a:t>
            </a:r>
          </a:p>
          <a:p xmlns:a="http://schemas.openxmlformats.org/drawingml/2006/main">
            <a:r>
              <a:t/>
            </a:r>
          </a:p>
          <a:p xmlns:a="http://schemas.openxmlformats.org/drawingml/2006/main">
            <a:r>
              <a:t>Nguồn nội dung: Đề cương TLCN.docx (tài liệu do người dùng cung cấp).</a:t>
            </a:r>
          </a:p>
          <a:p xmlns:a="http://schemas.openxmlformats.org/drawingml/2006/main">
            <a:r>
              <a:t>Tham khảo: https://iceberg.apache.org/docs/latest/evolution/</a:t>
            </a:r>
          </a:p>
          <a:p xmlns:a="http://schemas.openxmlformats.org/drawingml/2006/main">
            <a:r>
              <a:t>Tham khảo: https://iceberg.apache.org/docs/latest/spark-ddl/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travel chọn snapshot hoặc timestamp của lần commit cho một query. Với Spark SQL, ví dụ: SELECT * FROM sales VERSION AS OF 102; snapshot ID trong ví dụ được rút gọn. Rollback qua procedure: CALL catalog.system.rollback_to_snapshot(table =&gt; 'db.sales', snapshot_id =&gt; 102). Khả năng và cú pháp cần đối chiếu engine. Rollback đổi snapshot dữ liệu hiện hành, không nên hiểu là tự hoàn tác toàn bộ schema và table properties. Expire snapshots có thể làm mất khả năng đọc lại các trạng thái cũ. Retention cần theo yêu cầu nghiệp vụ.</a:t>
            </a:r>
          </a:p>
          <a:p xmlns:a="http://schemas.openxmlformats.org/drawingml/2006/main">
            <a:r>
              <a:t/>
            </a:r>
          </a:p>
          <a:p xmlns:a="http://schemas.openxmlformats.org/drawingml/2006/main">
            <a:r>
              <a:t>Nguồn nội dung: Đề cương TLCN.docx (tài liệu do người dùng cung cấp).</a:t>
            </a:r>
          </a:p>
          <a:p xmlns:a="http://schemas.openxmlformats.org/drawingml/2006/main">
            <a:r>
              <a:t>Tham khảo: https://iceberg.apache.org/docs/latest/spark-queries/</a:t>
            </a:r>
          </a:p>
          <a:p xmlns:a="http://schemas.openxmlformats.org/drawingml/2006/main">
            <a:r>
              <a:t>Tham khảo: https://iceberg.apache.org/docs/latest/spark-procedures/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Trả lời câu hỏi đã trao đổi: đúng, update bằng MoR cần ghi giá trị mới vào data file mới; delete file chỉ đánh dấu phiên bản cũ cần bỏ. Ví dụ dùng position delete của format v2 và vị trí đánh số từ 0. Delete và data file mới phải được commit nguyên tử trong cùng thay đổi. CoW rewrite các file bị ảnh hưởng, còn MoR giảm lượng rewrite tức thời nhưng tăng công việc khi đọc. Đây là đánh đổi điển hình, hiệu năng thực tế tùy workload, engine, kích thước file và maintenance. Một batch có thể gộp nhiều dòng vào một data/delete file, không phải một dòng một file.</a:t>
            </a:r>
          </a:p>
          <a:p xmlns:a="http://schemas.openxmlformats.org/drawingml/2006/main">
            <a:r>
              <a:t/>
            </a:r>
          </a:p>
          <a:p xmlns:a="http://schemas.openxmlformats.org/drawingml/2006/main">
            <a:r>
              <a:t>Nguồn nội dung: Đề cương TLCN.docx (tài liệu do người dùng cung cấp).</a:t>
            </a:r>
          </a:p>
          <a:p xmlns:a="http://schemas.openxmlformats.org/drawingml/2006/main">
            <a:r>
              <a:t>Tham khảo: https://iceberg.apache.org/docs/latest/spark-writes/</a:t>
            </a:r>
          </a:p>
          <a:p xmlns:a="http://schemas.openxmlformats.org/drawingml/2006/main">
            <a:r>
              <a:t>Tham khảo: https://iceberg.apache.org/spec/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Tên thủ tục trên slide là cách gọi phổ biến của tích hợp Spark. Rewrite data files có thể gộp file nhỏ và áp dụng delete khi các file được rewrite; không có nghĩa mọi lần chạy đều xóa hết mọi delete file. Expire snapshots xóa lịch sử theo chính sách và chỉ dọn những file không còn cần cho snapshot/ref được giữ. Remove orphan files khác với expire: nó xử lý file không được tham chiếu, ví dụ file từ commit thất bại. Cần cutoff đủ an toàn để không dọn các file của job đang chạy. Người muốn học sâu nên theo dõi số file nhỏ, số manifest, delete files, thời gian lập kế hoạch và scan bytes.</a:t>
            </a:r>
          </a:p>
          <a:p xmlns:a="http://schemas.openxmlformats.org/drawingml/2006/main">
            <a:r>
              <a:t/>
            </a:r>
          </a:p>
          <a:p xmlns:a="http://schemas.openxmlformats.org/drawingml/2006/main">
            <a:r>
              <a:t>Nguồn nội dung: Đề cương TLCN.docx (tài liệu do người dùng cung cấp).</a:t>
            </a:r>
          </a:p>
          <a:p xmlns:a="http://schemas.openxmlformats.org/drawingml/2006/main">
            <a:r>
              <a:t>Tham khảo: https://iceberg.apache.org/docs/latest/maintenance/</a:t>
            </a:r>
          </a:p>
          <a:p xmlns:a="http://schemas.openxmlformats.org/drawingml/2006/main">
            <a:r>
              <a:t>Tham khảo: https://iceberg.apache.org/docs/latest/spark-procedures/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Bảng thể hiện trọng tâm và cấu trúc tiêu biểu, không phải giới hạn tuyệt đối hay xếp hạng. Cả ba hỗ trợ xử lý batch/streaming và đang phát triển interoperability. Delta Lake là dự án thuộc Linux Foundation Projects, không phải dự án Apache; đây là điểm hiệu chỉnh so với bảng trong DOCX. Không dùng nhận định Delta chỉ có Spark hay Hudi chỉ dành cho streaming. Khi lựa chọn cần thử workload thực: tần suất update, tỷ lệ đọc/ghi, query engine, CDC, khả năng quản trị và chi phí maintenance. Hudi MoR dùng base files và log files, không nên gán cơ chế đó sang Iceberg.</a:t>
            </a:r>
          </a:p>
          <a:p xmlns:a="http://schemas.openxmlformats.org/drawingml/2006/main">
            <a:r>
              <a:t/>
            </a:r>
          </a:p>
          <a:p xmlns:a="http://schemas.openxmlformats.org/drawingml/2006/main">
            <a:r>
              <a:t>Nguồn nội dung: Đề cương TLCN.docx (tài liệu do người dùng cung cấp).</a:t>
            </a:r>
          </a:p>
          <a:p xmlns:a="http://schemas.openxmlformats.org/drawingml/2006/main">
            <a:r>
              <a:t>Tham khảo: https://iceberg.apache.org/spec/</a:t>
            </a:r>
          </a:p>
          <a:p xmlns:a="http://schemas.openxmlformats.org/drawingml/2006/main">
            <a:r>
              <a:t>Tham khảo: https://delta.io/</a:t>
            </a:r>
          </a:p>
          <a:p xmlns:a="http://schemas.openxmlformats.org/drawingml/2006/main">
            <a:r>
              <a:t>Tham khảo: https://hudi.apache.org/docs/table_types/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Mời trao đổi: Catalog khác metastore lưu schema như thế nào? Tại sao một update MoR phải có cả delete information và data file mới? Tại sao đổi partition không làm dữ liệu cũ tự được tối ưu? Lộ trình học sâu: đọc Iceberg specification về field IDs, sequence numbers và delete applicability; thực hành kiểm tra metadata tables; thử concurrent writes và conflict validation; đo pruning; thiết lập compaction, snapshot retention; tìm hiểu branches/tags, streaming và catalog REST. Nguồn nền: Đề cương TLCN.docx; Apache Iceberg: The Definitive Guide; tài liệu chính thức Apache Iceberg.</a:t>
            </a:r>
          </a:p>
          <a:p xmlns:a="http://schemas.openxmlformats.org/drawingml/2006/main">
            <a:r>
              <a:t/>
            </a:r>
          </a:p>
          <a:p xmlns:a="http://schemas.openxmlformats.org/drawingml/2006/main">
            <a:r>
              <a:t>Nguồn nội dung: Đề cương TLCN.docx (tài liệu do người dùng cung cấp).</a:t>
            </a:r>
          </a:p>
          <a:p xmlns:a="http://schemas.openxmlformats.org/drawingml/2006/main">
            <a:r>
              <a:t>Tham khảo: https://iceberg.apache.org/spec/</a:t>
            </a:r>
          </a:p>
          <a:p xmlns:a="http://schemas.openxmlformats.org/drawingml/2006/main">
            <a:r>
              <a:t>Tham khảo: https://iceberg.apache.org/docs/latest/reliability/</a:t>
            </a:r>
          </a:p>
          <a:p xmlns:a="http://schemas.openxmlformats.org/drawingml/2006/main">
            <a:r>
              <a:t>Tham khảo: https://iceberg.apache.org/docs/latest/maintenance/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eb3d521f1946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04c8a55b054b48" /><Relationship Type="http://schemas.openxmlformats.org/officeDocument/2006/relationships/slideLayout" Target="/ppt/slideLayouts/slideLayout1.xml" Id="Rfa639c9cad7d4e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639c9cad7d4e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34a01bf0880444b" /><Relationship Type="http://schemas.openxmlformats.org/officeDocument/2006/relationships/notesSlide" Target="/ppt/notesSlides/notesSlide1.xml" Id="Rb2e05e8f913c4d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25c5cbaf8e14a23" /><Relationship Type="http://schemas.openxmlformats.org/officeDocument/2006/relationships/notesSlide" Target="/ppt/notesSlides/notesSlide2.xml" Id="R15fd8dbc0c274b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874f610d7e4105" /><Relationship Type="http://schemas.openxmlformats.org/officeDocument/2006/relationships/notesSlide" Target="/ppt/notesSlides/notesSlide3.xml" Id="Rec8ca5808a6b42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c1d2250e264151" /><Relationship Type="http://schemas.openxmlformats.org/officeDocument/2006/relationships/notesSlide" Target="/ppt/notesSlides/notesSlide4.xml" Id="R0960819fd8a249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fe13050a5b34bf6" /><Relationship Type="http://schemas.openxmlformats.org/officeDocument/2006/relationships/notesSlide" Target="/ppt/notesSlides/notesSlide5.xml" Id="Re053ae11f07245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77482af58a247c1" /><Relationship Type="http://schemas.openxmlformats.org/officeDocument/2006/relationships/notesSlide" Target="/ppt/notesSlides/notesSlide6.xml" Id="Rfd8ee3bf181946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7412e63502347f1" /><Relationship Type="http://schemas.openxmlformats.org/officeDocument/2006/relationships/notesSlide" Target="/ppt/notesSlides/notesSlide7.xml" Id="R6ad76c642f7c41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aeee937c1e44048" /><Relationship Type="http://schemas.openxmlformats.org/officeDocument/2006/relationships/notesSlide" Target="/ppt/notesSlides/notesSlide8.xml" Id="R328130a079d642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314c99f8d8b45eb" /><Relationship Type="http://schemas.openxmlformats.org/officeDocument/2006/relationships/notesSlide" Target="/ppt/notesSlides/notesSlide9.xml" Id="R2e67b673669243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e6849da39764241" /><Relationship Type="http://schemas.openxmlformats.org/officeDocument/2006/relationships/notesSlide" Target="/ppt/notesSlides/notesSlide10.xml" Id="R59c305c6317144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14730c0ef294687" /><Relationship Type="http://schemas.openxmlformats.org/officeDocument/2006/relationships/notesSlide" Target="/ppt/notesSlides/notesSlide11.xml" Id="Rc13113b483df4fe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85f036233af4ee5" /><Relationship Type="http://schemas.openxmlformats.org/officeDocument/2006/relationships/notesSlide" Target="/ppt/notesSlides/notesSlide12.xml" Id="R2d6a3a6db9b34a4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4f661a355784bd1" /><Relationship Type="http://schemas.openxmlformats.org/officeDocument/2006/relationships/notesSlide" Target="/ppt/notesSlides/notesSlide13.xml" Id="R0ed9b974b455496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7ce5f0a02884e35" /><Relationship Type="http://schemas.openxmlformats.org/officeDocument/2006/relationships/notesSlide" Target="/ppt/notesSlides/notesSlide14.xml" Id="R38f0d300c74f49a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8cbbac874ec4e90" /><Relationship Type="http://schemas.openxmlformats.org/officeDocument/2006/relationships/notesSlide" Target="/ppt/notesSlides/notesSlide15.xml" Id="R0ecbe37b98e1471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56d0df92f4645e3" /><Relationship Type="http://schemas.openxmlformats.org/officeDocument/2006/relationships/notesSlide" Target="/ppt/notesSlides/notesSlide16.xml" Id="Ra5da2515800d4c0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23732bf89b34559" /><Relationship Type="http://schemas.openxmlformats.org/officeDocument/2006/relationships/notesSlide" Target="/ppt/notesSlides/notesSlide17.xml" Id="R377c418c12a8492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43de288d06f4b99" /><Relationship Type="http://schemas.openxmlformats.org/officeDocument/2006/relationships/notesSlide" Target="/ppt/notesSlides/notesSlide18.xml" Id="R20d2488619074fc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90b80eaac204f82" /><Relationship Type="http://schemas.openxmlformats.org/officeDocument/2006/relationships/notesSlide" Target="/ppt/notesSlides/notesSlide19.xml" Id="Rcb18b4a75f414f4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2c871f1099f4e8e" /><Relationship Type="http://schemas.openxmlformats.org/officeDocument/2006/relationships/notesSlide" Target="/ppt/notesSlides/notesSlide20.xml" Id="R7395a2bfbf93442e" /></Relationships>
</file>

<file path=ppt/slides/slide1.xml><?xml version="1.0" encoding="utf-8"?>
<p:sld xmlns:p="http://schemas.openxmlformats.org/presentationml/2006/main">
  <p:cSld>
    <p:bg>
      <p:bgPr>
        <a:solidFill xmlns:a="http://schemas.openxmlformats.org/drawingml/2006/main">
          <a:srgbClr val="DCD4FA"/>
        </a:solidFill>
      </p:bgPr>
    </p:bg>
    <p:spTree>
      <p:nvGrpSpPr>
        <p:cNvPr id="1" name=""/>
        <p:cNvGrpSpPr/>
        <p:nvPr/>
      </p:nvGrpSpPr>
      <p:grpSpPr>
        <a:xfrm xmlns:a="http://schemas.openxmlformats.org/drawingml/2006/main"/>
      </p:grpSpPr>
      <p:sp>
        <p:nvSpPr>
          <p:cNvPr id="13" name="shape-1">
            <a:extLst xmlns:a="http://schemas.openxmlformats.org/drawingml/2006/main">
              <a:ext uri="{FF2B5EF4-FFF2-40B4-BE49-F238E27FC236}">
                <a16:creationId xmlns:a16="http://schemas.microsoft.com/office/drawing/2014/main" id="{7CF1F5B8-768F-452F-9EAC-9B788A9E3B30}"/>
              </a:ext>
            </a:extLst>
          </p:cNvPr>
          <p:cNvSpPr>
            <a:spLocks xmlns:a="http://schemas.openxmlformats.org/drawingml/2006/main" noGrp="1"/>
          </p:cNvSpPr>
          <p:nvPr/>
        </p:nvSpPr>
        <p:spPr>
          <a:xfrm xmlns:a="http://schemas.openxmlformats.org/drawingml/2006/main">
            <a:off x="0" y="0"/>
            <a:ext cx="7524750" cy="6858000"/>
          </a:xfrm>
          <a:prstGeom xmlns:a="http://schemas.openxmlformats.org/drawingml/2006/main" prst="rect">
            <a:avLst/>
          </a:prstGeom>
          <a:solidFill xmlns:a="http://schemas.openxmlformats.org/drawingml/2006/main">
            <a:srgbClr val="EDF3FF"/>
          </a:solidFill>
          <a:ln xmlns:a="http://schemas.openxmlformats.org/drawingml/2006/main" w="0">
            <a:noFill/>
          </a:ln>
        </p:spPr>
      </p:sp>
      <p:sp>
        <p:nvSpPr>
          <p:cNvPr id="2" name="text-2">
            <a:extLst xmlns:a="http://schemas.openxmlformats.org/drawingml/2006/main">
              <a:ext uri="{FF2B5EF4-FFF2-40B4-BE49-F238E27FC236}">
                <a16:creationId xmlns:a16="http://schemas.microsoft.com/office/drawing/2014/main" id="{17D73889-D3DB-4B46-94D4-26248C37D3BC}"/>
              </a:ext>
            </a:extLst>
          </p:cNvPr>
          <p:cNvSpPr>
            <a:spLocks xmlns:a="http://schemas.openxmlformats.org/drawingml/2006/main" noGrp="1"/>
          </p:cNvSpPr>
          <p:nvPr/>
        </p:nvSpPr>
        <p:spPr>
          <a:xfrm xmlns:a="http://schemas.openxmlformats.org/drawingml/2006/main">
            <a:off x="647700" y="1057275"/>
            <a:ext cx="647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450" b="1">
                <a:solidFill>
                  <a:srgbClr val="202D6A"/>
                </a:solidFill>
                <a:latin typeface="DejaVu Sans"/>
                <a:ea typeface="DejaVu Sans"/>
                <a:cs typeface="DejaVu Sans"/>
              </a:defRPr>
            </a:pPr>
            <a:r>
              <a:rPr sz="6450" b="1">
                <a:solidFill>
                  <a:srgbClr val="202D6A"/>
                </a:solidFill>
                <a:latin typeface="DejaVu Sans"/>
                <a:ea typeface="DejaVu Sans"/>
                <a:cs typeface="DejaVu Sans"/>
              </a:rPr>
              <a:t>APACHE</a:t>
            </a:r>
          </a:p>
          <a:p xmlns:a="http://schemas.openxmlformats.org/drawingml/2006/main">
            <a:pPr>
              <a:defRPr sz="6450" b="1">
                <a:solidFill>
                  <a:srgbClr val="202D6A"/>
                </a:solidFill>
                <a:latin typeface="DejaVu Sans"/>
                <a:ea typeface="DejaVu Sans"/>
                <a:cs typeface="DejaVu Sans"/>
              </a:defRPr>
            </a:pPr>
            <a:r>
              <a:rPr sz="6450" b="1">
                <a:solidFill>
                  <a:srgbClr val="202D6A"/>
                </a:solidFill>
                <a:latin typeface="DejaVu Sans"/>
                <a:ea typeface="DejaVu Sans"/>
                <a:cs typeface="DejaVu Sans"/>
              </a:rPr>
              <a:t>ICEBERG</a:t>
            </a:r>
          </a:p>
        </p:txBody>
      </p:sp>
      <p:sp>
        <p:nvSpPr>
          <p:cNvPr id="3" name="text-3">
            <a:extLst xmlns:a="http://schemas.openxmlformats.org/drawingml/2006/main">
              <a:ext uri="{FF2B5EF4-FFF2-40B4-BE49-F238E27FC236}">
                <a16:creationId xmlns:a16="http://schemas.microsoft.com/office/drawing/2014/main" id="{E6DEBF60-DC35-41E6-8DCC-5F825E7A403E}"/>
              </a:ext>
            </a:extLst>
          </p:cNvPr>
          <p:cNvSpPr>
            <a:spLocks xmlns:a="http://schemas.openxmlformats.org/drawingml/2006/main" noGrp="1"/>
          </p:cNvSpPr>
          <p:nvPr/>
        </p:nvSpPr>
        <p:spPr>
          <a:xfrm xmlns:a="http://schemas.openxmlformats.org/drawingml/2006/main">
            <a:off x="704850" y="3409950"/>
            <a:ext cx="628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3858D6"/>
                </a:solidFill>
                <a:latin typeface="DejaVu Sans"/>
                <a:ea typeface="DejaVu Sans"/>
                <a:cs typeface="DejaVu Sans"/>
              </a:defRPr>
            </a:pPr>
            <a:r>
              <a:rPr sz="2850" b="0">
                <a:solidFill>
                  <a:srgbClr val="3858D6"/>
                </a:solidFill>
                <a:latin typeface="DejaVu Sans"/>
                <a:ea typeface="DejaVu Sans"/>
                <a:cs typeface="DejaVu Sans"/>
              </a:rPr>
              <a:t>Table format mở cho</a:t>
            </a:r>
          </a:p>
          <a:p xmlns:a="http://schemas.openxmlformats.org/drawingml/2006/main">
            <a:pPr>
              <a:defRPr sz="2850" b="0">
                <a:solidFill>
                  <a:srgbClr val="3858D6"/>
                </a:solidFill>
                <a:latin typeface="DejaVu Sans"/>
                <a:ea typeface="DejaVu Sans"/>
                <a:cs typeface="DejaVu Sans"/>
              </a:defRPr>
            </a:pPr>
            <a:r>
              <a:rPr sz="2850" b="0">
                <a:solidFill>
                  <a:srgbClr val="3858D6"/>
                </a:solidFill>
                <a:latin typeface="DejaVu Sans"/>
                <a:ea typeface="DejaVu Sans"/>
                <a:cs typeface="DejaVu Sans"/>
              </a:rPr>
              <a:t>Data Lakehouse</a:t>
            </a:r>
          </a:p>
        </p:txBody>
      </p:sp>
      <p:sp>
        <p:nvSpPr>
          <p:cNvPr id="4" name="text-4">
            <a:extLst xmlns:a="http://schemas.openxmlformats.org/drawingml/2006/main">
              <a:ext uri="{FF2B5EF4-FFF2-40B4-BE49-F238E27FC236}">
                <a16:creationId xmlns:a16="http://schemas.microsoft.com/office/drawing/2014/main" id="{B9AD60CA-517C-4548-B1D7-8D6BC0102FE1}"/>
              </a:ext>
            </a:extLst>
          </p:cNvPr>
          <p:cNvSpPr>
            <a:spLocks xmlns:a="http://schemas.openxmlformats.org/drawingml/2006/main" noGrp="1"/>
          </p:cNvSpPr>
          <p:nvPr/>
        </p:nvSpPr>
        <p:spPr>
          <a:xfrm xmlns:a="http://schemas.openxmlformats.org/drawingml/2006/main">
            <a:off x="704850" y="5372100"/>
            <a:ext cx="628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2852"/>
                </a:solidFill>
                <a:latin typeface="DejaVu Sans"/>
                <a:ea typeface="DejaVu Sans"/>
                <a:cs typeface="DejaVu Sans"/>
              </a:defRPr>
            </a:pPr>
            <a:r>
              <a:rPr sz="1875" b="0">
                <a:solidFill>
                  <a:srgbClr val="1E2852"/>
                </a:solidFill>
                <a:latin typeface="DejaVu Sans"/>
                <a:ea typeface="DejaVu Sans"/>
                <a:cs typeface="DejaVu Sans"/>
              </a:rPr>
              <a:t>Kiến trúc • Giao dịch • Tối ưu • Vận hành</a:t>
            </a:r>
          </a:p>
        </p:txBody>
      </p:sp>
      <p:sp>
        <p:nvSpPr>
          <p:cNvPr id="5" name="shape-5">
            <a:extLst xmlns:a="http://schemas.openxmlformats.org/drawingml/2006/main">
              <a:ext uri="{FF2B5EF4-FFF2-40B4-BE49-F238E27FC236}">
                <a16:creationId xmlns:a16="http://schemas.microsoft.com/office/drawing/2014/main" id="{E8B1FA61-2491-40CE-BC8D-43ED8235D349}"/>
              </a:ext>
            </a:extLst>
          </p:cNvPr>
          <p:cNvSpPr>
            <a:spLocks xmlns:a="http://schemas.openxmlformats.org/drawingml/2006/main" noGrp="1"/>
          </p:cNvSpPr>
          <p:nvPr/>
        </p:nvSpPr>
        <p:spPr>
          <a:xfrm xmlns:a="http://schemas.openxmlformats.org/drawingml/2006/main">
            <a:off x="8172450" y="1762125"/>
            <a:ext cx="3028950" cy="800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text-6">
            <a:extLst xmlns:a="http://schemas.openxmlformats.org/drawingml/2006/main">
              <a:ext uri="{FF2B5EF4-FFF2-40B4-BE49-F238E27FC236}">
                <a16:creationId xmlns:a16="http://schemas.microsoft.com/office/drawing/2014/main" id="{66ED565A-B2A5-48FC-8EBC-A736FC1BA78F}"/>
              </a:ext>
            </a:extLst>
          </p:cNvPr>
          <p:cNvSpPr>
            <a:spLocks xmlns:a="http://schemas.openxmlformats.org/drawingml/2006/main" noGrp="1"/>
          </p:cNvSpPr>
          <p:nvPr/>
        </p:nvSpPr>
        <p:spPr>
          <a:xfrm xmlns:a="http://schemas.openxmlformats.org/drawingml/2006/main">
            <a:off x="8343900" y="1895475"/>
            <a:ext cx="2686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E2852"/>
                </a:solidFill>
                <a:latin typeface="DejaVu Sans"/>
                <a:ea typeface="DejaVu Sans"/>
                <a:cs typeface="DejaVu Sans"/>
              </a:defRPr>
            </a:pPr>
            <a:r>
              <a:rPr sz="2325" b="1">
                <a:solidFill>
                  <a:srgbClr val="1E2852"/>
                </a:solidFill>
                <a:latin typeface="DejaVu Sans"/>
                <a:ea typeface="DejaVu Sans"/>
                <a:cs typeface="DejaVu Sans"/>
              </a:rPr>
              <a:t>CATALOG</a:t>
            </a:r>
          </a:p>
        </p:txBody>
      </p:sp>
      <p:sp>
        <p:nvSpPr>
          <p:cNvPr id="7" name="shape-7">
            <a:extLst xmlns:a="http://schemas.openxmlformats.org/drawingml/2006/main">
              <a:ext uri="{FF2B5EF4-FFF2-40B4-BE49-F238E27FC236}">
                <a16:creationId xmlns:a16="http://schemas.microsoft.com/office/drawing/2014/main" id="{EDE4D8CC-7392-486B-8C0E-E09AF2970B5B}"/>
              </a:ext>
            </a:extLst>
          </p:cNvPr>
          <p:cNvSpPr>
            <a:spLocks xmlns:a="http://schemas.openxmlformats.org/drawingml/2006/main" noGrp="1"/>
          </p:cNvSpPr>
          <p:nvPr/>
        </p:nvSpPr>
        <p:spPr>
          <a:xfrm xmlns:a="http://schemas.openxmlformats.org/drawingml/2006/main">
            <a:off x="8172450" y="3114675"/>
            <a:ext cx="3028950" cy="800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text-8">
            <a:extLst xmlns:a="http://schemas.openxmlformats.org/drawingml/2006/main">
              <a:ext uri="{FF2B5EF4-FFF2-40B4-BE49-F238E27FC236}">
                <a16:creationId xmlns:a16="http://schemas.microsoft.com/office/drawing/2014/main" id="{7B0703B6-7147-4A3E-B9E9-3B1DCB231247}"/>
              </a:ext>
            </a:extLst>
          </p:cNvPr>
          <p:cNvSpPr>
            <a:spLocks xmlns:a="http://schemas.openxmlformats.org/drawingml/2006/main" noGrp="1"/>
          </p:cNvSpPr>
          <p:nvPr/>
        </p:nvSpPr>
        <p:spPr>
          <a:xfrm xmlns:a="http://schemas.openxmlformats.org/drawingml/2006/main">
            <a:off x="8343900" y="3248025"/>
            <a:ext cx="2686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E2852"/>
                </a:solidFill>
                <a:latin typeface="DejaVu Sans"/>
                <a:ea typeface="DejaVu Sans"/>
                <a:cs typeface="DejaVu Sans"/>
              </a:defRPr>
            </a:pPr>
            <a:r>
              <a:rPr sz="2325" b="1">
                <a:solidFill>
                  <a:srgbClr val="1E2852"/>
                </a:solidFill>
                <a:latin typeface="DejaVu Sans"/>
                <a:ea typeface="DejaVu Sans"/>
                <a:cs typeface="DejaVu Sans"/>
              </a:rPr>
              <a:t>METADATA</a:t>
            </a:r>
          </a:p>
        </p:txBody>
      </p:sp>
      <p:sp>
        <p:nvSpPr>
          <p:cNvPr id="9" name="shape-9">
            <a:extLst xmlns:a="http://schemas.openxmlformats.org/drawingml/2006/main">
              <a:ext uri="{FF2B5EF4-FFF2-40B4-BE49-F238E27FC236}">
                <a16:creationId xmlns:a16="http://schemas.microsoft.com/office/drawing/2014/main" id="{71D6F76A-BB23-4FC1-8879-6A2ED227C3F8}"/>
              </a:ext>
            </a:extLst>
          </p:cNvPr>
          <p:cNvSpPr>
            <a:spLocks xmlns:a="http://schemas.openxmlformats.org/drawingml/2006/main" noGrp="1"/>
          </p:cNvSpPr>
          <p:nvPr/>
        </p:nvSpPr>
        <p:spPr>
          <a:xfrm xmlns:a="http://schemas.openxmlformats.org/drawingml/2006/main">
            <a:off x="8172450" y="4467225"/>
            <a:ext cx="3028950" cy="800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text-10">
            <a:extLst xmlns:a="http://schemas.openxmlformats.org/drawingml/2006/main">
              <a:ext uri="{FF2B5EF4-FFF2-40B4-BE49-F238E27FC236}">
                <a16:creationId xmlns:a16="http://schemas.microsoft.com/office/drawing/2014/main" id="{4F721ABD-3416-4EF0-AB22-8895273DC1A0}"/>
              </a:ext>
            </a:extLst>
          </p:cNvPr>
          <p:cNvSpPr>
            <a:spLocks xmlns:a="http://schemas.openxmlformats.org/drawingml/2006/main" noGrp="1"/>
          </p:cNvSpPr>
          <p:nvPr/>
        </p:nvSpPr>
        <p:spPr>
          <a:xfrm xmlns:a="http://schemas.openxmlformats.org/drawingml/2006/main">
            <a:off x="8343900" y="4600575"/>
            <a:ext cx="2686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E2852"/>
                </a:solidFill>
                <a:latin typeface="DejaVu Sans"/>
                <a:ea typeface="DejaVu Sans"/>
                <a:cs typeface="DejaVu Sans"/>
              </a:defRPr>
            </a:pPr>
            <a:r>
              <a:rPr sz="2325" b="1">
                <a:solidFill>
                  <a:srgbClr val="1E2852"/>
                </a:solidFill>
                <a:latin typeface="DejaVu Sans"/>
                <a:ea typeface="DejaVu Sans"/>
                <a:cs typeface="DejaVu Sans"/>
              </a:rPr>
              <a:t>DATA FILES</a:t>
            </a:r>
          </a:p>
        </p:txBody>
      </p:sp>
      <p:cxnSp>
        <p:nvCxnSpPr>
          <p:cNvPr id="23" name=""/>
          <p:cNvCxnSpPr>
            <a:stCxn xmlns:a="http://schemas.openxmlformats.org/drawingml/2006/main" id="5" idx="2"/>
            <a:endCxn xmlns:a="http://schemas.openxmlformats.org/drawingml/2006/main" id="7" idx="0"/>
          </p:cNvCxnSpPr>
          <p:nvPr/>
        </p:nvCxnSpPr>
        <p:spPr>
          <a:xfrm xmlns:a="http://schemas.openxmlformats.org/drawingml/2006/main">
            <a:off x="9686925" y="2562225"/>
            <a:ext cx="0" cy="552450"/>
          </a:xfrm>
          <a:prstGeom xmlns:a="http://schemas.openxmlformats.org/drawingml/2006/main" prst="straightConnector1">
            <a:avLst/>
          </a:prstGeom>
          <a:ln xmlns:a="http://schemas.openxmlformats.org/drawingml/2006/main" w="23813">
            <a:solidFill>
              <a:srgbClr val="3858D6"/>
            </a:solidFill>
            <a:prstDash val="solid"/>
            <a:tailEnd type="triangle" w="sm" len="sm"/>
          </a:ln>
        </p:spPr>
      </p:cxnSp>
      <p:cxnSp>
        <p:nvCxnSpPr>
          <p:cNvPr id="24" name=""/>
          <p:cNvCxnSpPr>
            <a:stCxn xmlns:a="http://schemas.openxmlformats.org/drawingml/2006/main" id="7" idx="2"/>
            <a:endCxn xmlns:a="http://schemas.openxmlformats.org/drawingml/2006/main" id="9" idx="0"/>
          </p:cNvCxnSpPr>
          <p:nvPr/>
        </p:nvCxnSpPr>
        <p:spPr>
          <a:xfrm xmlns:a="http://schemas.openxmlformats.org/drawingml/2006/main">
            <a:off x="9686925" y="3914775"/>
            <a:ext cx="0" cy="552450"/>
          </a:xfrm>
          <a:prstGeom xmlns:a="http://schemas.openxmlformats.org/drawingml/2006/main" prst="straightConnector1">
            <a:avLst/>
          </a:prstGeom>
          <a:ln xmlns:a="http://schemas.openxmlformats.org/drawingml/2006/main" w="23813">
            <a:solidFill>
              <a:srgbClr val="3858D6"/>
            </a:solidFill>
            <a:prstDash val="solid"/>
            <a:tailEnd type="triangle" w="sm" len="sm"/>
          </a:ln>
        </p:spPr>
      </p:cxnSp>
    </p:spTree>
    <p:extLst>
      <p:ext uri="{BB962C8B-B14F-4D97-AF65-F5344CB8AC3E}">
        <p14:creationId xmlns:p14="http://schemas.microsoft.com/office/powerpoint/2010/main" val="20938779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1">
            <a:extLst xmlns:a="http://schemas.openxmlformats.org/drawingml/2006/main">
              <a:ext uri="{FF2B5EF4-FFF2-40B4-BE49-F238E27FC236}">
                <a16:creationId xmlns:a16="http://schemas.microsoft.com/office/drawing/2014/main" id="{B1B76B42-E050-4DFC-88E7-9BDBEE242FE5}"/>
              </a:ext>
            </a:extLst>
          </p:cNvPr>
          <p:cNvSpPr>
            <a:spLocks xmlns:a="http://schemas.openxmlformats.org/drawingml/2006/main" noGrp="1"/>
          </p:cNvSpPr>
          <p:nvPr/>
        </p:nvSpPr>
        <p:spPr>
          <a:xfrm xmlns:a="http://schemas.openxmlformats.org/drawingml/2006/main">
            <a:off x="647700" y="4191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D6A"/>
                </a:solidFill>
                <a:latin typeface="DejaVu Sans"/>
                <a:ea typeface="DejaVu Sans"/>
                <a:cs typeface="DejaVu Sans"/>
              </a:defRPr>
            </a:pPr>
            <a:r>
              <a:rPr sz="3450" b="1">
                <a:solidFill>
                  <a:srgbClr val="202D6A"/>
                </a:solidFill>
                <a:latin typeface="DejaVu Sans"/>
                <a:ea typeface="DejaVu Sans"/>
                <a:cs typeface="DejaVu Sans"/>
              </a:rPr>
              <a:t>Vì sao cần một table format mới?</a:t>
            </a:r>
          </a:p>
        </p:txBody>
      </p:sp>
      <p:sp>
        <p:nvSpPr>
          <p:cNvPr id="2" name="line-12">
            <a:extLst xmlns:a="http://schemas.openxmlformats.org/drawingml/2006/main">
              <a:ext uri="{FF2B5EF4-FFF2-40B4-BE49-F238E27FC236}">
                <a16:creationId xmlns:a16="http://schemas.microsoft.com/office/drawing/2014/main" id="{EDDD945D-4FA7-4C99-B113-27A10B93D691}"/>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3" name="text-13">
            <a:extLst xmlns:a="http://schemas.openxmlformats.org/drawingml/2006/main">
              <a:ext uri="{FF2B5EF4-FFF2-40B4-BE49-F238E27FC236}">
                <a16:creationId xmlns:a16="http://schemas.microsoft.com/office/drawing/2014/main" id="{5E6952D1-DA00-423C-958E-39E3FB9F8648}"/>
              </a:ext>
            </a:extLst>
          </p:cNvPr>
          <p:cNvSpPr>
            <a:spLocks xmlns:a="http://schemas.openxmlformats.org/drawingml/2006/main" noGrp="1"/>
          </p:cNvSpPr>
          <p:nvPr/>
        </p:nvSpPr>
        <p:spPr>
          <a:xfrm xmlns:a="http://schemas.openxmlformats.org/drawingml/2006/main">
            <a:off x="11144250"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82"/>
                </a:solidFill>
                <a:latin typeface="DejaVu Sans"/>
                <a:ea typeface="DejaVu Sans"/>
                <a:cs typeface="DejaVu Sans"/>
              </a:defRPr>
            </a:pPr>
            <a:r>
              <a:rPr sz="1350" b="0">
                <a:solidFill>
                  <a:srgbClr val="5A6482"/>
                </a:solidFill>
                <a:latin typeface="DejaVu Sans"/>
                <a:ea typeface="DejaVu Sans"/>
                <a:cs typeface="DejaVu Sans"/>
              </a:rPr>
              <a:t>02</a:t>
            </a:r>
          </a:p>
        </p:txBody>
      </p:sp>
      <p:sp>
        <p:nvSpPr>
          <p:cNvPr id="4" name="text-14">
            <a:extLst xmlns:a="http://schemas.openxmlformats.org/drawingml/2006/main">
              <a:ext uri="{FF2B5EF4-FFF2-40B4-BE49-F238E27FC236}">
                <a16:creationId xmlns:a16="http://schemas.microsoft.com/office/drawing/2014/main" id="{E4870417-234E-460F-8B99-5C652DEA237B}"/>
              </a:ext>
            </a:extLst>
          </p:cNvPr>
          <p:cNvSpPr>
            <a:spLocks xmlns:a="http://schemas.openxmlformats.org/drawingml/2006/main" noGrp="1"/>
          </p:cNvSpPr>
          <p:nvPr/>
        </p:nvSpPr>
        <p:spPr>
          <a:xfrm xmlns:a="http://schemas.openxmlformats.org/drawingml/2006/main">
            <a:off x="647700" y="16573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3858D6"/>
                </a:solidFill>
                <a:latin typeface="DejaVu Sans"/>
                <a:ea typeface="DejaVu Sans"/>
                <a:cs typeface="DejaVu Sans"/>
              </a:defRPr>
            </a:pPr>
            <a:r>
              <a:rPr sz="2550" b="1">
                <a:solidFill>
                  <a:srgbClr val="3858D6"/>
                </a:solidFill>
                <a:latin typeface="DejaVu Sans"/>
                <a:ea typeface="DejaVu Sans"/>
                <a:cs typeface="DejaVu Sans"/>
              </a:rPr>
              <a:t>Data lake kiểu Hive</a:t>
            </a:r>
          </a:p>
        </p:txBody>
      </p:sp>
      <p:sp>
        <p:nvSpPr>
          <p:cNvPr id="5" name="text-15">
            <a:extLst xmlns:a="http://schemas.openxmlformats.org/drawingml/2006/main">
              <a:ext uri="{FF2B5EF4-FFF2-40B4-BE49-F238E27FC236}">
                <a16:creationId xmlns:a16="http://schemas.microsoft.com/office/drawing/2014/main" id="{AAF8CA5A-A1DD-4A62-8A15-88C1AD3ADD86}"/>
              </a:ext>
            </a:extLst>
          </p:cNvPr>
          <p:cNvSpPr>
            <a:spLocks xmlns:a="http://schemas.openxmlformats.org/drawingml/2006/main" noGrp="1"/>
          </p:cNvSpPr>
          <p:nvPr/>
        </p:nvSpPr>
        <p:spPr>
          <a:xfrm xmlns:a="http://schemas.openxmlformats.org/drawingml/2006/main">
            <a:off x="647700" y="2371725"/>
            <a:ext cx="4714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E2852"/>
                </a:solidFill>
                <a:latin typeface="DejaVu Sans"/>
                <a:ea typeface="DejaVu Sans"/>
                <a:cs typeface="DejaVu Sans"/>
              </a:defRPr>
            </a:pPr>
            <a:r>
              <a:rPr sz="2025" b="1">
                <a:solidFill>
                  <a:srgbClr val="1E2852"/>
                </a:solidFill>
                <a:latin typeface="DejaVu Sans"/>
                <a:ea typeface="DejaVu Sans"/>
                <a:cs typeface="DejaVu Sans"/>
              </a:rPr>
              <a:t>sales/year=2024/month=01/</a:t>
            </a:r>
          </a:p>
        </p:txBody>
      </p:sp>
      <p:sp>
        <p:nvSpPr>
          <p:cNvPr id="6" name="text-16">
            <a:extLst xmlns:a="http://schemas.openxmlformats.org/drawingml/2006/main">
              <a:ext uri="{FF2B5EF4-FFF2-40B4-BE49-F238E27FC236}">
                <a16:creationId xmlns:a16="http://schemas.microsoft.com/office/drawing/2014/main" id="{6CC75B4F-2566-4808-9A00-0878521F2A94}"/>
              </a:ext>
            </a:extLst>
          </p:cNvPr>
          <p:cNvSpPr>
            <a:spLocks xmlns:a="http://schemas.openxmlformats.org/drawingml/2006/main" noGrp="1"/>
          </p:cNvSpPr>
          <p:nvPr/>
        </p:nvSpPr>
        <p:spPr>
          <a:xfrm xmlns:a="http://schemas.openxmlformats.org/drawingml/2006/main">
            <a:off x="647700" y="3009900"/>
            <a:ext cx="4714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E2852"/>
                </a:solidFill>
                <a:latin typeface="DejaVu Sans"/>
                <a:ea typeface="DejaVu Sans"/>
                <a:cs typeface="DejaVu Sans"/>
              </a:defRPr>
            </a:pPr>
            <a:r>
              <a:rPr sz="2175" b="0">
                <a:solidFill>
                  <a:srgbClr val="1E2852"/>
                </a:solidFill>
                <a:latin typeface="DejaVu Sans"/>
                <a:ea typeface="DejaVu Sans"/>
                <a:cs typeface="DejaVu Sans"/>
              </a:rPr>
              <a:t>Metastore lưu vị trí thư mục.</a:t>
            </a:r>
          </a:p>
          <a:p xmlns:a="http://schemas.openxmlformats.org/drawingml/2006/main">
            <a:pPr>
              <a:defRPr sz="2175" b="0">
                <a:solidFill>
                  <a:srgbClr val="1E2852"/>
                </a:solidFill>
                <a:latin typeface="DejaVu Sans"/>
                <a:ea typeface="DejaVu Sans"/>
                <a:cs typeface="DejaVu Sans"/>
              </a:defRPr>
            </a:pPr>
            <a:r>
              <a:rPr sz="2175" b="0">
                <a:solidFill>
                  <a:srgbClr val="1E2852"/>
                </a:solidFill>
                <a:latin typeface="DejaVu Sans"/>
                <a:ea typeface="DejaVu Sans"/>
                <a:cs typeface="DejaVu Sans"/>
              </a:rPr>
              <a:t>Engine liệt kê file để lập kế hoạch đọc.</a:t>
            </a:r>
          </a:p>
        </p:txBody>
      </p:sp>
      <p:sp>
        <p:nvSpPr>
          <p:cNvPr id="7" name="text-17">
            <a:extLst xmlns:a="http://schemas.openxmlformats.org/drawingml/2006/main">
              <a:ext uri="{FF2B5EF4-FFF2-40B4-BE49-F238E27FC236}">
                <a16:creationId xmlns:a16="http://schemas.microsoft.com/office/drawing/2014/main" id="{679BBCF9-D4AC-4EBE-9A3F-408779317F7A}"/>
              </a:ext>
            </a:extLst>
          </p:cNvPr>
          <p:cNvSpPr>
            <a:spLocks xmlns:a="http://schemas.openxmlformats.org/drawingml/2006/main" noGrp="1"/>
          </p:cNvSpPr>
          <p:nvPr/>
        </p:nvSpPr>
        <p:spPr>
          <a:xfrm xmlns:a="http://schemas.openxmlformats.org/drawingml/2006/main">
            <a:off x="6296025" y="16573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3858D6"/>
                </a:solidFill>
                <a:latin typeface="DejaVu Sans"/>
                <a:ea typeface="DejaVu Sans"/>
                <a:cs typeface="DejaVu Sans"/>
              </a:defRPr>
            </a:pPr>
            <a:r>
              <a:rPr sz="2550" b="1">
                <a:solidFill>
                  <a:srgbClr val="3858D6"/>
                </a:solidFill>
                <a:latin typeface="DejaVu Sans"/>
                <a:ea typeface="DejaVu Sans"/>
                <a:cs typeface="DejaVu Sans"/>
              </a:rPr>
              <a:t>Khi dữ liệu và số job tăng…</a:t>
            </a:r>
          </a:p>
        </p:txBody>
      </p:sp>
      <p:sp>
        <p:nvSpPr>
          <p:cNvPr id="8" name="text-18">
            <a:extLst xmlns:a="http://schemas.openxmlformats.org/drawingml/2006/main">
              <a:ext uri="{FF2B5EF4-FFF2-40B4-BE49-F238E27FC236}">
                <a16:creationId xmlns:a16="http://schemas.microsoft.com/office/drawing/2014/main" id="{23CBC187-9F21-4985-AC7E-DEDA3976AE93}"/>
              </a:ext>
            </a:extLst>
          </p:cNvPr>
          <p:cNvSpPr>
            <a:spLocks xmlns:a="http://schemas.openxmlformats.org/drawingml/2006/main" noGrp="1"/>
          </p:cNvSpPr>
          <p:nvPr/>
        </p:nvSpPr>
        <p:spPr>
          <a:xfrm xmlns:a="http://schemas.openxmlformats.org/drawingml/2006/main">
            <a:off x="6296025" y="2371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858D6"/>
                </a:solidFill>
                <a:latin typeface="DejaVu Sans"/>
                <a:ea typeface="DejaVu Sans"/>
                <a:cs typeface="DejaVu Sans"/>
              </a:defRPr>
            </a:pPr>
            <a:r>
              <a:rPr sz="2100" b="1">
                <a:solidFill>
                  <a:srgbClr val="3858D6"/>
                </a:solidFill>
                <a:latin typeface="DejaVu Sans"/>
                <a:ea typeface="DejaVu Sans"/>
                <a:cs typeface="DejaVu Sans"/>
              </a:rPr>
              <a:t>01</a:t>
            </a:r>
          </a:p>
        </p:txBody>
      </p:sp>
      <p:sp>
        <p:nvSpPr>
          <p:cNvPr id="9" name="text-19">
            <a:extLst xmlns:a="http://schemas.openxmlformats.org/drawingml/2006/main">
              <a:ext uri="{FF2B5EF4-FFF2-40B4-BE49-F238E27FC236}">
                <a16:creationId xmlns:a16="http://schemas.microsoft.com/office/drawing/2014/main" id="{9A7A2170-DB53-4116-9B17-A54A1E43E318}"/>
              </a:ext>
            </a:extLst>
          </p:cNvPr>
          <p:cNvSpPr>
            <a:spLocks xmlns:a="http://schemas.openxmlformats.org/drawingml/2006/main" noGrp="1"/>
          </p:cNvSpPr>
          <p:nvPr/>
        </p:nvSpPr>
        <p:spPr>
          <a:xfrm xmlns:a="http://schemas.openxmlformats.org/drawingml/2006/main">
            <a:off x="6934200" y="2343150"/>
            <a:ext cx="45339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E2852"/>
                </a:solidFill>
                <a:latin typeface="DejaVu Sans"/>
                <a:ea typeface="DejaVu Sans"/>
                <a:cs typeface="DejaVu Sans"/>
              </a:defRPr>
            </a:pPr>
            <a:r>
              <a:rPr sz="2100" b="0">
                <a:solidFill>
                  <a:srgbClr val="1E2852"/>
                </a:solidFill>
                <a:latin typeface="DejaVu Sans"/>
                <a:ea typeface="DejaVu Sans"/>
                <a:cs typeface="DejaVu Sans"/>
              </a:rPr>
              <a:t>Đọc/ghi đồng thời khó bảo đảm nhất quán</a:t>
            </a:r>
          </a:p>
        </p:txBody>
      </p:sp>
      <p:sp>
        <p:nvSpPr>
          <p:cNvPr id="10" name="text-20">
            <a:extLst xmlns:a="http://schemas.openxmlformats.org/drawingml/2006/main">
              <a:ext uri="{FF2B5EF4-FFF2-40B4-BE49-F238E27FC236}">
                <a16:creationId xmlns:a16="http://schemas.microsoft.com/office/drawing/2014/main" id="{0791A1CB-4BB5-4209-98AD-77E58665A3A6}"/>
              </a:ext>
            </a:extLst>
          </p:cNvPr>
          <p:cNvSpPr>
            <a:spLocks xmlns:a="http://schemas.openxmlformats.org/drawingml/2006/main" noGrp="1"/>
          </p:cNvSpPr>
          <p:nvPr/>
        </p:nvSpPr>
        <p:spPr>
          <a:xfrm xmlns:a="http://schemas.openxmlformats.org/drawingml/2006/main">
            <a:off x="6296025" y="32861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858D6"/>
                </a:solidFill>
                <a:latin typeface="DejaVu Sans"/>
                <a:ea typeface="DejaVu Sans"/>
                <a:cs typeface="DejaVu Sans"/>
              </a:defRPr>
            </a:pPr>
            <a:r>
              <a:rPr sz="2100" b="1">
                <a:solidFill>
                  <a:srgbClr val="3858D6"/>
                </a:solidFill>
                <a:latin typeface="DejaVu Sans"/>
                <a:ea typeface="DejaVu Sans"/>
                <a:cs typeface="DejaVu Sans"/>
              </a:rPr>
              <a:t>02</a:t>
            </a:r>
          </a:p>
        </p:txBody>
      </p:sp>
      <p:sp>
        <p:nvSpPr>
          <p:cNvPr id="11" name="text-21">
            <a:extLst xmlns:a="http://schemas.openxmlformats.org/drawingml/2006/main">
              <a:ext uri="{FF2B5EF4-FFF2-40B4-BE49-F238E27FC236}">
                <a16:creationId xmlns:a16="http://schemas.microsoft.com/office/drawing/2014/main" id="{964C9697-0DC9-4411-A962-2CCE5FBC9032}"/>
              </a:ext>
            </a:extLst>
          </p:cNvPr>
          <p:cNvSpPr>
            <a:spLocks xmlns:a="http://schemas.openxmlformats.org/drawingml/2006/main" noGrp="1"/>
          </p:cNvSpPr>
          <p:nvPr/>
        </p:nvSpPr>
        <p:spPr>
          <a:xfrm xmlns:a="http://schemas.openxmlformats.org/drawingml/2006/main">
            <a:off x="6934200" y="3257550"/>
            <a:ext cx="45339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E2852"/>
                </a:solidFill>
                <a:latin typeface="DejaVu Sans"/>
                <a:ea typeface="DejaVu Sans"/>
                <a:cs typeface="DejaVu Sans"/>
              </a:defRPr>
            </a:pPr>
            <a:r>
              <a:rPr sz="2100" b="0">
                <a:solidFill>
                  <a:srgbClr val="1E2852"/>
                </a:solidFill>
                <a:latin typeface="DejaVu Sans"/>
                <a:ea typeface="DejaVu Sans"/>
                <a:cs typeface="DejaVu Sans"/>
              </a:rPr>
              <a:t>Listing hàng triệu file tốn thời gian</a:t>
            </a:r>
          </a:p>
        </p:txBody>
      </p:sp>
      <p:sp>
        <p:nvSpPr>
          <p:cNvPr id="12" name="text-22">
            <a:extLst xmlns:a="http://schemas.openxmlformats.org/drawingml/2006/main">
              <a:ext uri="{FF2B5EF4-FFF2-40B4-BE49-F238E27FC236}">
                <a16:creationId xmlns:a16="http://schemas.microsoft.com/office/drawing/2014/main" id="{773F030A-0A92-40E2-8EB1-AECB2A1F5D29}"/>
              </a:ext>
            </a:extLst>
          </p:cNvPr>
          <p:cNvSpPr>
            <a:spLocks xmlns:a="http://schemas.openxmlformats.org/drawingml/2006/main" noGrp="1"/>
          </p:cNvSpPr>
          <p:nvPr/>
        </p:nvSpPr>
        <p:spPr>
          <a:xfrm xmlns:a="http://schemas.openxmlformats.org/drawingml/2006/main">
            <a:off x="6296025" y="42005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858D6"/>
                </a:solidFill>
                <a:latin typeface="DejaVu Sans"/>
                <a:ea typeface="DejaVu Sans"/>
                <a:cs typeface="DejaVu Sans"/>
              </a:defRPr>
            </a:pPr>
            <a:r>
              <a:rPr sz="2100" b="1">
                <a:solidFill>
                  <a:srgbClr val="3858D6"/>
                </a:solidFill>
                <a:latin typeface="DejaVu Sans"/>
                <a:ea typeface="DejaVu Sans"/>
                <a:cs typeface="DejaVu Sans"/>
              </a:rPr>
              <a:t>03</a:t>
            </a:r>
          </a:p>
        </p:txBody>
      </p:sp>
      <p:sp>
        <p:nvSpPr>
          <p:cNvPr id="13" name="text-23">
            <a:extLst xmlns:a="http://schemas.openxmlformats.org/drawingml/2006/main">
              <a:ext uri="{FF2B5EF4-FFF2-40B4-BE49-F238E27FC236}">
                <a16:creationId xmlns:a16="http://schemas.microsoft.com/office/drawing/2014/main" id="{64210DFC-BD40-434C-9386-7DA81E733C82}"/>
              </a:ext>
            </a:extLst>
          </p:cNvPr>
          <p:cNvSpPr>
            <a:spLocks xmlns:a="http://schemas.openxmlformats.org/drawingml/2006/main" noGrp="1"/>
          </p:cNvSpPr>
          <p:nvPr/>
        </p:nvSpPr>
        <p:spPr>
          <a:xfrm xmlns:a="http://schemas.openxmlformats.org/drawingml/2006/main">
            <a:off x="6934200" y="4171950"/>
            <a:ext cx="45339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E2852"/>
                </a:solidFill>
                <a:latin typeface="DejaVu Sans"/>
                <a:ea typeface="DejaVu Sans"/>
                <a:cs typeface="DejaVu Sans"/>
              </a:defRPr>
            </a:pPr>
            <a:r>
              <a:rPr sz="2100" b="0">
                <a:solidFill>
                  <a:srgbClr val="1E2852"/>
                </a:solidFill>
                <a:latin typeface="DejaVu Sans"/>
                <a:ea typeface="DejaVu Sans"/>
                <a:cs typeface="DejaVu Sans"/>
              </a:rPr>
              <a:t>Đổi schema và partition dễ phát sinh lỗi</a:t>
            </a:r>
          </a:p>
        </p:txBody>
      </p:sp>
      <p:sp>
        <p:nvSpPr>
          <p:cNvPr id="14" name="shape-24">
            <a:extLst xmlns:a="http://schemas.openxmlformats.org/drawingml/2006/main">
              <a:ext uri="{FF2B5EF4-FFF2-40B4-BE49-F238E27FC236}">
                <a16:creationId xmlns:a16="http://schemas.microsoft.com/office/drawing/2014/main" id="{23ADC139-740A-4F61-8429-B7FA55755746}"/>
              </a:ext>
            </a:extLst>
          </p:cNvPr>
          <p:cNvSpPr>
            <a:spLocks xmlns:a="http://schemas.openxmlformats.org/drawingml/2006/main" noGrp="1"/>
          </p:cNvSpPr>
          <p:nvPr/>
        </p:nvSpPr>
        <p:spPr>
          <a:xfrm xmlns:a="http://schemas.openxmlformats.org/drawingml/2006/main">
            <a:off x="647700" y="5629275"/>
            <a:ext cx="10896600" cy="552450"/>
          </a:xfrm>
          <a:prstGeom xmlns:a="http://schemas.openxmlformats.org/drawingml/2006/main" prst="rect">
            <a:avLst/>
          </a:prstGeom>
          <a:solidFill xmlns:a="http://schemas.openxmlformats.org/drawingml/2006/main">
            <a:srgbClr val="F3F0FF"/>
          </a:solidFill>
          <a:ln xmlns:a="http://schemas.openxmlformats.org/drawingml/2006/main" w="0">
            <a:noFill/>
          </a:ln>
        </p:spPr>
      </p:sp>
      <p:sp>
        <p:nvSpPr>
          <p:cNvPr id="15" name="text-25">
            <a:extLst xmlns:a="http://schemas.openxmlformats.org/drawingml/2006/main">
              <a:ext uri="{FF2B5EF4-FFF2-40B4-BE49-F238E27FC236}">
                <a16:creationId xmlns:a16="http://schemas.microsoft.com/office/drawing/2014/main" id="{25288FEE-119F-4B29-804C-3836CB978860}"/>
              </a:ext>
            </a:extLst>
          </p:cNvPr>
          <p:cNvSpPr>
            <a:spLocks xmlns:a="http://schemas.openxmlformats.org/drawingml/2006/main" noGrp="1"/>
          </p:cNvSpPr>
          <p:nvPr/>
        </p:nvSpPr>
        <p:spPr>
          <a:xfrm xmlns:a="http://schemas.openxmlformats.org/drawingml/2006/main">
            <a:off x="819150" y="57435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6A"/>
                </a:solidFill>
                <a:latin typeface="DejaVu Sans"/>
                <a:ea typeface="DejaVu Sans"/>
                <a:cs typeface="DejaVu Sans"/>
              </a:defRPr>
            </a:pPr>
            <a:r>
              <a:rPr sz="1875" b="1">
                <a:solidFill>
                  <a:srgbClr val="202D6A"/>
                </a:solidFill>
                <a:latin typeface="DejaVu Sans"/>
                <a:ea typeface="DejaVu Sans"/>
                <a:cs typeface="DejaVu Sans"/>
              </a:rPr>
              <a:t>Iceberg quản lý trạng thái của bảng bằng metadata có phiên bản.</a:t>
            </a:r>
          </a:p>
        </p:txBody>
      </p:sp>
    </p:spTree>
    <p:extLst>
      <p:ext uri="{BB962C8B-B14F-4D97-AF65-F5344CB8AC3E}">
        <p14:creationId xmlns:p14="http://schemas.microsoft.com/office/powerpoint/2010/main" val="1676157799"/>
      </p:ext>
    </p:extLst>
  </p:cSld>
</p:sld>
</file>

<file path=ppt/slides/slide3.xml><?xml version="1.0" encoding="utf-8"?>
<p:sld xmlns:p="http://schemas.openxmlformats.org/presentationml/2006/main">
  <p:cSld>
    <p:bg>
      <p:bgPr>
        <a:solidFill xmlns:a="http://schemas.openxmlformats.org/drawingml/2006/main">
          <a:srgbClr val="F3F0FF"/>
        </a:solidFill>
      </p:bgPr>
    </p:bg>
    <p:spTree>
      <p:nvGrpSpPr>
        <p:cNvPr id="1" name=""/>
        <p:cNvGrpSpPr/>
        <p:nvPr/>
      </p:nvGrpSpPr>
      <p:grpSpPr>
        <a:xfrm xmlns:a="http://schemas.openxmlformats.org/drawingml/2006/main"/>
      </p:grpSpPr>
      <p:sp>
        <p:nvSpPr>
          <p:cNvPr id="18" name="text-26">
            <a:extLst xmlns:a="http://schemas.openxmlformats.org/drawingml/2006/main">
              <a:ext uri="{FF2B5EF4-FFF2-40B4-BE49-F238E27FC236}">
                <a16:creationId xmlns:a16="http://schemas.microsoft.com/office/drawing/2014/main" id="{759CD78A-52B4-4393-A61E-76D8AE6D49DC}"/>
              </a:ext>
            </a:extLst>
          </p:cNvPr>
          <p:cNvSpPr>
            <a:spLocks xmlns:a="http://schemas.openxmlformats.org/drawingml/2006/main" noGrp="1"/>
          </p:cNvSpPr>
          <p:nvPr/>
        </p:nvSpPr>
        <p:spPr>
          <a:xfrm xmlns:a="http://schemas.openxmlformats.org/drawingml/2006/main">
            <a:off x="647700" y="4191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D6A"/>
                </a:solidFill>
                <a:latin typeface="DejaVu Sans"/>
                <a:ea typeface="DejaVu Sans"/>
                <a:cs typeface="DejaVu Sans"/>
              </a:defRPr>
            </a:pPr>
            <a:r>
              <a:rPr sz="3450" b="1">
                <a:solidFill>
                  <a:srgbClr val="202D6A"/>
                </a:solidFill>
                <a:latin typeface="DejaVu Sans"/>
                <a:ea typeface="DejaVu Sans"/>
                <a:cs typeface="DejaVu Sans"/>
              </a:rPr>
              <a:t>Iceberg nằm ở đâu trong hệ thống?</a:t>
            </a:r>
          </a:p>
        </p:txBody>
      </p:sp>
      <p:sp>
        <p:nvSpPr>
          <p:cNvPr id="2" name="line-27">
            <a:extLst xmlns:a="http://schemas.openxmlformats.org/drawingml/2006/main">
              <a:ext uri="{FF2B5EF4-FFF2-40B4-BE49-F238E27FC236}">
                <a16:creationId xmlns:a16="http://schemas.microsoft.com/office/drawing/2014/main" id="{E15790C7-A5F9-4420-A1FA-AECD0BB62B29}"/>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3" name="text-28">
            <a:extLst xmlns:a="http://schemas.openxmlformats.org/drawingml/2006/main">
              <a:ext uri="{FF2B5EF4-FFF2-40B4-BE49-F238E27FC236}">
                <a16:creationId xmlns:a16="http://schemas.microsoft.com/office/drawing/2014/main" id="{931520AC-8F04-4B17-87DF-A85EBA7E2333}"/>
              </a:ext>
            </a:extLst>
          </p:cNvPr>
          <p:cNvSpPr>
            <a:spLocks xmlns:a="http://schemas.openxmlformats.org/drawingml/2006/main" noGrp="1"/>
          </p:cNvSpPr>
          <p:nvPr/>
        </p:nvSpPr>
        <p:spPr>
          <a:xfrm xmlns:a="http://schemas.openxmlformats.org/drawingml/2006/main">
            <a:off x="11144250"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82"/>
                </a:solidFill>
                <a:latin typeface="DejaVu Sans"/>
                <a:ea typeface="DejaVu Sans"/>
                <a:cs typeface="DejaVu Sans"/>
              </a:defRPr>
            </a:pPr>
            <a:r>
              <a:rPr sz="1350" b="0">
                <a:solidFill>
                  <a:srgbClr val="5A6482"/>
                </a:solidFill>
                <a:latin typeface="DejaVu Sans"/>
                <a:ea typeface="DejaVu Sans"/>
                <a:cs typeface="DejaVu Sans"/>
              </a:rPr>
              <a:t>03</a:t>
            </a:r>
          </a:p>
        </p:txBody>
      </p:sp>
      <p:sp>
        <p:nvSpPr>
          <p:cNvPr id="4" name="shape-29">
            <a:extLst xmlns:a="http://schemas.openxmlformats.org/drawingml/2006/main">
              <a:ext uri="{FF2B5EF4-FFF2-40B4-BE49-F238E27FC236}">
                <a16:creationId xmlns:a16="http://schemas.microsoft.com/office/drawing/2014/main" id="{8760A781-2098-4892-ABE1-28E9DD5A69EC}"/>
              </a:ext>
            </a:extLst>
          </p:cNvPr>
          <p:cNvSpPr>
            <a:spLocks xmlns:a="http://schemas.openxmlformats.org/drawingml/2006/main" noGrp="1"/>
          </p:cNvSpPr>
          <p:nvPr/>
        </p:nvSpPr>
        <p:spPr>
          <a:xfrm xmlns:a="http://schemas.openxmlformats.org/drawingml/2006/main">
            <a:off x="647700" y="1771650"/>
            <a:ext cx="3457575" cy="857250"/>
          </a:xfrm>
          <a:prstGeom xmlns:a="http://schemas.openxmlformats.org/drawingml/2006/main" prst="rect">
            <a:avLst/>
          </a:prstGeom>
          <a:solidFill xmlns:a="http://schemas.openxmlformats.org/drawingml/2006/main">
            <a:srgbClr val="DCD4FA"/>
          </a:solidFill>
          <a:ln xmlns:a="http://schemas.openxmlformats.org/drawingml/2006/main" w="0">
            <a:noFill/>
          </a:ln>
        </p:spPr>
      </p:sp>
      <p:sp>
        <p:nvSpPr>
          <p:cNvPr id="5" name="text-30">
            <a:extLst xmlns:a="http://schemas.openxmlformats.org/drawingml/2006/main">
              <a:ext uri="{FF2B5EF4-FFF2-40B4-BE49-F238E27FC236}">
                <a16:creationId xmlns:a16="http://schemas.microsoft.com/office/drawing/2014/main" id="{E1E23196-BC93-4D02-965E-99823C02BF63}"/>
              </a:ext>
            </a:extLst>
          </p:cNvPr>
          <p:cNvSpPr>
            <a:spLocks xmlns:a="http://schemas.openxmlformats.org/drawingml/2006/main" noGrp="1"/>
          </p:cNvSpPr>
          <p:nvPr/>
        </p:nvSpPr>
        <p:spPr>
          <a:xfrm xmlns:a="http://schemas.openxmlformats.org/drawingml/2006/main">
            <a:off x="819150" y="1905000"/>
            <a:ext cx="3114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E2852"/>
                </a:solidFill>
                <a:latin typeface="DejaVu Sans"/>
                <a:ea typeface="DejaVu Sans"/>
                <a:cs typeface="DejaVu Sans"/>
              </a:defRPr>
            </a:pPr>
            <a:r>
              <a:rPr sz="2100" b="1">
                <a:solidFill>
                  <a:srgbClr val="1E2852"/>
                </a:solidFill>
                <a:latin typeface="DejaVu Sans"/>
                <a:ea typeface="DejaVu Sans"/>
                <a:cs typeface="DejaVu Sans"/>
              </a:rPr>
              <a:t>QUERY / COMPUTE</a:t>
            </a:r>
          </a:p>
        </p:txBody>
      </p:sp>
      <p:sp>
        <p:nvSpPr>
          <p:cNvPr id="6" name="shape-31">
            <a:extLst xmlns:a="http://schemas.openxmlformats.org/drawingml/2006/main">
              <a:ext uri="{FF2B5EF4-FFF2-40B4-BE49-F238E27FC236}">
                <a16:creationId xmlns:a16="http://schemas.microsoft.com/office/drawing/2014/main" id="{387F04FE-D27D-4B28-B89C-7BDD10F3E606}"/>
              </a:ext>
            </a:extLst>
          </p:cNvPr>
          <p:cNvSpPr>
            <a:spLocks xmlns:a="http://schemas.openxmlformats.org/drawingml/2006/main" noGrp="1"/>
          </p:cNvSpPr>
          <p:nvPr/>
        </p:nvSpPr>
        <p:spPr>
          <a:xfrm xmlns:a="http://schemas.openxmlformats.org/drawingml/2006/main">
            <a:off x="647700" y="3086100"/>
            <a:ext cx="3457575" cy="857250"/>
          </a:xfrm>
          <a:prstGeom xmlns:a="http://schemas.openxmlformats.org/drawingml/2006/main" prst="rect">
            <a:avLst/>
          </a:prstGeom>
          <a:solidFill xmlns:a="http://schemas.openxmlformats.org/drawingml/2006/main">
            <a:srgbClr val="DCD4FA"/>
          </a:solidFill>
          <a:ln xmlns:a="http://schemas.openxmlformats.org/drawingml/2006/main" w="0">
            <a:noFill/>
          </a:ln>
        </p:spPr>
      </p:sp>
      <p:sp>
        <p:nvSpPr>
          <p:cNvPr id="7" name="text-32">
            <a:extLst xmlns:a="http://schemas.openxmlformats.org/drawingml/2006/main">
              <a:ext uri="{FF2B5EF4-FFF2-40B4-BE49-F238E27FC236}">
                <a16:creationId xmlns:a16="http://schemas.microsoft.com/office/drawing/2014/main" id="{5E768F0B-6C31-4F6C-B8EA-C9397912999C}"/>
              </a:ext>
            </a:extLst>
          </p:cNvPr>
          <p:cNvSpPr>
            <a:spLocks xmlns:a="http://schemas.openxmlformats.org/drawingml/2006/main" noGrp="1"/>
          </p:cNvSpPr>
          <p:nvPr/>
        </p:nvSpPr>
        <p:spPr>
          <a:xfrm xmlns:a="http://schemas.openxmlformats.org/drawingml/2006/main">
            <a:off x="819150" y="3219450"/>
            <a:ext cx="3114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E2852"/>
                </a:solidFill>
                <a:latin typeface="DejaVu Sans"/>
                <a:ea typeface="DejaVu Sans"/>
                <a:cs typeface="DejaVu Sans"/>
              </a:defRPr>
            </a:pPr>
            <a:r>
              <a:rPr sz="2100" b="1">
                <a:solidFill>
                  <a:srgbClr val="1E2852"/>
                </a:solidFill>
                <a:latin typeface="DejaVu Sans"/>
                <a:ea typeface="DejaVu Sans"/>
                <a:cs typeface="DejaVu Sans"/>
              </a:rPr>
              <a:t>APACHE ICEBERG</a:t>
            </a:r>
          </a:p>
        </p:txBody>
      </p:sp>
      <p:sp>
        <p:nvSpPr>
          <p:cNvPr id="8" name="shape-33">
            <a:extLst xmlns:a="http://schemas.openxmlformats.org/drawingml/2006/main">
              <a:ext uri="{FF2B5EF4-FFF2-40B4-BE49-F238E27FC236}">
                <a16:creationId xmlns:a16="http://schemas.microsoft.com/office/drawing/2014/main" id="{E5828119-81D6-4A97-BBE1-7F0B9DDC1739}"/>
              </a:ext>
            </a:extLst>
          </p:cNvPr>
          <p:cNvSpPr>
            <a:spLocks xmlns:a="http://schemas.openxmlformats.org/drawingml/2006/main" noGrp="1"/>
          </p:cNvSpPr>
          <p:nvPr/>
        </p:nvSpPr>
        <p:spPr>
          <a:xfrm xmlns:a="http://schemas.openxmlformats.org/drawingml/2006/main">
            <a:off x="647700" y="4400550"/>
            <a:ext cx="3457575" cy="857250"/>
          </a:xfrm>
          <a:prstGeom xmlns:a="http://schemas.openxmlformats.org/drawingml/2006/main" prst="rect">
            <a:avLst/>
          </a:prstGeom>
          <a:solidFill xmlns:a="http://schemas.openxmlformats.org/drawingml/2006/main">
            <a:srgbClr val="DCD4FA"/>
          </a:solidFill>
          <a:ln xmlns:a="http://schemas.openxmlformats.org/drawingml/2006/main" w="0">
            <a:noFill/>
          </a:ln>
        </p:spPr>
      </p:sp>
      <p:sp>
        <p:nvSpPr>
          <p:cNvPr id="9" name="text-34">
            <a:extLst xmlns:a="http://schemas.openxmlformats.org/drawingml/2006/main">
              <a:ext uri="{FF2B5EF4-FFF2-40B4-BE49-F238E27FC236}">
                <a16:creationId xmlns:a16="http://schemas.microsoft.com/office/drawing/2014/main" id="{297C837A-B8F7-48E0-9F8B-3B73A2EDE274}"/>
              </a:ext>
            </a:extLst>
          </p:cNvPr>
          <p:cNvSpPr>
            <a:spLocks xmlns:a="http://schemas.openxmlformats.org/drawingml/2006/main" noGrp="1"/>
          </p:cNvSpPr>
          <p:nvPr/>
        </p:nvSpPr>
        <p:spPr>
          <a:xfrm xmlns:a="http://schemas.openxmlformats.org/drawingml/2006/main">
            <a:off x="819150" y="4533900"/>
            <a:ext cx="3114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E2852"/>
                </a:solidFill>
                <a:latin typeface="DejaVu Sans"/>
                <a:ea typeface="DejaVu Sans"/>
                <a:cs typeface="DejaVu Sans"/>
              </a:defRPr>
            </a:pPr>
            <a:r>
              <a:rPr sz="1875" b="1">
                <a:solidFill>
                  <a:srgbClr val="1E2852"/>
                </a:solidFill>
                <a:latin typeface="DejaVu Sans"/>
                <a:ea typeface="DejaVu Sans"/>
                <a:cs typeface="DejaVu Sans"/>
              </a:rPr>
              <a:t>STORAGE + FILE FORMAT</a:t>
            </a:r>
          </a:p>
        </p:txBody>
      </p:sp>
      <p:cxnSp>
        <p:nvCxnSpPr>
          <p:cNvPr id="27" name=""/>
          <p:cNvCxnSpPr>
            <a:stCxn xmlns:a="http://schemas.openxmlformats.org/drawingml/2006/main" id="4" idx="2"/>
            <a:endCxn xmlns:a="http://schemas.openxmlformats.org/drawingml/2006/main" id="6" idx="0"/>
          </p:cNvCxnSpPr>
          <p:nvPr/>
        </p:nvCxnSpPr>
        <p:spPr>
          <a:xfrm xmlns:a="http://schemas.openxmlformats.org/drawingml/2006/main">
            <a:off x="2376488" y="2628900"/>
            <a:ext cx="0" cy="457200"/>
          </a:xfrm>
          <a:prstGeom xmlns:a="http://schemas.openxmlformats.org/drawingml/2006/main" prst="straightConnector1">
            <a:avLst/>
          </a:prstGeom>
          <a:ln xmlns:a="http://schemas.openxmlformats.org/drawingml/2006/main" w="23813">
            <a:solidFill>
              <a:srgbClr val="3858D6"/>
            </a:solidFill>
            <a:prstDash val="solid"/>
            <a:tailEnd type="triangle" w="sm" len="sm"/>
          </a:ln>
        </p:spPr>
      </p:cxnSp>
      <p:cxnSp>
        <p:nvCxnSpPr>
          <p:cNvPr id="28" name=""/>
          <p:cNvCxnSpPr>
            <a:stCxn xmlns:a="http://schemas.openxmlformats.org/drawingml/2006/main" id="6" idx="2"/>
            <a:endCxn xmlns:a="http://schemas.openxmlformats.org/drawingml/2006/main" id="8" idx="0"/>
          </p:cNvCxnSpPr>
          <p:nvPr/>
        </p:nvCxnSpPr>
        <p:spPr>
          <a:xfrm xmlns:a="http://schemas.openxmlformats.org/drawingml/2006/main">
            <a:off x="2376488" y="3943350"/>
            <a:ext cx="0" cy="457200"/>
          </a:xfrm>
          <a:prstGeom xmlns:a="http://schemas.openxmlformats.org/drawingml/2006/main" prst="straightConnector1">
            <a:avLst/>
          </a:prstGeom>
          <a:ln xmlns:a="http://schemas.openxmlformats.org/drawingml/2006/main" w="23813">
            <a:solidFill>
              <a:srgbClr val="3858D6"/>
            </a:solidFill>
            <a:prstDash val="solid"/>
            <a:tailEnd type="triangle" w="sm" len="sm"/>
          </a:ln>
        </p:spPr>
      </p:cxnSp>
      <p:sp>
        <p:nvSpPr>
          <p:cNvPr id="12" name="text-35">
            <a:extLst xmlns:a="http://schemas.openxmlformats.org/drawingml/2006/main">
              <a:ext uri="{FF2B5EF4-FFF2-40B4-BE49-F238E27FC236}">
                <a16:creationId xmlns:a16="http://schemas.microsoft.com/office/drawing/2014/main" id="{3E222487-7135-4B6D-ADC7-5FFC99F61111}"/>
              </a:ext>
            </a:extLst>
          </p:cNvPr>
          <p:cNvSpPr>
            <a:spLocks xmlns:a="http://schemas.openxmlformats.org/drawingml/2006/main" noGrp="1"/>
          </p:cNvSpPr>
          <p:nvPr/>
        </p:nvSpPr>
        <p:spPr>
          <a:xfrm xmlns:a="http://schemas.openxmlformats.org/drawingml/2006/main">
            <a:off x="4781550" y="1809750"/>
            <a:ext cx="6591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02D6A"/>
                </a:solidFill>
                <a:latin typeface="DejaVu Sans"/>
                <a:ea typeface="DejaVu Sans"/>
                <a:cs typeface="DejaVu Sans"/>
              </a:defRPr>
            </a:pPr>
            <a:r>
              <a:rPr sz="2400" b="1">
                <a:solidFill>
                  <a:srgbClr val="202D6A"/>
                </a:solidFill>
                <a:latin typeface="DejaVu Sans"/>
                <a:ea typeface="DejaVu Sans"/>
                <a:cs typeface="DejaVu Sans"/>
              </a:rPr>
              <a:t>Spark · Flink · Trino</a:t>
            </a:r>
          </a:p>
        </p:txBody>
      </p:sp>
      <p:sp>
        <p:nvSpPr>
          <p:cNvPr id="13" name="text-36">
            <a:extLst xmlns:a="http://schemas.openxmlformats.org/drawingml/2006/main">
              <a:ext uri="{FF2B5EF4-FFF2-40B4-BE49-F238E27FC236}">
                <a16:creationId xmlns:a16="http://schemas.microsoft.com/office/drawing/2014/main" id="{9D2A4FD2-AC77-43AB-B1FC-9A9899B34AAD}"/>
              </a:ext>
            </a:extLst>
          </p:cNvPr>
          <p:cNvSpPr>
            <a:spLocks xmlns:a="http://schemas.openxmlformats.org/drawingml/2006/main" noGrp="1"/>
          </p:cNvSpPr>
          <p:nvPr/>
        </p:nvSpPr>
        <p:spPr>
          <a:xfrm xmlns:a="http://schemas.openxmlformats.org/drawingml/2006/main">
            <a:off x="4781550" y="2286000"/>
            <a:ext cx="659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E2852"/>
                </a:solidFill>
                <a:latin typeface="DejaVu Sans"/>
                <a:ea typeface="DejaVu Sans"/>
                <a:cs typeface="DejaVu Sans"/>
              </a:defRPr>
            </a:pPr>
            <a:r>
              <a:rPr sz="2100" b="0">
                <a:solidFill>
                  <a:srgbClr val="1E2852"/>
                </a:solidFill>
                <a:latin typeface="DejaVu Sans"/>
                <a:ea typeface="DejaVu Sans"/>
                <a:cs typeface="DejaVu Sans"/>
              </a:rPr>
              <a:t>Thực thi SQL và xử lý dữ liệu.</a:t>
            </a:r>
          </a:p>
        </p:txBody>
      </p:sp>
      <p:sp>
        <p:nvSpPr>
          <p:cNvPr id="14" name="text-37">
            <a:extLst xmlns:a="http://schemas.openxmlformats.org/drawingml/2006/main">
              <a:ext uri="{FF2B5EF4-FFF2-40B4-BE49-F238E27FC236}">
                <a16:creationId xmlns:a16="http://schemas.microsoft.com/office/drawing/2014/main" id="{E0293862-722E-4868-802B-9044CD460814}"/>
              </a:ext>
            </a:extLst>
          </p:cNvPr>
          <p:cNvSpPr>
            <a:spLocks xmlns:a="http://schemas.openxmlformats.org/drawingml/2006/main" noGrp="1"/>
          </p:cNvSpPr>
          <p:nvPr/>
        </p:nvSpPr>
        <p:spPr>
          <a:xfrm xmlns:a="http://schemas.openxmlformats.org/drawingml/2006/main">
            <a:off x="4781550" y="3114675"/>
            <a:ext cx="6591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02D6A"/>
                </a:solidFill>
                <a:latin typeface="DejaVu Sans"/>
                <a:ea typeface="DejaVu Sans"/>
                <a:cs typeface="DejaVu Sans"/>
              </a:defRPr>
            </a:pPr>
            <a:r>
              <a:rPr sz="2400" b="1">
                <a:solidFill>
                  <a:srgbClr val="202D6A"/>
                </a:solidFill>
                <a:latin typeface="DejaVu Sans"/>
                <a:ea typeface="DejaVu Sans"/>
                <a:cs typeface="DejaVu Sans"/>
              </a:rPr>
              <a:t>Metadata + ngữ nghĩa của bảng</a:t>
            </a:r>
          </a:p>
        </p:txBody>
      </p:sp>
      <p:sp>
        <p:nvSpPr>
          <p:cNvPr id="15" name="text-38">
            <a:extLst xmlns:a="http://schemas.openxmlformats.org/drawingml/2006/main">
              <a:ext uri="{FF2B5EF4-FFF2-40B4-BE49-F238E27FC236}">
                <a16:creationId xmlns:a16="http://schemas.microsoft.com/office/drawing/2014/main" id="{D5245D15-EFDB-4C58-A13F-EAB273D4EC9C}"/>
              </a:ext>
            </a:extLst>
          </p:cNvPr>
          <p:cNvSpPr>
            <a:spLocks xmlns:a="http://schemas.openxmlformats.org/drawingml/2006/main" noGrp="1"/>
          </p:cNvSpPr>
          <p:nvPr/>
        </p:nvSpPr>
        <p:spPr>
          <a:xfrm xmlns:a="http://schemas.openxmlformats.org/drawingml/2006/main">
            <a:off x="4781550" y="3581400"/>
            <a:ext cx="6591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E2852"/>
                </a:solidFill>
                <a:latin typeface="DejaVu Sans"/>
                <a:ea typeface="DejaVu Sans"/>
                <a:cs typeface="DejaVu Sans"/>
              </a:defRPr>
            </a:pPr>
            <a:r>
              <a:rPr sz="2025" b="0">
                <a:solidFill>
                  <a:srgbClr val="1E2852"/>
                </a:solidFill>
                <a:latin typeface="DejaVu Sans"/>
                <a:ea typeface="DejaVu Sans"/>
                <a:cs typeface="DejaVu Sans"/>
              </a:rPr>
              <a:t>Snapshot, giao dịch, schema và partition.</a:t>
            </a:r>
          </a:p>
        </p:txBody>
      </p:sp>
      <p:sp>
        <p:nvSpPr>
          <p:cNvPr id="16" name="text-39">
            <a:extLst xmlns:a="http://schemas.openxmlformats.org/drawingml/2006/main">
              <a:ext uri="{FF2B5EF4-FFF2-40B4-BE49-F238E27FC236}">
                <a16:creationId xmlns:a16="http://schemas.microsoft.com/office/drawing/2014/main" id="{E4D7F15B-491C-4488-8FEB-3F1C2D491E82}"/>
              </a:ext>
            </a:extLst>
          </p:cNvPr>
          <p:cNvSpPr>
            <a:spLocks xmlns:a="http://schemas.openxmlformats.org/drawingml/2006/main" noGrp="1"/>
          </p:cNvSpPr>
          <p:nvPr/>
        </p:nvSpPr>
        <p:spPr>
          <a:xfrm xmlns:a="http://schemas.openxmlformats.org/drawingml/2006/main">
            <a:off x="4781550" y="4448175"/>
            <a:ext cx="6648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D6A"/>
                </a:solidFill>
                <a:latin typeface="DejaVu Sans"/>
                <a:ea typeface="DejaVu Sans"/>
                <a:cs typeface="DejaVu Sans"/>
              </a:defRPr>
            </a:pPr>
            <a:r>
              <a:rPr sz="2175" b="1">
                <a:solidFill>
                  <a:srgbClr val="202D6A"/>
                </a:solidFill>
                <a:latin typeface="DejaVu Sans"/>
                <a:ea typeface="DejaVu Sans"/>
                <a:cs typeface="DejaVu Sans"/>
              </a:rPr>
              <a:t>S3 / HDFS / GCS · Parquet / ORC / Avro</a:t>
            </a:r>
          </a:p>
        </p:txBody>
      </p:sp>
      <p:sp>
        <p:nvSpPr>
          <p:cNvPr id="17" name="text-40">
            <a:extLst xmlns:a="http://schemas.openxmlformats.org/drawingml/2006/main">
              <a:ext uri="{FF2B5EF4-FFF2-40B4-BE49-F238E27FC236}">
                <a16:creationId xmlns:a16="http://schemas.microsoft.com/office/drawing/2014/main" id="{2C695385-86F3-4B07-9669-3524D6917C51}"/>
              </a:ext>
            </a:extLst>
          </p:cNvPr>
          <p:cNvSpPr>
            <a:spLocks xmlns:a="http://schemas.openxmlformats.org/drawingml/2006/main" noGrp="1"/>
          </p:cNvSpPr>
          <p:nvPr/>
        </p:nvSpPr>
        <p:spPr>
          <a:xfrm xmlns:a="http://schemas.openxmlformats.org/drawingml/2006/main">
            <a:off x="4781550" y="4943475"/>
            <a:ext cx="659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E2852"/>
                </a:solidFill>
                <a:latin typeface="DejaVu Sans"/>
                <a:ea typeface="DejaVu Sans"/>
                <a:cs typeface="DejaVu Sans"/>
              </a:defRPr>
            </a:pPr>
            <a:r>
              <a:rPr sz="2100" b="0">
                <a:solidFill>
                  <a:srgbClr val="1E2852"/>
                </a:solidFill>
                <a:latin typeface="DejaVu Sans"/>
                <a:ea typeface="DejaVu Sans"/>
                <a:cs typeface="DejaVu Sans"/>
              </a:rPr>
              <a:t>Lưu các file dữ liệu và metadata.</a:t>
            </a:r>
          </a:p>
        </p:txBody>
      </p:sp>
    </p:spTree>
    <p:extLst>
      <p:ext uri="{BB962C8B-B14F-4D97-AF65-F5344CB8AC3E}">
        <p14:creationId xmlns:p14="http://schemas.microsoft.com/office/powerpoint/2010/main" val="8451280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ext-41">
            <a:extLst xmlns:a="http://schemas.openxmlformats.org/drawingml/2006/main">
              <a:ext uri="{FF2B5EF4-FFF2-40B4-BE49-F238E27FC236}">
                <a16:creationId xmlns:a16="http://schemas.microsoft.com/office/drawing/2014/main" id="{0494D54A-AACA-4CF9-B913-3F78E45FAEAF}"/>
              </a:ext>
            </a:extLst>
          </p:cNvPr>
          <p:cNvSpPr>
            <a:spLocks xmlns:a="http://schemas.openxmlformats.org/drawingml/2006/main" noGrp="1"/>
          </p:cNvSpPr>
          <p:nvPr/>
        </p:nvSpPr>
        <p:spPr>
          <a:xfrm xmlns:a="http://schemas.openxmlformats.org/drawingml/2006/main">
            <a:off x="647700" y="4191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D6A"/>
                </a:solidFill>
                <a:latin typeface="DejaVu Sans"/>
                <a:ea typeface="DejaVu Sans"/>
                <a:cs typeface="DejaVu Sans"/>
              </a:defRPr>
            </a:pPr>
            <a:r>
              <a:rPr sz="3450" b="1">
                <a:solidFill>
                  <a:srgbClr val="202D6A"/>
                </a:solidFill>
                <a:latin typeface="DejaVu Sans"/>
                <a:ea typeface="DejaVu Sans"/>
                <a:cs typeface="DejaVu Sans"/>
              </a:rPr>
              <a:t>Từ catalog đến từng dòng dữ liệu</a:t>
            </a:r>
          </a:p>
        </p:txBody>
      </p:sp>
      <p:sp>
        <p:nvSpPr>
          <p:cNvPr id="2" name="line-42">
            <a:extLst xmlns:a="http://schemas.openxmlformats.org/drawingml/2006/main">
              <a:ext uri="{FF2B5EF4-FFF2-40B4-BE49-F238E27FC236}">
                <a16:creationId xmlns:a16="http://schemas.microsoft.com/office/drawing/2014/main" id="{E69B0791-4194-4593-89BD-08392982826F}"/>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3" name="text-43">
            <a:extLst xmlns:a="http://schemas.openxmlformats.org/drawingml/2006/main">
              <a:ext uri="{FF2B5EF4-FFF2-40B4-BE49-F238E27FC236}">
                <a16:creationId xmlns:a16="http://schemas.microsoft.com/office/drawing/2014/main" id="{C127E670-C3F0-44FA-B700-2E5EB4BF1F48}"/>
              </a:ext>
            </a:extLst>
          </p:cNvPr>
          <p:cNvSpPr>
            <a:spLocks xmlns:a="http://schemas.openxmlformats.org/drawingml/2006/main" noGrp="1"/>
          </p:cNvSpPr>
          <p:nvPr/>
        </p:nvSpPr>
        <p:spPr>
          <a:xfrm xmlns:a="http://schemas.openxmlformats.org/drawingml/2006/main">
            <a:off x="11144250"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82"/>
                </a:solidFill>
                <a:latin typeface="DejaVu Sans"/>
                <a:ea typeface="DejaVu Sans"/>
                <a:cs typeface="DejaVu Sans"/>
              </a:defRPr>
            </a:pPr>
            <a:r>
              <a:rPr sz="1350" b="0">
                <a:solidFill>
                  <a:srgbClr val="5A6482"/>
                </a:solidFill>
                <a:latin typeface="DejaVu Sans"/>
                <a:ea typeface="DejaVu Sans"/>
                <a:cs typeface="DejaVu Sans"/>
              </a:rPr>
              <a:t>04</a:t>
            </a:r>
          </a:p>
        </p:txBody>
      </p:sp>
      <p:sp>
        <p:nvSpPr>
          <p:cNvPr id="4" name="shape-44">
            <a:extLst xmlns:a="http://schemas.openxmlformats.org/drawingml/2006/main">
              <a:ext uri="{FF2B5EF4-FFF2-40B4-BE49-F238E27FC236}">
                <a16:creationId xmlns:a16="http://schemas.microsoft.com/office/drawing/2014/main" id="{56A46A81-26A1-47D3-B75F-833288B1ED19}"/>
              </a:ext>
            </a:extLst>
          </p:cNvPr>
          <p:cNvSpPr>
            <a:spLocks xmlns:a="http://schemas.openxmlformats.org/drawingml/2006/main" noGrp="1"/>
          </p:cNvSpPr>
          <p:nvPr/>
        </p:nvSpPr>
        <p:spPr>
          <a:xfrm xmlns:a="http://schemas.openxmlformats.org/drawingml/2006/main">
            <a:off x="647700" y="1714500"/>
            <a:ext cx="2695575" cy="666750"/>
          </a:xfrm>
          <a:prstGeom xmlns:a="http://schemas.openxmlformats.org/drawingml/2006/main" prst="rect">
            <a:avLst/>
          </a:prstGeom>
          <a:solidFill xmlns:a="http://schemas.openxmlformats.org/drawingml/2006/main">
            <a:srgbClr val="DCD4FA"/>
          </a:solidFill>
          <a:ln xmlns:a="http://schemas.openxmlformats.org/drawingml/2006/main" w="0">
            <a:noFill/>
          </a:ln>
        </p:spPr>
      </p:sp>
      <p:sp>
        <p:nvSpPr>
          <p:cNvPr id="5" name="text-45">
            <a:extLst xmlns:a="http://schemas.openxmlformats.org/drawingml/2006/main">
              <a:ext uri="{FF2B5EF4-FFF2-40B4-BE49-F238E27FC236}">
                <a16:creationId xmlns:a16="http://schemas.microsoft.com/office/drawing/2014/main" id="{D8F4591C-EB82-4EDF-89DF-49B03C8D74AD}"/>
              </a:ext>
            </a:extLst>
          </p:cNvPr>
          <p:cNvSpPr>
            <a:spLocks xmlns:a="http://schemas.openxmlformats.org/drawingml/2006/main" noGrp="1"/>
          </p:cNvSpPr>
          <p:nvPr/>
        </p:nvSpPr>
        <p:spPr>
          <a:xfrm xmlns:a="http://schemas.openxmlformats.org/drawingml/2006/main">
            <a:off x="819150" y="1847850"/>
            <a:ext cx="23526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E2852"/>
                </a:solidFill>
                <a:latin typeface="DejaVu Sans"/>
                <a:ea typeface="DejaVu Sans"/>
                <a:cs typeface="DejaVu Sans"/>
              </a:defRPr>
            </a:pPr>
            <a:r>
              <a:rPr sz="1875" b="1">
                <a:solidFill>
                  <a:srgbClr val="1E2852"/>
                </a:solidFill>
                <a:latin typeface="DejaVu Sans"/>
                <a:ea typeface="DejaVu Sans"/>
                <a:cs typeface="DejaVu Sans"/>
              </a:rPr>
              <a:t>Catalog</a:t>
            </a:r>
          </a:p>
        </p:txBody>
      </p:sp>
      <p:sp>
        <p:nvSpPr>
          <p:cNvPr id="6" name="shape-46">
            <a:extLst xmlns:a="http://schemas.openxmlformats.org/drawingml/2006/main">
              <a:ext uri="{FF2B5EF4-FFF2-40B4-BE49-F238E27FC236}">
                <a16:creationId xmlns:a16="http://schemas.microsoft.com/office/drawing/2014/main" id="{80EC563B-5F2F-4D32-BF3E-BCDD5FCE2F91}"/>
              </a:ext>
            </a:extLst>
          </p:cNvPr>
          <p:cNvSpPr>
            <a:spLocks xmlns:a="http://schemas.openxmlformats.org/drawingml/2006/main" noGrp="1"/>
          </p:cNvSpPr>
          <p:nvPr/>
        </p:nvSpPr>
        <p:spPr>
          <a:xfrm xmlns:a="http://schemas.openxmlformats.org/drawingml/2006/main">
            <a:off x="647700" y="2762250"/>
            <a:ext cx="2695575" cy="666750"/>
          </a:xfrm>
          <a:prstGeom xmlns:a="http://schemas.openxmlformats.org/drawingml/2006/main" prst="rect">
            <a:avLst/>
          </a:prstGeom>
          <a:solidFill xmlns:a="http://schemas.openxmlformats.org/drawingml/2006/main">
            <a:srgbClr val="DCD4FA"/>
          </a:solidFill>
          <a:ln xmlns:a="http://schemas.openxmlformats.org/drawingml/2006/main" w="0">
            <a:noFill/>
          </a:ln>
        </p:spPr>
      </p:sp>
      <p:sp>
        <p:nvSpPr>
          <p:cNvPr id="7" name="text-47">
            <a:extLst xmlns:a="http://schemas.openxmlformats.org/drawingml/2006/main">
              <a:ext uri="{FF2B5EF4-FFF2-40B4-BE49-F238E27FC236}">
                <a16:creationId xmlns:a16="http://schemas.microsoft.com/office/drawing/2014/main" id="{5252E737-63B2-4962-87A6-28A3BBA3CAD1}"/>
              </a:ext>
            </a:extLst>
          </p:cNvPr>
          <p:cNvSpPr>
            <a:spLocks xmlns:a="http://schemas.openxmlformats.org/drawingml/2006/main" noGrp="1"/>
          </p:cNvSpPr>
          <p:nvPr/>
        </p:nvSpPr>
        <p:spPr>
          <a:xfrm xmlns:a="http://schemas.openxmlformats.org/drawingml/2006/main">
            <a:off x="819150" y="2895600"/>
            <a:ext cx="23526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E2852"/>
                </a:solidFill>
                <a:latin typeface="DejaVu Sans"/>
                <a:ea typeface="DejaVu Sans"/>
                <a:cs typeface="DejaVu Sans"/>
              </a:defRPr>
            </a:pPr>
            <a:r>
              <a:rPr sz="1875" b="1">
                <a:solidFill>
                  <a:srgbClr val="1E2852"/>
                </a:solidFill>
                <a:latin typeface="DejaVu Sans"/>
                <a:ea typeface="DejaVu Sans"/>
                <a:cs typeface="DejaVu Sans"/>
              </a:rPr>
              <a:t>Metadata JSON</a:t>
            </a:r>
          </a:p>
        </p:txBody>
      </p:sp>
      <p:sp>
        <p:nvSpPr>
          <p:cNvPr id="8" name="shape-48">
            <a:extLst xmlns:a="http://schemas.openxmlformats.org/drawingml/2006/main">
              <a:ext uri="{FF2B5EF4-FFF2-40B4-BE49-F238E27FC236}">
                <a16:creationId xmlns:a16="http://schemas.microsoft.com/office/drawing/2014/main" id="{87DF9648-6BEE-4AE5-9E06-7E1B9830CB75}"/>
              </a:ext>
            </a:extLst>
          </p:cNvPr>
          <p:cNvSpPr>
            <a:spLocks xmlns:a="http://schemas.openxmlformats.org/drawingml/2006/main" noGrp="1"/>
          </p:cNvSpPr>
          <p:nvPr/>
        </p:nvSpPr>
        <p:spPr>
          <a:xfrm xmlns:a="http://schemas.openxmlformats.org/drawingml/2006/main">
            <a:off x="647700" y="3810000"/>
            <a:ext cx="2695575" cy="666750"/>
          </a:xfrm>
          <a:prstGeom xmlns:a="http://schemas.openxmlformats.org/drawingml/2006/main" prst="rect">
            <a:avLst/>
          </a:prstGeom>
          <a:solidFill xmlns:a="http://schemas.openxmlformats.org/drawingml/2006/main">
            <a:srgbClr val="DCD4FA"/>
          </a:solidFill>
          <a:ln xmlns:a="http://schemas.openxmlformats.org/drawingml/2006/main" w="0">
            <a:noFill/>
          </a:ln>
        </p:spPr>
      </p:sp>
      <p:sp>
        <p:nvSpPr>
          <p:cNvPr id="9" name="text-49">
            <a:extLst xmlns:a="http://schemas.openxmlformats.org/drawingml/2006/main">
              <a:ext uri="{FF2B5EF4-FFF2-40B4-BE49-F238E27FC236}">
                <a16:creationId xmlns:a16="http://schemas.microsoft.com/office/drawing/2014/main" id="{780B45B7-CAD5-431F-BCE8-C58FC8C1025D}"/>
              </a:ext>
            </a:extLst>
          </p:cNvPr>
          <p:cNvSpPr>
            <a:spLocks xmlns:a="http://schemas.openxmlformats.org/drawingml/2006/main" noGrp="1"/>
          </p:cNvSpPr>
          <p:nvPr/>
        </p:nvSpPr>
        <p:spPr>
          <a:xfrm xmlns:a="http://schemas.openxmlformats.org/drawingml/2006/main">
            <a:off x="819150" y="3943350"/>
            <a:ext cx="23526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E2852"/>
                </a:solidFill>
                <a:latin typeface="DejaVu Sans"/>
                <a:ea typeface="DejaVu Sans"/>
                <a:cs typeface="DejaVu Sans"/>
              </a:defRPr>
            </a:pPr>
            <a:r>
              <a:rPr sz="1875" b="1">
                <a:solidFill>
                  <a:srgbClr val="1E2852"/>
                </a:solidFill>
                <a:latin typeface="DejaVu Sans"/>
                <a:ea typeface="DejaVu Sans"/>
                <a:cs typeface="DejaVu Sans"/>
              </a:rPr>
              <a:t>Manifest list</a:t>
            </a:r>
          </a:p>
        </p:txBody>
      </p:sp>
      <p:sp>
        <p:nvSpPr>
          <p:cNvPr id="10" name="shape-50">
            <a:extLst xmlns:a="http://schemas.openxmlformats.org/drawingml/2006/main">
              <a:ext uri="{FF2B5EF4-FFF2-40B4-BE49-F238E27FC236}">
                <a16:creationId xmlns:a16="http://schemas.microsoft.com/office/drawing/2014/main" id="{A9F7D920-FABD-4469-A3F0-9B16702CF91D}"/>
              </a:ext>
            </a:extLst>
          </p:cNvPr>
          <p:cNvSpPr>
            <a:spLocks xmlns:a="http://schemas.openxmlformats.org/drawingml/2006/main" noGrp="1"/>
          </p:cNvSpPr>
          <p:nvPr/>
        </p:nvSpPr>
        <p:spPr>
          <a:xfrm xmlns:a="http://schemas.openxmlformats.org/drawingml/2006/main">
            <a:off x="5105400" y="3810000"/>
            <a:ext cx="2428875" cy="666750"/>
          </a:xfrm>
          <a:prstGeom xmlns:a="http://schemas.openxmlformats.org/drawingml/2006/main" prst="rect">
            <a:avLst/>
          </a:prstGeom>
          <a:solidFill xmlns:a="http://schemas.openxmlformats.org/drawingml/2006/main">
            <a:srgbClr val="EDF3FF"/>
          </a:solidFill>
          <a:ln xmlns:a="http://schemas.openxmlformats.org/drawingml/2006/main" w="0">
            <a:noFill/>
          </a:ln>
        </p:spPr>
      </p:sp>
      <p:sp>
        <p:nvSpPr>
          <p:cNvPr id="11" name="text-51">
            <a:extLst xmlns:a="http://schemas.openxmlformats.org/drawingml/2006/main">
              <a:ext uri="{FF2B5EF4-FFF2-40B4-BE49-F238E27FC236}">
                <a16:creationId xmlns:a16="http://schemas.microsoft.com/office/drawing/2014/main" id="{9CE769A2-A710-4652-88C7-1357AEFA33E3}"/>
              </a:ext>
            </a:extLst>
          </p:cNvPr>
          <p:cNvSpPr>
            <a:spLocks xmlns:a="http://schemas.openxmlformats.org/drawingml/2006/main" noGrp="1"/>
          </p:cNvSpPr>
          <p:nvPr/>
        </p:nvSpPr>
        <p:spPr>
          <a:xfrm xmlns:a="http://schemas.openxmlformats.org/drawingml/2006/main">
            <a:off x="5276850" y="394335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E2852"/>
                </a:solidFill>
                <a:latin typeface="DejaVu Sans"/>
                <a:ea typeface="DejaVu Sans"/>
                <a:cs typeface="DejaVu Sans"/>
              </a:defRPr>
            </a:pPr>
            <a:r>
              <a:rPr sz="1875" b="1">
                <a:solidFill>
                  <a:srgbClr val="1E2852"/>
                </a:solidFill>
                <a:latin typeface="DejaVu Sans"/>
                <a:ea typeface="DejaVu Sans"/>
                <a:cs typeface="DejaVu Sans"/>
              </a:rPr>
              <a:t>Manifest</a:t>
            </a:r>
          </a:p>
        </p:txBody>
      </p:sp>
      <p:sp>
        <p:nvSpPr>
          <p:cNvPr id="12" name="shape-52">
            <a:extLst xmlns:a="http://schemas.openxmlformats.org/drawingml/2006/main">
              <a:ext uri="{FF2B5EF4-FFF2-40B4-BE49-F238E27FC236}">
                <a16:creationId xmlns:a16="http://schemas.microsoft.com/office/drawing/2014/main" id="{62460EA5-98DB-40B9-85AF-078E830E1A97}"/>
              </a:ext>
            </a:extLst>
          </p:cNvPr>
          <p:cNvSpPr>
            <a:spLocks xmlns:a="http://schemas.openxmlformats.org/drawingml/2006/main" noGrp="1"/>
          </p:cNvSpPr>
          <p:nvPr/>
        </p:nvSpPr>
        <p:spPr>
          <a:xfrm xmlns:a="http://schemas.openxmlformats.org/drawingml/2006/main">
            <a:off x="8915400" y="3028950"/>
            <a:ext cx="2628900" cy="666750"/>
          </a:xfrm>
          <a:prstGeom xmlns:a="http://schemas.openxmlformats.org/drawingml/2006/main" prst="rect">
            <a:avLst/>
          </a:prstGeom>
          <a:solidFill xmlns:a="http://schemas.openxmlformats.org/drawingml/2006/main">
            <a:srgbClr val="EDF3FF"/>
          </a:solidFill>
          <a:ln xmlns:a="http://schemas.openxmlformats.org/drawingml/2006/main" w="0">
            <a:noFill/>
          </a:ln>
        </p:spPr>
      </p:sp>
      <p:sp>
        <p:nvSpPr>
          <p:cNvPr id="13" name="text-53">
            <a:extLst xmlns:a="http://schemas.openxmlformats.org/drawingml/2006/main">
              <a:ext uri="{FF2B5EF4-FFF2-40B4-BE49-F238E27FC236}">
                <a16:creationId xmlns:a16="http://schemas.microsoft.com/office/drawing/2014/main" id="{CD91227C-148D-4835-A124-FB6FD5FD805D}"/>
              </a:ext>
            </a:extLst>
          </p:cNvPr>
          <p:cNvSpPr>
            <a:spLocks xmlns:a="http://schemas.openxmlformats.org/drawingml/2006/main" noGrp="1"/>
          </p:cNvSpPr>
          <p:nvPr/>
        </p:nvSpPr>
        <p:spPr>
          <a:xfrm xmlns:a="http://schemas.openxmlformats.org/drawingml/2006/main">
            <a:off x="9086850" y="3162300"/>
            <a:ext cx="228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E2852"/>
                </a:solidFill>
                <a:latin typeface="DejaVu Sans"/>
                <a:ea typeface="DejaVu Sans"/>
                <a:cs typeface="DejaVu Sans"/>
              </a:defRPr>
            </a:pPr>
            <a:r>
              <a:rPr sz="1875" b="1">
                <a:solidFill>
                  <a:srgbClr val="1E2852"/>
                </a:solidFill>
                <a:latin typeface="DejaVu Sans"/>
                <a:ea typeface="DejaVu Sans"/>
                <a:cs typeface="DejaVu Sans"/>
              </a:rPr>
              <a:t>Data files</a:t>
            </a:r>
          </a:p>
        </p:txBody>
      </p:sp>
      <p:sp>
        <p:nvSpPr>
          <p:cNvPr id="14" name="shape-54">
            <a:extLst xmlns:a="http://schemas.openxmlformats.org/drawingml/2006/main">
              <a:ext uri="{FF2B5EF4-FFF2-40B4-BE49-F238E27FC236}">
                <a16:creationId xmlns:a16="http://schemas.microsoft.com/office/drawing/2014/main" id="{1F3E0A9A-84B4-4611-9692-CF0AB39A5100}"/>
              </a:ext>
            </a:extLst>
          </p:cNvPr>
          <p:cNvSpPr>
            <a:spLocks xmlns:a="http://schemas.openxmlformats.org/drawingml/2006/main" noGrp="1"/>
          </p:cNvSpPr>
          <p:nvPr/>
        </p:nvSpPr>
        <p:spPr>
          <a:xfrm xmlns:a="http://schemas.openxmlformats.org/drawingml/2006/main">
            <a:off x="8915400" y="4600575"/>
            <a:ext cx="2628900" cy="666750"/>
          </a:xfrm>
          <a:prstGeom xmlns:a="http://schemas.openxmlformats.org/drawingml/2006/main" prst="rect">
            <a:avLst/>
          </a:prstGeom>
          <a:solidFill xmlns:a="http://schemas.openxmlformats.org/drawingml/2006/main">
            <a:srgbClr val="F3F0FF"/>
          </a:solidFill>
          <a:ln xmlns:a="http://schemas.openxmlformats.org/drawingml/2006/main" w="0">
            <a:noFill/>
          </a:ln>
        </p:spPr>
      </p:sp>
      <p:sp>
        <p:nvSpPr>
          <p:cNvPr id="15" name="text-55">
            <a:extLst xmlns:a="http://schemas.openxmlformats.org/drawingml/2006/main">
              <a:ext uri="{FF2B5EF4-FFF2-40B4-BE49-F238E27FC236}">
                <a16:creationId xmlns:a16="http://schemas.microsoft.com/office/drawing/2014/main" id="{6047C9FF-FAC1-4539-8162-6CC4768A1C87}"/>
              </a:ext>
            </a:extLst>
          </p:cNvPr>
          <p:cNvSpPr>
            <a:spLocks xmlns:a="http://schemas.openxmlformats.org/drawingml/2006/main" noGrp="1"/>
          </p:cNvSpPr>
          <p:nvPr/>
        </p:nvSpPr>
        <p:spPr>
          <a:xfrm xmlns:a="http://schemas.openxmlformats.org/drawingml/2006/main">
            <a:off x="9086850" y="4733925"/>
            <a:ext cx="228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E2852"/>
                </a:solidFill>
                <a:latin typeface="DejaVu Sans"/>
                <a:ea typeface="DejaVu Sans"/>
                <a:cs typeface="DejaVu Sans"/>
              </a:defRPr>
            </a:pPr>
            <a:r>
              <a:rPr sz="1875" b="1">
                <a:solidFill>
                  <a:srgbClr val="1E2852"/>
                </a:solidFill>
                <a:latin typeface="DejaVu Sans"/>
                <a:ea typeface="DejaVu Sans"/>
                <a:cs typeface="DejaVu Sans"/>
              </a:rPr>
              <a:t>Delete files</a:t>
            </a:r>
          </a:p>
        </p:txBody>
      </p:sp>
      <p:cxnSp>
        <p:nvCxnSpPr>
          <p:cNvPr id="42" name=""/>
          <p:cNvCxnSpPr>
            <a:stCxn xmlns:a="http://schemas.openxmlformats.org/drawingml/2006/main" id="4" idx="2"/>
            <a:endCxn xmlns:a="http://schemas.openxmlformats.org/drawingml/2006/main" id="6" idx="0"/>
          </p:cNvCxnSpPr>
          <p:nvPr/>
        </p:nvCxnSpPr>
        <p:spPr>
          <a:xfrm xmlns:a="http://schemas.openxmlformats.org/drawingml/2006/main">
            <a:off x="1995488" y="2381250"/>
            <a:ext cx="0" cy="381000"/>
          </a:xfrm>
          <a:prstGeom xmlns:a="http://schemas.openxmlformats.org/drawingml/2006/main" prst="straightConnector1">
            <a:avLst/>
          </a:prstGeom>
          <a:ln xmlns:a="http://schemas.openxmlformats.org/drawingml/2006/main" w="23813">
            <a:solidFill>
              <a:srgbClr val="3858D6"/>
            </a:solidFill>
            <a:prstDash val="solid"/>
            <a:tailEnd type="triangle" w="sm" len="sm"/>
          </a:ln>
        </p:spPr>
      </p:cxnSp>
      <p:cxnSp>
        <p:nvCxnSpPr>
          <p:cNvPr id="43" name=""/>
          <p:cNvCxnSpPr>
            <a:stCxn xmlns:a="http://schemas.openxmlformats.org/drawingml/2006/main" id="6" idx="2"/>
            <a:endCxn xmlns:a="http://schemas.openxmlformats.org/drawingml/2006/main" id="8" idx="0"/>
          </p:cNvCxnSpPr>
          <p:nvPr/>
        </p:nvCxnSpPr>
        <p:spPr>
          <a:xfrm xmlns:a="http://schemas.openxmlformats.org/drawingml/2006/main">
            <a:off x="1995488" y="3429000"/>
            <a:ext cx="0" cy="381000"/>
          </a:xfrm>
          <a:prstGeom xmlns:a="http://schemas.openxmlformats.org/drawingml/2006/main" prst="straightConnector1">
            <a:avLst/>
          </a:prstGeom>
          <a:ln xmlns:a="http://schemas.openxmlformats.org/drawingml/2006/main" w="23813">
            <a:solidFill>
              <a:srgbClr val="3858D6"/>
            </a:solidFill>
            <a:prstDash val="solid"/>
            <a:tailEnd type="triangle" w="sm" len="sm"/>
          </a:ln>
        </p:spPr>
      </p:cxnSp>
      <p:cxnSp>
        <p:nvCxnSpPr>
          <p:cNvPr id="44" name=""/>
          <p:cNvCxnSpPr>
            <a:stCxn xmlns:a="http://schemas.openxmlformats.org/drawingml/2006/main" id="8" idx="3"/>
            <a:endCxn xmlns:a="http://schemas.openxmlformats.org/drawingml/2006/main" id="10" idx="1"/>
          </p:cNvCxnSpPr>
          <p:nvPr/>
        </p:nvCxnSpPr>
        <p:spPr>
          <a:xfrm xmlns:a="http://schemas.openxmlformats.org/drawingml/2006/main">
            <a:off x="3343275" y="4143375"/>
            <a:ext cx="1762125" cy="0"/>
          </a:xfrm>
          <a:prstGeom xmlns:a="http://schemas.openxmlformats.org/drawingml/2006/main" prst="straightConnector1">
            <a:avLst/>
          </a:prstGeom>
          <a:ln xmlns:a="http://schemas.openxmlformats.org/drawingml/2006/main" w="23813">
            <a:solidFill>
              <a:srgbClr val="3858D6"/>
            </a:solidFill>
            <a:prstDash val="solid"/>
            <a:tailEnd type="triangle" w="sm" len="sm"/>
          </a:ln>
        </p:spPr>
      </p:cxnSp>
      <p:cxnSp>
        <p:nvCxnSpPr>
          <p:cNvPr id="45" name=""/>
          <p:cNvCxnSpPr>
            <a:stCxn xmlns:a="http://schemas.openxmlformats.org/drawingml/2006/main" id="10" idx="3"/>
            <a:endCxn xmlns:a="http://schemas.openxmlformats.org/drawingml/2006/main" id="12" idx="1"/>
          </p:cNvCxnSpPr>
          <p:nvPr/>
        </p:nvCxnSpPr>
        <p:spPr>
          <a:xfrm xmlns:a="http://schemas.openxmlformats.org/drawingml/2006/main" flipV="1">
            <a:off x="7534275" y="3362325"/>
            <a:ext cx="1381125" cy="781050"/>
          </a:xfrm>
          <a:prstGeom xmlns:a="http://schemas.openxmlformats.org/drawingml/2006/main" prst="bentConnector3">
            <a:avLst>
              <a:gd name="adj1" fmla="val 50000"/>
            </a:avLst>
          </a:prstGeom>
          <a:ln xmlns:a="http://schemas.openxmlformats.org/drawingml/2006/main" w="23813">
            <a:solidFill>
              <a:srgbClr val="3858D6"/>
            </a:solidFill>
            <a:prstDash val="solid"/>
            <a:tailEnd type="triangle" w="sm" len="sm"/>
          </a:ln>
        </p:spPr>
      </p:cxnSp>
      <p:cxnSp>
        <p:nvCxnSpPr>
          <p:cNvPr id="46" name=""/>
          <p:cNvCxnSpPr>
            <a:stCxn xmlns:a="http://schemas.openxmlformats.org/drawingml/2006/main" id="10" idx="3"/>
            <a:endCxn xmlns:a="http://schemas.openxmlformats.org/drawingml/2006/main" id="14" idx="1"/>
          </p:cNvCxnSpPr>
          <p:nvPr/>
        </p:nvCxnSpPr>
        <p:spPr>
          <a:xfrm xmlns:a="http://schemas.openxmlformats.org/drawingml/2006/main">
            <a:off x="7534275" y="4143375"/>
            <a:ext cx="1381125" cy="790575"/>
          </a:xfrm>
          <a:prstGeom xmlns:a="http://schemas.openxmlformats.org/drawingml/2006/main" prst="bentConnector3">
            <a:avLst>
              <a:gd name="adj1" fmla="val 50000"/>
            </a:avLst>
          </a:prstGeom>
          <a:ln xmlns:a="http://schemas.openxmlformats.org/drawingml/2006/main" w="23813">
            <a:solidFill>
              <a:srgbClr val="3858D6"/>
            </a:solidFill>
            <a:prstDash val="solid"/>
            <a:tailEnd type="triangle" w="sm" len="sm"/>
          </a:ln>
        </p:spPr>
      </p:cxnSp>
      <p:sp>
        <p:nvSpPr>
          <p:cNvPr id="21" name="text-56">
            <a:extLst xmlns:a="http://schemas.openxmlformats.org/drawingml/2006/main">
              <a:ext uri="{FF2B5EF4-FFF2-40B4-BE49-F238E27FC236}">
                <a16:creationId xmlns:a16="http://schemas.microsoft.com/office/drawing/2014/main" id="{73579AAD-2EDE-401D-A978-033862F23B28}"/>
              </a:ext>
            </a:extLst>
          </p:cNvPr>
          <p:cNvSpPr>
            <a:spLocks xmlns:a="http://schemas.openxmlformats.org/drawingml/2006/main" noGrp="1"/>
          </p:cNvSpPr>
          <p:nvPr/>
        </p:nvSpPr>
        <p:spPr>
          <a:xfrm xmlns:a="http://schemas.openxmlformats.org/drawingml/2006/main">
            <a:off x="3762375" y="1857375"/>
            <a:ext cx="7181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E2852"/>
                </a:solidFill>
                <a:latin typeface="DejaVu Sans"/>
                <a:ea typeface="DejaVu Sans"/>
                <a:cs typeface="DejaVu Sans"/>
              </a:defRPr>
            </a:pPr>
            <a:r>
              <a:rPr sz="2025" b="0">
                <a:solidFill>
                  <a:srgbClr val="1E2852"/>
                </a:solidFill>
                <a:latin typeface="DejaVu Sans"/>
                <a:ea typeface="DejaVu Sans"/>
                <a:cs typeface="DejaVu Sans"/>
              </a:rPr>
              <a:t>Con trỏ đến metadata hiện hành</a:t>
            </a:r>
          </a:p>
        </p:txBody>
      </p:sp>
      <p:sp>
        <p:nvSpPr>
          <p:cNvPr id="22" name="text-57">
            <a:extLst xmlns:a="http://schemas.openxmlformats.org/drawingml/2006/main">
              <a:ext uri="{FF2B5EF4-FFF2-40B4-BE49-F238E27FC236}">
                <a16:creationId xmlns:a16="http://schemas.microsoft.com/office/drawing/2014/main" id="{FD7CE6A4-6598-4898-A28A-C06B0F19E726}"/>
              </a:ext>
            </a:extLst>
          </p:cNvPr>
          <p:cNvSpPr>
            <a:spLocks xmlns:a="http://schemas.openxmlformats.org/drawingml/2006/main" noGrp="1"/>
          </p:cNvSpPr>
          <p:nvPr/>
        </p:nvSpPr>
        <p:spPr>
          <a:xfrm xmlns:a="http://schemas.openxmlformats.org/drawingml/2006/main">
            <a:off x="3762375" y="2752725"/>
            <a:ext cx="504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E2852"/>
                </a:solidFill>
                <a:latin typeface="DejaVu Sans"/>
                <a:ea typeface="DejaVu Sans"/>
                <a:cs typeface="DejaVu Sans"/>
              </a:defRPr>
            </a:pPr>
            <a:r>
              <a:rPr sz="2025" b="0">
                <a:solidFill>
                  <a:srgbClr val="1E2852"/>
                </a:solidFill>
                <a:latin typeface="DejaVu Sans"/>
                <a:ea typeface="DejaVu Sans"/>
                <a:cs typeface="DejaVu Sans"/>
              </a:rPr>
              <a:t>Schema, partition spec, snapshots</a:t>
            </a:r>
          </a:p>
          <a:p xmlns:a="http://schemas.openxmlformats.org/drawingml/2006/main">
            <a:pPr>
              <a:defRPr sz="2025" b="0">
                <a:solidFill>
                  <a:srgbClr val="1E2852"/>
                </a:solidFill>
                <a:latin typeface="DejaVu Sans"/>
                <a:ea typeface="DejaVu Sans"/>
                <a:cs typeface="DejaVu Sans"/>
              </a:defRPr>
            </a:pPr>
            <a:r>
              <a:rPr sz="2025" b="0">
                <a:solidFill>
                  <a:srgbClr val="1E2852"/>
                </a:solidFill>
                <a:latin typeface="DejaVu Sans"/>
                <a:ea typeface="DejaVu Sans"/>
                <a:cs typeface="DejaVu Sans"/>
              </a:rPr>
              <a:t>Snapshot trỏ đến manifest list</a:t>
            </a:r>
          </a:p>
        </p:txBody>
      </p:sp>
      <p:sp>
        <p:nvSpPr>
          <p:cNvPr id="23" name="text-58">
            <a:extLst xmlns:a="http://schemas.openxmlformats.org/drawingml/2006/main">
              <a:ext uri="{FF2B5EF4-FFF2-40B4-BE49-F238E27FC236}">
                <a16:creationId xmlns:a16="http://schemas.microsoft.com/office/drawing/2014/main" id="{DFC4C810-871F-4034-B663-E34286D2D237}"/>
              </a:ext>
            </a:extLst>
          </p:cNvPr>
          <p:cNvSpPr>
            <a:spLocks xmlns:a="http://schemas.openxmlformats.org/drawingml/2006/main" noGrp="1"/>
          </p:cNvSpPr>
          <p:nvPr/>
        </p:nvSpPr>
        <p:spPr>
          <a:xfrm xmlns:a="http://schemas.openxmlformats.org/drawingml/2006/main">
            <a:off x="647700" y="464820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482"/>
                </a:solidFill>
                <a:latin typeface="DejaVu Sans"/>
                <a:ea typeface="DejaVu Sans"/>
                <a:cs typeface="DejaVu Sans"/>
              </a:defRPr>
            </a:pPr>
            <a:r>
              <a:rPr sz="1875" b="0">
                <a:solidFill>
                  <a:srgbClr val="5A6482"/>
                </a:solidFill>
                <a:latin typeface="DejaVu Sans"/>
                <a:ea typeface="DejaVu Sans"/>
                <a:cs typeface="DejaVu Sans"/>
              </a:rPr>
              <a:t>Danh sách manifest</a:t>
            </a:r>
          </a:p>
          <a:p xmlns:a="http://schemas.openxmlformats.org/drawingml/2006/main">
            <a:pPr>
              <a:defRPr sz="1875" b="0">
                <a:solidFill>
                  <a:srgbClr val="5A6482"/>
                </a:solidFill>
                <a:latin typeface="DejaVu Sans"/>
                <a:ea typeface="DejaVu Sans"/>
                <a:cs typeface="DejaVu Sans"/>
              </a:defRPr>
            </a:pPr>
            <a:r>
              <a:rPr sz="1875" b="0">
                <a:solidFill>
                  <a:srgbClr val="5A6482"/>
                </a:solidFill>
                <a:latin typeface="DejaVu Sans"/>
                <a:ea typeface="DejaVu Sans"/>
                <a:cs typeface="DejaVu Sans"/>
              </a:rPr>
              <a:t>+ tóm tắt partition</a:t>
            </a:r>
          </a:p>
        </p:txBody>
      </p:sp>
      <p:sp>
        <p:nvSpPr>
          <p:cNvPr id="24" name="text-59">
            <a:extLst xmlns:a="http://schemas.openxmlformats.org/drawingml/2006/main">
              <a:ext uri="{FF2B5EF4-FFF2-40B4-BE49-F238E27FC236}">
                <a16:creationId xmlns:a16="http://schemas.microsoft.com/office/drawing/2014/main" id="{504FD1A0-7D83-4A50-BFE4-13EB04181357}"/>
              </a:ext>
            </a:extLst>
          </p:cNvPr>
          <p:cNvSpPr>
            <a:spLocks xmlns:a="http://schemas.openxmlformats.org/drawingml/2006/main" noGrp="1"/>
          </p:cNvSpPr>
          <p:nvPr/>
        </p:nvSpPr>
        <p:spPr>
          <a:xfrm xmlns:a="http://schemas.openxmlformats.org/drawingml/2006/main">
            <a:off x="4914900" y="4714875"/>
            <a:ext cx="3124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482"/>
                </a:solidFill>
                <a:latin typeface="DejaVu Sans"/>
                <a:ea typeface="DejaVu Sans"/>
                <a:cs typeface="DejaVu Sans"/>
              </a:defRPr>
            </a:pPr>
            <a:r>
              <a:rPr sz="1875" b="0">
                <a:solidFill>
                  <a:srgbClr val="5A6482"/>
                </a:solidFill>
                <a:latin typeface="DejaVu Sans"/>
                <a:ea typeface="DejaVu Sans"/>
                <a:cs typeface="DejaVu Sans"/>
              </a:rPr>
              <a:t>Danh sách file</a:t>
            </a:r>
          </a:p>
          <a:p xmlns:a="http://schemas.openxmlformats.org/drawingml/2006/main">
            <a:pPr>
              <a:defRPr sz="1875" b="0">
                <a:solidFill>
                  <a:srgbClr val="5A6482"/>
                </a:solidFill>
                <a:latin typeface="DejaVu Sans"/>
                <a:ea typeface="DejaVu Sans"/>
                <a:cs typeface="DejaVu Sans"/>
              </a:defRPr>
            </a:pPr>
            <a:r>
              <a:rPr sz="1875" b="0">
                <a:solidFill>
                  <a:srgbClr val="5A6482"/>
                </a:solidFill>
                <a:latin typeface="DejaVu Sans"/>
                <a:ea typeface="DejaVu Sans"/>
                <a:cs typeface="DejaVu Sans"/>
              </a:rPr>
              <a:t>+ thống kê từng file</a:t>
            </a:r>
          </a:p>
        </p:txBody>
      </p:sp>
      <p:sp>
        <p:nvSpPr>
          <p:cNvPr id="25" name="shape-60">
            <a:extLst xmlns:a="http://schemas.openxmlformats.org/drawingml/2006/main">
              <a:ext uri="{FF2B5EF4-FFF2-40B4-BE49-F238E27FC236}">
                <a16:creationId xmlns:a16="http://schemas.microsoft.com/office/drawing/2014/main" id="{742CA7E4-C7AD-49BD-B885-796E45D9B280}"/>
              </a:ext>
            </a:extLst>
          </p:cNvPr>
          <p:cNvSpPr>
            <a:spLocks xmlns:a="http://schemas.openxmlformats.org/drawingml/2006/main" noGrp="1"/>
          </p:cNvSpPr>
          <p:nvPr/>
        </p:nvSpPr>
        <p:spPr>
          <a:xfrm xmlns:a="http://schemas.openxmlformats.org/drawingml/2006/main">
            <a:off x="647700" y="5724525"/>
            <a:ext cx="10896600" cy="552450"/>
          </a:xfrm>
          <a:prstGeom xmlns:a="http://schemas.openxmlformats.org/drawingml/2006/main" prst="rect">
            <a:avLst/>
          </a:prstGeom>
          <a:solidFill xmlns:a="http://schemas.openxmlformats.org/drawingml/2006/main">
            <a:srgbClr val="F3F0FF"/>
          </a:solidFill>
          <a:ln xmlns:a="http://schemas.openxmlformats.org/drawingml/2006/main" w="0">
            <a:noFill/>
          </a:ln>
        </p:spPr>
      </p:sp>
      <p:sp>
        <p:nvSpPr>
          <p:cNvPr id="26" name="text-61">
            <a:extLst xmlns:a="http://schemas.openxmlformats.org/drawingml/2006/main">
              <a:ext uri="{FF2B5EF4-FFF2-40B4-BE49-F238E27FC236}">
                <a16:creationId xmlns:a16="http://schemas.microsoft.com/office/drawing/2014/main" id="{21228ECE-8740-4C01-B339-2E5880BF6171}"/>
              </a:ext>
            </a:extLst>
          </p:cNvPr>
          <p:cNvSpPr>
            <a:spLocks xmlns:a="http://schemas.openxmlformats.org/drawingml/2006/main" noGrp="1"/>
          </p:cNvSpPr>
          <p:nvPr/>
        </p:nvSpPr>
        <p:spPr>
          <a:xfrm xmlns:a="http://schemas.openxmlformats.org/drawingml/2006/main">
            <a:off x="819150" y="583882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6A"/>
                </a:solidFill>
                <a:latin typeface="DejaVu Sans"/>
                <a:ea typeface="DejaVu Sans"/>
                <a:cs typeface="DejaVu Sans"/>
              </a:defRPr>
            </a:pPr>
            <a:r>
              <a:rPr sz="1875" b="1">
                <a:solidFill>
                  <a:srgbClr val="202D6A"/>
                </a:solidFill>
                <a:latin typeface="DejaVu Sans"/>
                <a:ea typeface="DejaVu Sans"/>
                <a:cs typeface="DejaVu Sans"/>
              </a:rPr>
              <a:t>Manifest dữ liệu và manifest delete là hai loại riêng.</a:t>
            </a:r>
          </a:p>
        </p:txBody>
      </p:sp>
    </p:spTree>
    <p:extLst>
      <p:ext uri="{BB962C8B-B14F-4D97-AF65-F5344CB8AC3E}">
        <p14:creationId xmlns:p14="http://schemas.microsoft.com/office/powerpoint/2010/main" val="4037572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62">
            <a:extLst xmlns:a="http://schemas.openxmlformats.org/drawingml/2006/main">
              <a:ext uri="{FF2B5EF4-FFF2-40B4-BE49-F238E27FC236}">
                <a16:creationId xmlns:a16="http://schemas.microsoft.com/office/drawing/2014/main" id="{390B35E9-434E-4DBA-97AB-B679FE90BAA4}"/>
              </a:ext>
            </a:extLst>
          </p:cNvPr>
          <p:cNvSpPr>
            <a:spLocks xmlns:a="http://schemas.openxmlformats.org/drawingml/2006/main" noGrp="1"/>
          </p:cNvSpPr>
          <p:nvPr/>
        </p:nvSpPr>
        <p:spPr>
          <a:xfrm xmlns:a="http://schemas.openxmlformats.org/drawingml/2006/main">
            <a:off x="647700" y="4191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D6A"/>
                </a:solidFill>
                <a:latin typeface="DejaVu Sans"/>
                <a:ea typeface="DejaVu Sans"/>
                <a:cs typeface="DejaVu Sans"/>
              </a:defRPr>
            </a:pPr>
            <a:r>
              <a:rPr sz="3450" b="1">
                <a:solidFill>
                  <a:srgbClr val="202D6A"/>
                </a:solidFill>
                <a:latin typeface="DejaVu Sans"/>
                <a:ea typeface="DejaVu Sans"/>
                <a:cs typeface="DejaVu Sans"/>
              </a:rPr>
              <a:t>Catalog là “điểm công bố” của bảng</a:t>
            </a:r>
          </a:p>
        </p:txBody>
      </p:sp>
      <p:sp>
        <p:nvSpPr>
          <p:cNvPr id="2" name="line-63">
            <a:extLst xmlns:a="http://schemas.openxmlformats.org/drawingml/2006/main">
              <a:ext uri="{FF2B5EF4-FFF2-40B4-BE49-F238E27FC236}">
                <a16:creationId xmlns:a16="http://schemas.microsoft.com/office/drawing/2014/main" id="{EDDAD974-E678-42FF-887F-0CBD76B698F6}"/>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3" name="text-64">
            <a:extLst xmlns:a="http://schemas.openxmlformats.org/drawingml/2006/main">
              <a:ext uri="{FF2B5EF4-FFF2-40B4-BE49-F238E27FC236}">
                <a16:creationId xmlns:a16="http://schemas.microsoft.com/office/drawing/2014/main" id="{4BA6CDFC-850B-46B0-A7B0-408E3439F0A0}"/>
              </a:ext>
            </a:extLst>
          </p:cNvPr>
          <p:cNvSpPr>
            <a:spLocks xmlns:a="http://schemas.openxmlformats.org/drawingml/2006/main" noGrp="1"/>
          </p:cNvSpPr>
          <p:nvPr/>
        </p:nvSpPr>
        <p:spPr>
          <a:xfrm xmlns:a="http://schemas.openxmlformats.org/drawingml/2006/main">
            <a:off x="11144250"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82"/>
                </a:solidFill>
                <a:latin typeface="DejaVu Sans"/>
                <a:ea typeface="DejaVu Sans"/>
                <a:cs typeface="DejaVu Sans"/>
              </a:defRPr>
            </a:pPr>
            <a:r>
              <a:rPr sz="1350" b="0">
                <a:solidFill>
                  <a:srgbClr val="5A6482"/>
                </a:solidFill>
                <a:latin typeface="DejaVu Sans"/>
                <a:ea typeface="DejaVu Sans"/>
                <a:cs typeface="DejaVu Sans"/>
              </a:rPr>
              <a:t>05</a:t>
            </a:r>
          </a:p>
        </p:txBody>
      </p:sp>
      <p:sp>
        <p:nvSpPr>
          <p:cNvPr id="4" name="text-65">
            <a:extLst xmlns:a="http://schemas.openxmlformats.org/drawingml/2006/main">
              <a:ext uri="{FF2B5EF4-FFF2-40B4-BE49-F238E27FC236}">
                <a16:creationId xmlns:a16="http://schemas.microsoft.com/office/drawing/2014/main" id="{D4BA56AF-9EAA-43A4-9138-001709AB009C}"/>
              </a:ext>
            </a:extLst>
          </p:cNvPr>
          <p:cNvSpPr>
            <a:spLocks xmlns:a="http://schemas.openxmlformats.org/drawingml/2006/main" noGrp="1"/>
          </p:cNvSpPr>
          <p:nvPr/>
        </p:nvSpPr>
        <p:spPr>
          <a:xfrm xmlns:a="http://schemas.openxmlformats.org/drawingml/2006/main">
            <a:off x="647700" y="1743075"/>
            <a:ext cx="419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3858D6"/>
                </a:solidFill>
                <a:latin typeface="DejaVu Sans"/>
                <a:ea typeface="DejaVu Sans"/>
                <a:cs typeface="DejaVu Sans"/>
              </a:defRPr>
            </a:pPr>
            <a:r>
              <a:rPr sz="2475" b="1">
                <a:solidFill>
                  <a:srgbClr val="3858D6"/>
                </a:solidFill>
                <a:latin typeface="DejaVu Sans"/>
                <a:ea typeface="DejaVu Sans"/>
                <a:cs typeface="DejaVu Sans"/>
              </a:rPr>
              <a:t>Tra cứu</a:t>
            </a:r>
          </a:p>
        </p:txBody>
      </p:sp>
      <p:sp>
        <p:nvSpPr>
          <p:cNvPr id="5" name="text-66">
            <a:extLst xmlns:a="http://schemas.openxmlformats.org/drawingml/2006/main">
              <a:ext uri="{FF2B5EF4-FFF2-40B4-BE49-F238E27FC236}">
                <a16:creationId xmlns:a16="http://schemas.microsoft.com/office/drawing/2014/main" id="{CBB7ECCA-A163-4291-ADC4-F4DBE425868D}"/>
              </a:ext>
            </a:extLst>
          </p:cNvPr>
          <p:cNvSpPr>
            <a:spLocks xmlns:a="http://schemas.openxmlformats.org/drawingml/2006/main" noGrp="1"/>
          </p:cNvSpPr>
          <p:nvPr/>
        </p:nvSpPr>
        <p:spPr>
          <a:xfrm xmlns:a="http://schemas.openxmlformats.org/drawingml/2006/main">
            <a:off x="647700" y="2362200"/>
            <a:ext cx="4552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E2852"/>
                </a:solidFill>
                <a:latin typeface="DejaVu Sans"/>
                <a:ea typeface="DejaVu Sans"/>
                <a:cs typeface="DejaVu Sans"/>
              </a:defRPr>
            </a:pPr>
            <a:r>
              <a:rPr sz="2325" b="0">
                <a:solidFill>
                  <a:srgbClr val="1E2852"/>
                </a:solidFill>
                <a:latin typeface="DejaVu Sans"/>
                <a:ea typeface="DejaVu Sans"/>
                <a:cs typeface="DejaVu Sans"/>
              </a:rPr>
              <a:t>Tên bảng sales</a:t>
            </a:r>
          </a:p>
          <a:p xmlns:a="http://schemas.openxmlformats.org/drawingml/2006/main">
            <a:pPr>
              <a:defRPr sz="2325" b="0">
                <a:solidFill>
                  <a:srgbClr val="1E2852"/>
                </a:solidFill>
                <a:latin typeface="DejaVu Sans"/>
                <a:ea typeface="DejaVu Sans"/>
                <a:cs typeface="DejaVu Sans"/>
              </a:defRPr>
            </a:pPr>
            <a:r>
              <a:rPr sz="2325" b="0">
                <a:solidFill>
                  <a:srgbClr val="1E2852"/>
                </a:solidFill>
                <a:latin typeface="DejaVu Sans"/>
                <a:ea typeface="DejaVu Sans"/>
                <a:cs typeface="DejaVu Sans"/>
              </a:rPr>
              <a:t>→ vị trí metadata hiện hành</a:t>
            </a:r>
          </a:p>
        </p:txBody>
      </p:sp>
      <p:sp>
        <p:nvSpPr>
          <p:cNvPr id="6" name="text-67">
            <a:extLst xmlns:a="http://schemas.openxmlformats.org/drawingml/2006/main">
              <a:ext uri="{FF2B5EF4-FFF2-40B4-BE49-F238E27FC236}">
                <a16:creationId xmlns:a16="http://schemas.microsoft.com/office/drawing/2014/main" id="{2A398A5D-4DC1-45DA-81FD-FA25D029906D}"/>
              </a:ext>
            </a:extLst>
          </p:cNvPr>
          <p:cNvSpPr>
            <a:spLocks xmlns:a="http://schemas.openxmlformats.org/drawingml/2006/main" noGrp="1"/>
          </p:cNvSpPr>
          <p:nvPr/>
        </p:nvSpPr>
        <p:spPr>
          <a:xfrm xmlns:a="http://schemas.openxmlformats.org/drawingml/2006/main">
            <a:off x="647700" y="3714750"/>
            <a:ext cx="419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3858D6"/>
                </a:solidFill>
                <a:latin typeface="DejaVu Sans"/>
                <a:ea typeface="DejaVu Sans"/>
                <a:cs typeface="DejaVu Sans"/>
              </a:defRPr>
            </a:pPr>
            <a:r>
              <a:rPr sz="2475" b="1">
                <a:solidFill>
                  <a:srgbClr val="3858D6"/>
                </a:solidFill>
                <a:latin typeface="DejaVu Sans"/>
                <a:ea typeface="DejaVu Sans"/>
                <a:cs typeface="DejaVu Sans"/>
              </a:rPr>
              <a:t>Commit</a:t>
            </a:r>
          </a:p>
        </p:txBody>
      </p:sp>
      <p:sp>
        <p:nvSpPr>
          <p:cNvPr id="7" name="text-68">
            <a:extLst xmlns:a="http://schemas.openxmlformats.org/drawingml/2006/main">
              <a:ext uri="{FF2B5EF4-FFF2-40B4-BE49-F238E27FC236}">
                <a16:creationId xmlns:a16="http://schemas.microsoft.com/office/drawing/2014/main" id="{99B5878A-9AC6-4FB9-AE84-1E222DF3C5C3}"/>
              </a:ext>
            </a:extLst>
          </p:cNvPr>
          <p:cNvSpPr>
            <a:spLocks xmlns:a="http://schemas.openxmlformats.org/drawingml/2006/main" noGrp="1"/>
          </p:cNvSpPr>
          <p:nvPr/>
        </p:nvSpPr>
        <p:spPr>
          <a:xfrm xmlns:a="http://schemas.openxmlformats.org/drawingml/2006/main">
            <a:off x="647700" y="4286250"/>
            <a:ext cx="45529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E2852"/>
                </a:solidFill>
                <a:latin typeface="DejaVu Sans"/>
                <a:ea typeface="DejaVu Sans"/>
                <a:cs typeface="DejaVu Sans"/>
              </a:defRPr>
            </a:pPr>
            <a:r>
              <a:rPr sz="2175" b="0">
                <a:solidFill>
                  <a:srgbClr val="1E2852"/>
                </a:solidFill>
                <a:latin typeface="DejaVu Sans"/>
                <a:ea typeface="DejaVu Sans"/>
                <a:cs typeface="DejaVu Sans"/>
              </a:rPr>
              <a:t>Thay con trỏ nguyên tử</a:t>
            </a:r>
          </a:p>
          <a:p xmlns:a="http://schemas.openxmlformats.org/drawingml/2006/main">
            <a:pPr>
              <a:defRPr sz="2175" b="0">
                <a:solidFill>
                  <a:srgbClr val="1E2852"/>
                </a:solidFill>
                <a:latin typeface="DejaVu Sans"/>
                <a:ea typeface="DejaVu Sans"/>
                <a:cs typeface="DejaVu Sans"/>
              </a:defRPr>
            </a:pPr>
            <a:r>
              <a:rPr sz="2175" b="0">
                <a:solidFill>
                  <a:srgbClr val="1E2852"/>
                </a:solidFill>
                <a:latin typeface="DejaVu Sans"/>
                <a:ea typeface="DejaVu Sans"/>
                <a:cs typeface="DejaVu Sans"/>
              </a:rPr>
              <a:t>với điều kiện phiên bản gốc còn hợp lệ.</a:t>
            </a:r>
          </a:p>
        </p:txBody>
      </p:sp>
      <p:sp>
        <p:nvSpPr>
          <p:cNvPr id="8" name="text-69">
            <a:extLst xmlns:a="http://schemas.openxmlformats.org/drawingml/2006/main">
              <a:ext uri="{FF2B5EF4-FFF2-40B4-BE49-F238E27FC236}">
                <a16:creationId xmlns:a16="http://schemas.microsoft.com/office/drawing/2014/main" id="{318EFA70-9346-4790-9737-E285BFECFB9F}"/>
              </a:ext>
            </a:extLst>
          </p:cNvPr>
          <p:cNvSpPr>
            <a:spLocks xmlns:a="http://schemas.openxmlformats.org/drawingml/2006/main" noGrp="1"/>
          </p:cNvSpPr>
          <p:nvPr/>
        </p:nvSpPr>
        <p:spPr>
          <a:xfrm xmlns:a="http://schemas.openxmlformats.org/drawingml/2006/main">
            <a:off x="6191250" y="1847850"/>
            <a:ext cx="5362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A6482"/>
                </a:solidFill>
                <a:latin typeface="DejaVu Sans"/>
                <a:ea typeface="DejaVu Sans"/>
                <a:cs typeface="DejaVu Sans"/>
              </a:defRPr>
            </a:pPr>
            <a:r>
              <a:rPr sz="1950" b="0">
                <a:solidFill>
                  <a:srgbClr val="5A6482"/>
                </a:solidFill>
                <a:latin typeface="DejaVu Sans"/>
                <a:ea typeface="DejaVu Sans"/>
                <a:cs typeface="DejaVu Sans"/>
              </a:rPr>
              <a:t>Trước commit</a:t>
            </a:r>
          </a:p>
        </p:txBody>
      </p:sp>
      <p:sp>
        <p:nvSpPr>
          <p:cNvPr id="9" name="shape-70">
            <a:extLst xmlns:a="http://schemas.openxmlformats.org/drawingml/2006/main">
              <a:ext uri="{FF2B5EF4-FFF2-40B4-BE49-F238E27FC236}">
                <a16:creationId xmlns:a16="http://schemas.microsoft.com/office/drawing/2014/main" id="{4A3AB740-B950-401A-9D08-F1D850792E8D}"/>
              </a:ext>
            </a:extLst>
          </p:cNvPr>
          <p:cNvSpPr>
            <a:spLocks xmlns:a="http://schemas.openxmlformats.org/drawingml/2006/main" noGrp="1"/>
          </p:cNvSpPr>
          <p:nvPr/>
        </p:nvSpPr>
        <p:spPr>
          <a:xfrm xmlns:a="http://schemas.openxmlformats.org/drawingml/2006/main">
            <a:off x="6191250" y="2447925"/>
            <a:ext cx="2095500" cy="762000"/>
          </a:xfrm>
          <a:prstGeom xmlns:a="http://schemas.openxmlformats.org/drawingml/2006/main" prst="rect">
            <a:avLst/>
          </a:prstGeom>
          <a:solidFill xmlns:a="http://schemas.openxmlformats.org/drawingml/2006/main">
            <a:srgbClr val="EDF3FF"/>
          </a:solidFill>
          <a:ln xmlns:a="http://schemas.openxmlformats.org/drawingml/2006/main" w="0">
            <a:noFill/>
          </a:ln>
        </p:spPr>
      </p:sp>
      <p:sp>
        <p:nvSpPr>
          <p:cNvPr id="10" name="text-71">
            <a:extLst xmlns:a="http://schemas.openxmlformats.org/drawingml/2006/main">
              <a:ext uri="{FF2B5EF4-FFF2-40B4-BE49-F238E27FC236}">
                <a16:creationId xmlns:a16="http://schemas.microsoft.com/office/drawing/2014/main" id="{8269099B-60A5-4E12-96B3-ABEEAAB28C46}"/>
              </a:ext>
            </a:extLst>
          </p:cNvPr>
          <p:cNvSpPr>
            <a:spLocks xmlns:a="http://schemas.openxmlformats.org/drawingml/2006/main" noGrp="1"/>
          </p:cNvSpPr>
          <p:nvPr/>
        </p:nvSpPr>
        <p:spPr>
          <a:xfrm xmlns:a="http://schemas.openxmlformats.org/drawingml/2006/main">
            <a:off x="6362700" y="2581275"/>
            <a:ext cx="1752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E2852"/>
                </a:solidFill>
                <a:latin typeface="DejaVu Sans"/>
                <a:ea typeface="DejaVu Sans"/>
                <a:cs typeface="DejaVu Sans"/>
              </a:defRPr>
            </a:pPr>
            <a:r>
              <a:rPr sz="1650" b="1">
                <a:solidFill>
                  <a:srgbClr val="1E2852"/>
                </a:solidFill>
                <a:latin typeface="DejaVu Sans"/>
                <a:ea typeface="DejaVu Sans"/>
                <a:cs typeface="DejaVu Sans"/>
              </a:rPr>
              <a:t>Catalog: sales</a:t>
            </a:r>
          </a:p>
        </p:txBody>
      </p:sp>
      <p:sp>
        <p:nvSpPr>
          <p:cNvPr id="11" name="shape-72">
            <a:extLst xmlns:a="http://schemas.openxmlformats.org/drawingml/2006/main">
              <a:ext uri="{FF2B5EF4-FFF2-40B4-BE49-F238E27FC236}">
                <a16:creationId xmlns:a16="http://schemas.microsoft.com/office/drawing/2014/main" id="{A5333923-3E9E-46DA-A001-3E291B8F1241}"/>
              </a:ext>
            </a:extLst>
          </p:cNvPr>
          <p:cNvSpPr>
            <a:spLocks xmlns:a="http://schemas.openxmlformats.org/drawingml/2006/main" noGrp="1"/>
          </p:cNvSpPr>
          <p:nvPr/>
        </p:nvSpPr>
        <p:spPr>
          <a:xfrm xmlns:a="http://schemas.openxmlformats.org/drawingml/2006/main">
            <a:off x="8715375" y="2447925"/>
            <a:ext cx="2838450" cy="762000"/>
          </a:xfrm>
          <a:prstGeom xmlns:a="http://schemas.openxmlformats.org/drawingml/2006/main" prst="rect">
            <a:avLst/>
          </a:prstGeom>
          <a:solidFill xmlns:a="http://schemas.openxmlformats.org/drawingml/2006/main">
            <a:srgbClr val="EDF3FF"/>
          </a:solidFill>
          <a:ln xmlns:a="http://schemas.openxmlformats.org/drawingml/2006/main" w="0">
            <a:noFill/>
          </a:ln>
        </p:spPr>
      </p:sp>
      <p:sp>
        <p:nvSpPr>
          <p:cNvPr id="12" name="text-73">
            <a:extLst xmlns:a="http://schemas.openxmlformats.org/drawingml/2006/main">
              <a:ext uri="{FF2B5EF4-FFF2-40B4-BE49-F238E27FC236}">
                <a16:creationId xmlns:a16="http://schemas.microsoft.com/office/drawing/2014/main" id="{BC98C076-610D-446D-9249-202F7DD285BD}"/>
              </a:ext>
            </a:extLst>
          </p:cNvPr>
          <p:cNvSpPr>
            <a:spLocks xmlns:a="http://schemas.openxmlformats.org/drawingml/2006/main" noGrp="1"/>
          </p:cNvSpPr>
          <p:nvPr/>
        </p:nvSpPr>
        <p:spPr>
          <a:xfrm xmlns:a="http://schemas.openxmlformats.org/drawingml/2006/main">
            <a:off x="8886825" y="2581275"/>
            <a:ext cx="2495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E2852"/>
                </a:solidFill>
                <a:latin typeface="DejaVu Sans"/>
                <a:ea typeface="DejaVu Sans"/>
                <a:cs typeface="DejaVu Sans"/>
              </a:defRPr>
            </a:pPr>
            <a:r>
              <a:rPr sz="1650" b="1">
                <a:solidFill>
                  <a:srgbClr val="1E2852"/>
                </a:solidFill>
                <a:latin typeface="DejaVu Sans"/>
                <a:ea typeface="DejaVu Sans"/>
                <a:cs typeface="DejaVu Sans"/>
              </a:rPr>
              <a:t>v10.metadata.json</a:t>
            </a:r>
          </a:p>
        </p:txBody>
      </p:sp>
      <p:cxnSp>
        <p:nvCxnSpPr>
          <p:cNvPr id="32" name=""/>
          <p:cNvCxnSpPr>
            <a:stCxn xmlns:a="http://schemas.openxmlformats.org/drawingml/2006/main" id="9" idx="3"/>
            <a:endCxn xmlns:a="http://schemas.openxmlformats.org/drawingml/2006/main" id="11" idx="1"/>
          </p:cNvCxnSpPr>
          <p:nvPr/>
        </p:nvCxnSpPr>
        <p:spPr>
          <a:xfrm xmlns:a="http://schemas.openxmlformats.org/drawingml/2006/main">
            <a:off x="8286750" y="2828925"/>
            <a:ext cx="428625" cy="0"/>
          </a:xfrm>
          <a:prstGeom xmlns:a="http://schemas.openxmlformats.org/drawingml/2006/main" prst="straightConnector1">
            <a:avLst/>
          </a:prstGeom>
          <a:ln xmlns:a="http://schemas.openxmlformats.org/drawingml/2006/main" w="23813">
            <a:solidFill>
              <a:srgbClr val="5A6482"/>
            </a:solidFill>
            <a:prstDash val="solid"/>
            <a:tailEnd type="triangle" w="sm" len="sm"/>
          </a:ln>
        </p:spPr>
      </p:cxnSp>
      <p:sp>
        <p:nvSpPr>
          <p:cNvPr id="14" name="text-74">
            <a:extLst xmlns:a="http://schemas.openxmlformats.org/drawingml/2006/main">
              <a:ext uri="{FF2B5EF4-FFF2-40B4-BE49-F238E27FC236}">
                <a16:creationId xmlns:a16="http://schemas.microsoft.com/office/drawing/2014/main" id="{35EF9C89-EB4C-43C4-AA05-BB804E2651B2}"/>
              </a:ext>
            </a:extLst>
          </p:cNvPr>
          <p:cNvSpPr>
            <a:spLocks xmlns:a="http://schemas.openxmlformats.org/drawingml/2006/main" noGrp="1"/>
          </p:cNvSpPr>
          <p:nvPr/>
        </p:nvSpPr>
        <p:spPr>
          <a:xfrm xmlns:a="http://schemas.openxmlformats.org/drawingml/2006/main">
            <a:off x="6191250" y="3752850"/>
            <a:ext cx="5362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858D6"/>
                </a:solidFill>
                <a:latin typeface="DejaVu Sans"/>
                <a:ea typeface="DejaVu Sans"/>
                <a:cs typeface="DejaVu Sans"/>
              </a:defRPr>
            </a:pPr>
            <a:r>
              <a:rPr sz="1950" b="1">
                <a:solidFill>
                  <a:srgbClr val="3858D6"/>
                </a:solidFill>
                <a:latin typeface="DejaVu Sans"/>
                <a:ea typeface="DejaVu Sans"/>
                <a:cs typeface="DejaVu Sans"/>
              </a:rPr>
              <a:t>Sau commit thành công</a:t>
            </a:r>
          </a:p>
        </p:txBody>
      </p:sp>
      <p:sp>
        <p:nvSpPr>
          <p:cNvPr id="15" name="shape-75">
            <a:extLst xmlns:a="http://schemas.openxmlformats.org/drawingml/2006/main">
              <a:ext uri="{FF2B5EF4-FFF2-40B4-BE49-F238E27FC236}">
                <a16:creationId xmlns:a16="http://schemas.microsoft.com/office/drawing/2014/main" id="{154B5DCA-9079-44A3-AE2D-A38A1E96E60C}"/>
              </a:ext>
            </a:extLst>
          </p:cNvPr>
          <p:cNvSpPr>
            <a:spLocks xmlns:a="http://schemas.openxmlformats.org/drawingml/2006/main" noGrp="1"/>
          </p:cNvSpPr>
          <p:nvPr/>
        </p:nvSpPr>
        <p:spPr>
          <a:xfrm xmlns:a="http://schemas.openxmlformats.org/drawingml/2006/main">
            <a:off x="6191250" y="4352925"/>
            <a:ext cx="2095500" cy="762000"/>
          </a:xfrm>
          <a:prstGeom xmlns:a="http://schemas.openxmlformats.org/drawingml/2006/main" prst="rect">
            <a:avLst/>
          </a:prstGeom>
          <a:solidFill xmlns:a="http://schemas.openxmlformats.org/drawingml/2006/main">
            <a:srgbClr val="DCD4FA"/>
          </a:solidFill>
          <a:ln xmlns:a="http://schemas.openxmlformats.org/drawingml/2006/main" w="0">
            <a:noFill/>
          </a:ln>
        </p:spPr>
      </p:sp>
      <p:sp>
        <p:nvSpPr>
          <p:cNvPr id="16" name="text-76">
            <a:extLst xmlns:a="http://schemas.openxmlformats.org/drawingml/2006/main">
              <a:ext uri="{FF2B5EF4-FFF2-40B4-BE49-F238E27FC236}">
                <a16:creationId xmlns:a16="http://schemas.microsoft.com/office/drawing/2014/main" id="{0DF674F8-5ED3-40A4-9BF6-1A3E528C2A3B}"/>
              </a:ext>
            </a:extLst>
          </p:cNvPr>
          <p:cNvSpPr>
            <a:spLocks xmlns:a="http://schemas.openxmlformats.org/drawingml/2006/main" noGrp="1"/>
          </p:cNvSpPr>
          <p:nvPr/>
        </p:nvSpPr>
        <p:spPr>
          <a:xfrm xmlns:a="http://schemas.openxmlformats.org/drawingml/2006/main">
            <a:off x="6362700" y="4486275"/>
            <a:ext cx="1752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E2852"/>
                </a:solidFill>
                <a:latin typeface="DejaVu Sans"/>
                <a:ea typeface="DejaVu Sans"/>
                <a:cs typeface="DejaVu Sans"/>
              </a:defRPr>
            </a:pPr>
            <a:r>
              <a:rPr sz="1650" b="1">
                <a:solidFill>
                  <a:srgbClr val="1E2852"/>
                </a:solidFill>
                <a:latin typeface="DejaVu Sans"/>
                <a:ea typeface="DejaVu Sans"/>
                <a:cs typeface="DejaVu Sans"/>
              </a:rPr>
              <a:t>Catalog: sales</a:t>
            </a:r>
          </a:p>
        </p:txBody>
      </p:sp>
      <p:sp>
        <p:nvSpPr>
          <p:cNvPr id="17" name="shape-77">
            <a:extLst xmlns:a="http://schemas.openxmlformats.org/drawingml/2006/main">
              <a:ext uri="{FF2B5EF4-FFF2-40B4-BE49-F238E27FC236}">
                <a16:creationId xmlns:a16="http://schemas.microsoft.com/office/drawing/2014/main" id="{33BC8BE8-6A82-4606-8A5E-03AEDB24750E}"/>
              </a:ext>
            </a:extLst>
          </p:cNvPr>
          <p:cNvSpPr>
            <a:spLocks xmlns:a="http://schemas.openxmlformats.org/drawingml/2006/main" noGrp="1"/>
          </p:cNvSpPr>
          <p:nvPr/>
        </p:nvSpPr>
        <p:spPr>
          <a:xfrm xmlns:a="http://schemas.openxmlformats.org/drawingml/2006/main">
            <a:off x="8715375" y="4352925"/>
            <a:ext cx="2838450" cy="762000"/>
          </a:xfrm>
          <a:prstGeom xmlns:a="http://schemas.openxmlformats.org/drawingml/2006/main" prst="rect">
            <a:avLst/>
          </a:prstGeom>
          <a:solidFill xmlns:a="http://schemas.openxmlformats.org/drawingml/2006/main">
            <a:srgbClr val="DCD4FA"/>
          </a:solidFill>
          <a:ln xmlns:a="http://schemas.openxmlformats.org/drawingml/2006/main" w="0">
            <a:noFill/>
          </a:ln>
        </p:spPr>
      </p:sp>
      <p:sp>
        <p:nvSpPr>
          <p:cNvPr id="18" name="text-78">
            <a:extLst xmlns:a="http://schemas.openxmlformats.org/drawingml/2006/main">
              <a:ext uri="{FF2B5EF4-FFF2-40B4-BE49-F238E27FC236}">
                <a16:creationId xmlns:a16="http://schemas.microsoft.com/office/drawing/2014/main" id="{9F84C3A1-BE28-46FC-8369-EB6297C60C29}"/>
              </a:ext>
            </a:extLst>
          </p:cNvPr>
          <p:cNvSpPr>
            <a:spLocks xmlns:a="http://schemas.openxmlformats.org/drawingml/2006/main" noGrp="1"/>
          </p:cNvSpPr>
          <p:nvPr/>
        </p:nvSpPr>
        <p:spPr>
          <a:xfrm xmlns:a="http://schemas.openxmlformats.org/drawingml/2006/main">
            <a:off x="8886825" y="4486275"/>
            <a:ext cx="2495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E2852"/>
                </a:solidFill>
                <a:latin typeface="DejaVu Sans"/>
                <a:ea typeface="DejaVu Sans"/>
                <a:cs typeface="DejaVu Sans"/>
              </a:defRPr>
            </a:pPr>
            <a:r>
              <a:rPr sz="1650" b="1">
                <a:solidFill>
                  <a:srgbClr val="1E2852"/>
                </a:solidFill>
                <a:latin typeface="DejaVu Sans"/>
                <a:ea typeface="DejaVu Sans"/>
                <a:cs typeface="DejaVu Sans"/>
              </a:rPr>
              <a:t>v11.metadata.json</a:t>
            </a:r>
          </a:p>
        </p:txBody>
      </p:sp>
      <p:cxnSp>
        <p:nvCxnSpPr>
          <p:cNvPr id="38" name=""/>
          <p:cNvCxnSpPr>
            <a:stCxn xmlns:a="http://schemas.openxmlformats.org/drawingml/2006/main" id="15" idx="3"/>
            <a:endCxn xmlns:a="http://schemas.openxmlformats.org/drawingml/2006/main" id="17" idx="1"/>
          </p:cNvCxnSpPr>
          <p:nvPr/>
        </p:nvCxnSpPr>
        <p:spPr>
          <a:xfrm xmlns:a="http://schemas.openxmlformats.org/drawingml/2006/main">
            <a:off x="8286750" y="4733925"/>
            <a:ext cx="428625" cy="0"/>
          </a:xfrm>
          <a:prstGeom xmlns:a="http://schemas.openxmlformats.org/drawingml/2006/main" prst="straightConnector1">
            <a:avLst/>
          </a:prstGeom>
          <a:ln xmlns:a="http://schemas.openxmlformats.org/drawingml/2006/main" w="23813">
            <a:solidFill>
              <a:srgbClr val="3858D6"/>
            </a:solidFill>
            <a:prstDash val="solid"/>
            <a:tailEnd type="triangle" w="sm" len="sm"/>
          </a:ln>
        </p:spPr>
      </p:cxnSp>
    </p:spTree>
    <p:extLst>
      <p:ext uri="{BB962C8B-B14F-4D97-AF65-F5344CB8AC3E}">
        <p14:creationId xmlns:p14="http://schemas.microsoft.com/office/powerpoint/2010/main" val="1774966918"/>
      </p:ext>
    </p:extLst>
  </p:cSld>
</p:sld>
</file>

<file path=ppt/slides/slide6.xml><?xml version="1.0" encoding="utf-8"?>
<p:sld xmlns:p="http://schemas.openxmlformats.org/presentationml/2006/main">
  <p:cSld>
    <p:bg>
      <p:bgPr>
        <a:solidFill xmlns:a="http://schemas.openxmlformats.org/drawingml/2006/main">
          <a:srgbClr val="F3F0FF"/>
        </a:solidFill>
      </p:bgPr>
    </p:bg>
    <p:spTree>
      <p:nvGrpSpPr>
        <p:cNvPr id="1" name=""/>
        <p:cNvGrpSpPr/>
        <p:nvPr/>
      </p:nvGrpSpPr>
      <p:grpSpPr>
        <a:xfrm xmlns:a="http://schemas.openxmlformats.org/drawingml/2006/main"/>
      </p:grpSpPr>
      <p:sp>
        <p:nvSpPr>
          <p:cNvPr id="11" name="text-79">
            <a:extLst xmlns:a="http://schemas.openxmlformats.org/drawingml/2006/main">
              <a:ext uri="{FF2B5EF4-FFF2-40B4-BE49-F238E27FC236}">
                <a16:creationId xmlns:a16="http://schemas.microsoft.com/office/drawing/2014/main" id="{2F3AA260-A080-4E3D-A50C-EA82ACDC7713}"/>
              </a:ext>
            </a:extLst>
          </p:cNvPr>
          <p:cNvSpPr>
            <a:spLocks xmlns:a="http://schemas.openxmlformats.org/drawingml/2006/main" noGrp="1"/>
          </p:cNvSpPr>
          <p:nvPr/>
        </p:nvSpPr>
        <p:spPr>
          <a:xfrm xmlns:a="http://schemas.openxmlformats.org/drawingml/2006/main">
            <a:off x="647700" y="4191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D6A"/>
                </a:solidFill>
                <a:latin typeface="DejaVu Sans"/>
                <a:ea typeface="DejaVu Sans"/>
                <a:cs typeface="DejaVu Sans"/>
              </a:defRPr>
            </a:pPr>
            <a:r>
              <a:rPr sz="3450" b="1">
                <a:solidFill>
                  <a:srgbClr val="202D6A"/>
                </a:solidFill>
                <a:latin typeface="DejaVu Sans"/>
                <a:ea typeface="DejaVu Sans"/>
                <a:cs typeface="DejaVu Sans"/>
              </a:rPr>
              <a:t>Metadata chọn snapshot để đọc</a:t>
            </a:r>
          </a:p>
        </p:txBody>
      </p:sp>
      <p:sp>
        <p:nvSpPr>
          <p:cNvPr id="2" name="line-80">
            <a:extLst xmlns:a="http://schemas.openxmlformats.org/drawingml/2006/main">
              <a:ext uri="{FF2B5EF4-FFF2-40B4-BE49-F238E27FC236}">
                <a16:creationId xmlns:a16="http://schemas.microsoft.com/office/drawing/2014/main" id="{AF71B11C-1B47-408C-9A75-E25391F07872}"/>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3" name="text-81">
            <a:extLst xmlns:a="http://schemas.openxmlformats.org/drawingml/2006/main">
              <a:ext uri="{FF2B5EF4-FFF2-40B4-BE49-F238E27FC236}">
                <a16:creationId xmlns:a16="http://schemas.microsoft.com/office/drawing/2014/main" id="{3D4545B7-8A3E-491D-A679-986F3D3B4C27}"/>
              </a:ext>
            </a:extLst>
          </p:cNvPr>
          <p:cNvSpPr>
            <a:spLocks xmlns:a="http://schemas.openxmlformats.org/drawingml/2006/main" noGrp="1"/>
          </p:cNvSpPr>
          <p:nvPr/>
        </p:nvSpPr>
        <p:spPr>
          <a:xfrm xmlns:a="http://schemas.openxmlformats.org/drawingml/2006/main">
            <a:off x="11144250"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82"/>
                </a:solidFill>
                <a:latin typeface="DejaVu Sans"/>
                <a:ea typeface="DejaVu Sans"/>
                <a:cs typeface="DejaVu Sans"/>
              </a:defRPr>
            </a:pPr>
            <a:r>
              <a:rPr sz="1350" b="0">
                <a:solidFill>
                  <a:srgbClr val="5A6482"/>
                </a:solidFill>
                <a:latin typeface="DejaVu Sans"/>
                <a:ea typeface="DejaVu Sans"/>
                <a:cs typeface="DejaVu Sans"/>
              </a:rPr>
              <a:t>06</a:t>
            </a:r>
          </a:p>
        </p:txBody>
      </p:sp>
      <p:sp>
        <p:nvSpPr>
          <p:cNvPr id="4" name="shape-82">
            <a:extLst xmlns:a="http://schemas.openxmlformats.org/drawingml/2006/main">
              <a:ext uri="{FF2B5EF4-FFF2-40B4-BE49-F238E27FC236}">
                <a16:creationId xmlns:a16="http://schemas.microsoft.com/office/drawing/2014/main" id="{AB6CAD98-488B-43BF-9990-7FD0D7B5D9C8}"/>
              </a:ext>
            </a:extLst>
          </p:cNvPr>
          <p:cNvSpPr>
            <a:spLocks xmlns:a="http://schemas.openxmlformats.org/drawingml/2006/main" noGrp="1"/>
          </p:cNvSpPr>
          <p:nvPr/>
        </p:nvSpPr>
        <p:spPr>
          <a:xfrm xmlns:a="http://schemas.openxmlformats.org/drawingml/2006/main">
            <a:off x="647700" y="1695450"/>
            <a:ext cx="6200775" cy="3467100"/>
          </a:xfrm>
          <a:prstGeom xmlns:a="http://schemas.openxmlformats.org/drawingml/2006/main" prst="rect">
            <a:avLst/>
          </a:prstGeom>
          <a:solidFill xmlns:a="http://schemas.openxmlformats.org/drawingml/2006/main">
            <a:srgbClr val="202D6A"/>
          </a:solidFill>
          <a:ln xmlns:a="http://schemas.openxmlformats.org/drawingml/2006/main" w="0">
            <a:noFill/>
          </a:ln>
        </p:spPr>
      </p:sp>
      <p:sp>
        <p:nvSpPr>
          <p:cNvPr id="5" name="text-83">
            <a:extLst xmlns:a="http://schemas.openxmlformats.org/drawingml/2006/main">
              <a:ext uri="{FF2B5EF4-FFF2-40B4-BE49-F238E27FC236}">
                <a16:creationId xmlns:a16="http://schemas.microsoft.com/office/drawing/2014/main" id="{FC5101D4-D616-4D0A-AAE4-7BE52D5111E2}"/>
              </a:ext>
            </a:extLst>
          </p:cNvPr>
          <p:cNvSpPr>
            <a:spLocks xmlns:a="http://schemas.openxmlformats.org/drawingml/2006/main" noGrp="1"/>
          </p:cNvSpPr>
          <p:nvPr/>
        </p:nvSpPr>
        <p:spPr>
          <a:xfrm xmlns:a="http://schemas.openxmlformats.org/drawingml/2006/main">
            <a:off x="866775" y="1876425"/>
            <a:ext cx="57054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DCD4FA"/>
                </a:solidFill>
                <a:latin typeface="DejaVu Sans"/>
                <a:ea typeface="DejaVu Sans"/>
                <a:cs typeface="DejaVu Sans"/>
              </a:defRPr>
            </a:pPr>
            <a:r>
              <a:rPr sz="1800" b="1">
                <a:solidFill>
                  <a:srgbClr val="DCD4FA"/>
                </a:solidFill>
                <a:latin typeface="DejaVu Sans"/>
                <a:ea typeface="DejaVu Sans"/>
                <a:cs typeface="DejaVu Sans"/>
              </a:rPr>
              <a:t>metadata.json  ·  trích lược</a:t>
            </a:r>
          </a:p>
        </p:txBody>
      </p:sp>
      <p:sp>
        <p:nvSpPr>
          <p:cNvPr id="6" name="text-84">
            <a:extLst xmlns:a="http://schemas.openxmlformats.org/drawingml/2006/main">
              <a:ext uri="{FF2B5EF4-FFF2-40B4-BE49-F238E27FC236}">
                <a16:creationId xmlns:a16="http://schemas.microsoft.com/office/drawing/2014/main" id="{C1FD73FD-A06A-44B3-BA03-60ABBEABF0FB}"/>
              </a:ext>
            </a:extLst>
          </p:cNvPr>
          <p:cNvSpPr>
            <a:spLocks xmlns:a="http://schemas.openxmlformats.org/drawingml/2006/main" noGrp="1"/>
          </p:cNvSpPr>
          <p:nvPr/>
        </p:nvSpPr>
        <p:spPr>
          <a:xfrm xmlns:a="http://schemas.openxmlformats.org/drawingml/2006/main">
            <a:off x="866775" y="2495550"/>
            <a:ext cx="581025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"current-snapshot-id": 102,</a:t>
            </a:r>
          </a:p>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"snapshots": [</a:t>
            </a:r>
          </a:p>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  { "snapshot-id": 101,</a:t>
            </a:r>
          </a:p>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    "manifest-list": ".../snap-101.avro" },</a:t>
            </a:r>
          </a:p>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  { "snapshot-id": 102,</a:t>
            </a:r>
          </a:p>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    "manifest-list": ".../snap-102.avro" }</a:t>
            </a:r>
          </a:p>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a:t>
            </a:r>
          </a:p>
        </p:txBody>
      </p:sp>
      <p:sp>
        <p:nvSpPr>
          <p:cNvPr id="7" name="text-85">
            <a:extLst xmlns:a="http://schemas.openxmlformats.org/drawingml/2006/main">
              <a:ext uri="{FF2B5EF4-FFF2-40B4-BE49-F238E27FC236}">
                <a16:creationId xmlns:a16="http://schemas.microsoft.com/office/drawing/2014/main" id="{9BC96001-2A6E-4933-BDE9-174901C2BA1C}"/>
              </a:ext>
            </a:extLst>
          </p:cNvPr>
          <p:cNvSpPr>
            <a:spLocks xmlns:a="http://schemas.openxmlformats.org/drawingml/2006/main" noGrp="1"/>
          </p:cNvSpPr>
          <p:nvPr/>
        </p:nvSpPr>
        <p:spPr>
          <a:xfrm xmlns:a="http://schemas.openxmlformats.org/drawingml/2006/main">
            <a:off x="7391400" y="1781175"/>
            <a:ext cx="3943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858D6"/>
                </a:solidFill>
                <a:latin typeface="DejaVu Sans"/>
                <a:ea typeface="DejaVu Sans"/>
                <a:cs typeface="DejaVu Sans"/>
              </a:defRPr>
            </a:pPr>
            <a:r>
              <a:rPr sz="2400" b="1">
                <a:solidFill>
                  <a:srgbClr val="3858D6"/>
                </a:solidFill>
                <a:latin typeface="DejaVu Sans"/>
                <a:ea typeface="DejaVu Sans"/>
                <a:cs typeface="DejaVu Sans"/>
              </a:rPr>
              <a:t>Metadata còn chứa</a:t>
            </a:r>
          </a:p>
        </p:txBody>
      </p:sp>
      <p:sp>
        <p:nvSpPr>
          <p:cNvPr id="8" name="text-86">
            <a:extLst xmlns:a="http://schemas.openxmlformats.org/drawingml/2006/main">
              <a:ext uri="{FF2B5EF4-FFF2-40B4-BE49-F238E27FC236}">
                <a16:creationId xmlns:a16="http://schemas.microsoft.com/office/drawing/2014/main" id="{3D4C3E47-4D99-4DEE-A620-9565A928C5D2}"/>
              </a:ext>
            </a:extLst>
          </p:cNvPr>
          <p:cNvSpPr>
            <a:spLocks xmlns:a="http://schemas.openxmlformats.org/drawingml/2006/main" noGrp="1"/>
          </p:cNvSpPr>
          <p:nvPr/>
        </p:nvSpPr>
        <p:spPr>
          <a:xfrm xmlns:a="http://schemas.openxmlformats.org/drawingml/2006/main">
            <a:off x="7391400" y="2524125"/>
            <a:ext cx="394335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E2852"/>
                </a:solidFill>
                <a:latin typeface="DejaVu Sans"/>
                <a:ea typeface="DejaVu Sans"/>
                <a:cs typeface="DejaVu Sans"/>
              </a:defRPr>
            </a:pPr>
            <a:r>
              <a:rPr sz="2100" b="0">
                <a:solidFill>
                  <a:srgbClr val="1E2852"/>
                </a:solidFill>
                <a:latin typeface="DejaVu Sans"/>
                <a:ea typeface="DejaVu Sans"/>
                <a:cs typeface="DejaVu Sans"/>
              </a:rPr>
              <a:t>Schema và field IDs</a:t>
            </a:r>
          </a:p>
          <a:p xmlns:a="http://schemas.openxmlformats.org/drawingml/2006/main">
            <a:r>
              <a:t/>
            </a:r>
          </a:p>
          <a:p xmlns:a="http://schemas.openxmlformats.org/drawingml/2006/main">
            <a:pPr>
              <a:defRPr sz="2100" b="0">
                <a:solidFill>
                  <a:srgbClr val="1E2852"/>
                </a:solidFill>
                <a:latin typeface="DejaVu Sans"/>
                <a:ea typeface="DejaVu Sans"/>
                <a:cs typeface="DejaVu Sans"/>
              </a:defRPr>
            </a:pPr>
            <a:r>
              <a:rPr sz="2100" b="0">
                <a:solidFill>
                  <a:srgbClr val="1E2852"/>
                </a:solidFill>
                <a:latin typeface="DejaVu Sans"/>
                <a:ea typeface="DejaVu Sans"/>
                <a:cs typeface="DejaVu Sans"/>
              </a:rPr>
              <a:t>Partition specs</a:t>
            </a:r>
          </a:p>
          <a:p xmlns:a="http://schemas.openxmlformats.org/drawingml/2006/main">
            <a:r>
              <a:t/>
            </a:r>
          </a:p>
          <a:p xmlns:a="http://schemas.openxmlformats.org/drawingml/2006/main">
            <a:pPr>
              <a:defRPr sz="2100" b="0">
                <a:solidFill>
                  <a:srgbClr val="1E2852"/>
                </a:solidFill>
                <a:latin typeface="DejaVu Sans"/>
                <a:ea typeface="DejaVu Sans"/>
                <a:cs typeface="DejaVu Sans"/>
              </a:defRPr>
            </a:pPr>
            <a:r>
              <a:rPr sz="2100" b="0">
                <a:solidFill>
                  <a:srgbClr val="1E2852"/>
                </a:solidFill>
                <a:latin typeface="DejaVu Sans"/>
                <a:ea typeface="DejaVu Sans"/>
                <a:cs typeface="DejaVu Sans"/>
              </a:rPr>
              <a:t>Thuộc tính, lịch sử, refs</a:t>
            </a:r>
          </a:p>
        </p:txBody>
      </p:sp>
      <p:sp>
        <p:nvSpPr>
          <p:cNvPr id="9" name="shape-87">
            <a:extLst xmlns:a="http://schemas.openxmlformats.org/drawingml/2006/main">
              <a:ext uri="{FF2B5EF4-FFF2-40B4-BE49-F238E27FC236}">
                <a16:creationId xmlns:a16="http://schemas.microsoft.com/office/drawing/2014/main" id="{040C19EF-9446-42C2-A0A1-A96BED6EBA6B}"/>
              </a:ext>
            </a:extLst>
          </p:cNvPr>
          <p:cNvSpPr>
            <a:spLocks xmlns:a="http://schemas.openxmlformats.org/drawingml/2006/main" noGrp="1"/>
          </p:cNvSpPr>
          <p:nvPr/>
        </p:nvSpPr>
        <p:spPr>
          <a:xfrm xmlns:a="http://schemas.openxmlformats.org/drawingml/2006/main">
            <a:off x="647700" y="5629275"/>
            <a:ext cx="10896600" cy="552450"/>
          </a:xfrm>
          <a:prstGeom xmlns:a="http://schemas.openxmlformats.org/drawingml/2006/main" prst="rect">
            <a:avLst/>
          </a:prstGeom>
          <a:solidFill xmlns:a="http://schemas.openxmlformats.org/drawingml/2006/main">
            <a:srgbClr val="F3F0FF"/>
          </a:solidFill>
          <a:ln xmlns:a="http://schemas.openxmlformats.org/drawingml/2006/main" w="0">
            <a:noFill/>
          </a:ln>
        </p:spPr>
      </p:sp>
      <p:sp>
        <p:nvSpPr>
          <p:cNvPr id="10" name="text-88">
            <a:extLst xmlns:a="http://schemas.openxmlformats.org/drawingml/2006/main">
              <a:ext uri="{FF2B5EF4-FFF2-40B4-BE49-F238E27FC236}">
                <a16:creationId xmlns:a16="http://schemas.microsoft.com/office/drawing/2014/main" id="{7D05AB7B-B6F8-4367-9207-9C3A402943F6}"/>
              </a:ext>
            </a:extLst>
          </p:cNvPr>
          <p:cNvSpPr>
            <a:spLocks xmlns:a="http://schemas.openxmlformats.org/drawingml/2006/main" noGrp="1"/>
          </p:cNvSpPr>
          <p:nvPr/>
        </p:nvSpPr>
        <p:spPr>
          <a:xfrm xmlns:a="http://schemas.openxmlformats.org/drawingml/2006/main">
            <a:off x="819150" y="57435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6A"/>
                </a:solidFill>
                <a:latin typeface="DejaVu Sans"/>
                <a:ea typeface="DejaVu Sans"/>
                <a:cs typeface="DejaVu Sans"/>
              </a:defRPr>
            </a:pPr>
            <a:r>
              <a:rPr sz="1875" b="1">
                <a:solidFill>
                  <a:srgbClr val="202D6A"/>
                </a:solidFill>
                <a:latin typeface="DejaVu Sans"/>
                <a:ea typeface="DejaVu Sans"/>
                <a:cs typeface="DejaVu Sans"/>
              </a:rPr>
              <a:t>Commit tạo metadata mới; thay đổi dữ liệu thường tạo snapshot mới.</a:t>
            </a:r>
          </a:p>
        </p:txBody>
      </p:sp>
    </p:spTree>
    <p:extLst>
      <p:ext uri="{BB962C8B-B14F-4D97-AF65-F5344CB8AC3E}">
        <p14:creationId xmlns:p14="http://schemas.microsoft.com/office/powerpoint/2010/main" val="190572876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89">
            <a:extLst xmlns:a="http://schemas.openxmlformats.org/drawingml/2006/main">
              <a:ext uri="{FF2B5EF4-FFF2-40B4-BE49-F238E27FC236}">
                <a16:creationId xmlns:a16="http://schemas.microsoft.com/office/drawing/2014/main" id="{C0908529-E3C2-43B5-8A36-D5D36F582768}"/>
              </a:ext>
            </a:extLst>
          </p:cNvPr>
          <p:cNvSpPr>
            <a:spLocks xmlns:a="http://schemas.openxmlformats.org/drawingml/2006/main" noGrp="1"/>
          </p:cNvSpPr>
          <p:nvPr/>
        </p:nvSpPr>
        <p:spPr>
          <a:xfrm xmlns:a="http://schemas.openxmlformats.org/drawingml/2006/main">
            <a:off x="647700" y="4191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D6A"/>
                </a:solidFill>
                <a:latin typeface="DejaVu Sans"/>
                <a:ea typeface="DejaVu Sans"/>
                <a:cs typeface="DejaVu Sans"/>
              </a:defRPr>
            </a:pPr>
            <a:r>
              <a:rPr sz="3450" b="1">
                <a:solidFill>
                  <a:srgbClr val="202D6A"/>
                </a:solidFill>
                <a:latin typeface="DejaVu Sans"/>
                <a:ea typeface="DejaVu Sans"/>
                <a:cs typeface="DejaVu Sans"/>
              </a:rPr>
              <a:t>Vì sao có nhiều manifest?</a:t>
            </a:r>
          </a:p>
        </p:txBody>
      </p:sp>
      <p:sp>
        <p:nvSpPr>
          <p:cNvPr id="2" name="line-90">
            <a:extLst xmlns:a="http://schemas.openxmlformats.org/drawingml/2006/main">
              <a:ext uri="{FF2B5EF4-FFF2-40B4-BE49-F238E27FC236}">
                <a16:creationId xmlns:a16="http://schemas.microsoft.com/office/drawing/2014/main" id="{EB3E5056-2C91-42F0-8CFE-BE3FF2A45978}"/>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3" name="text-91">
            <a:extLst xmlns:a="http://schemas.openxmlformats.org/drawingml/2006/main">
              <a:ext uri="{FF2B5EF4-FFF2-40B4-BE49-F238E27FC236}">
                <a16:creationId xmlns:a16="http://schemas.microsoft.com/office/drawing/2014/main" id="{9F313A07-314C-49E3-8590-CB1709E54BA1}"/>
              </a:ext>
            </a:extLst>
          </p:cNvPr>
          <p:cNvSpPr>
            <a:spLocks xmlns:a="http://schemas.openxmlformats.org/drawingml/2006/main" noGrp="1"/>
          </p:cNvSpPr>
          <p:nvPr/>
        </p:nvSpPr>
        <p:spPr>
          <a:xfrm xmlns:a="http://schemas.openxmlformats.org/drawingml/2006/main">
            <a:off x="11144250"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82"/>
                </a:solidFill>
                <a:latin typeface="DejaVu Sans"/>
                <a:ea typeface="DejaVu Sans"/>
                <a:cs typeface="DejaVu Sans"/>
              </a:defRPr>
            </a:pPr>
            <a:r>
              <a:rPr sz="1350" b="0">
                <a:solidFill>
                  <a:srgbClr val="5A6482"/>
                </a:solidFill>
                <a:latin typeface="DejaVu Sans"/>
                <a:ea typeface="DejaVu Sans"/>
                <a:cs typeface="DejaVu Sans"/>
              </a:rPr>
              <a:t>07</a:t>
            </a:r>
          </a:p>
        </p:txBody>
      </p:sp>
      <p:sp>
        <p:nvSpPr>
          <p:cNvPr id="4" name="shape-92">
            <a:extLst xmlns:a="http://schemas.openxmlformats.org/drawingml/2006/main">
              <a:ext uri="{FF2B5EF4-FFF2-40B4-BE49-F238E27FC236}">
                <a16:creationId xmlns:a16="http://schemas.microsoft.com/office/drawing/2014/main" id="{27655970-D431-4504-A13C-E2787F022D33}"/>
              </a:ext>
            </a:extLst>
          </p:cNvPr>
          <p:cNvSpPr>
            <a:spLocks xmlns:a="http://schemas.openxmlformats.org/drawingml/2006/main" noGrp="1"/>
          </p:cNvSpPr>
          <p:nvPr/>
        </p:nvSpPr>
        <p:spPr>
          <a:xfrm xmlns:a="http://schemas.openxmlformats.org/drawingml/2006/main">
            <a:off x="647700" y="2162175"/>
            <a:ext cx="3000375" cy="685800"/>
          </a:xfrm>
          <a:prstGeom xmlns:a="http://schemas.openxmlformats.org/drawingml/2006/main" prst="rect">
            <a:avLst/>
          </a:prstGeom>
          <a:solidFill xmlns:a="http://schemas.openxmlformats.org/drawingml/2006/main">
            <a:srgbClr val="DCD4FA"/>
          </a:solidFill>
          <a:ln xmlns:a="http://schemas.openxmlformats.org/drawingml/2006/main" w="0">
            <a:noFill/>
          </a:ln>
        </p:spPr>
      </p:sp>
      <p:sp>
        <p:nvSpPr>
          <p:cNvPr id="5" name="text-93">
            <a:extLst xmlns:a="http://schemas.openxmlformats.org/drawingml/2006/main">
              <a:ext uri="{FF2B5EF4-FFF2-40B4-BE49-F238E27FC236}">
                <a16:creationId xmlns:a16="http://schemas.microsoft.com/office/drawing/2014/main" id="{5C51C1F4-F359-470B-9D37-5DF1EF70C982}"/>
              </a:ext>
            </a:extLst>
          </p:cNvPr>
          <p:cNvSpPr>
            <a:spLocks xmlns:a="http://schemas.openxmlformats.org/drawingml/2006/main" noGrp="1"/>
          </p:cNvSpPr>
          <p:nvPr/>
        </p:nvSpPr>
        <p:spPr>
          <a:xfrm xmlns:a="http://schemas.openxmlformats.org/drawingml/2006/main">
            <a:off x="819150" y="2295525"/>
            <a:ext cx="26574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E2852"/>
                </a:solidFill>
                <a:latin typeface="DejaVu Sans"/>
                <a:ea typeface="DejaVu Sans"/>
                <a:cs typeface="DejaVu Sans"/>
              </a:defRPr>
            </a:pPr>
            <a:r>
              <a:rPr sz="1875" b="1">
                <a:solidFill>
                  <a:srgbClr val="1E2852"/>
                </a:solidFill>
                <a:latin typeface="DejaVu Sans"/>
                <a:ea typeface="DejaVu Sans"/>
                <a:cs typeface="DejaVu Sans"/>
              </a:rPr>
              <a:t>Snapshot 101</a:t>
            </a:r>
          </a:p>
        </p:txBody>
      </p:sp>
      <p:sp>
        <p:nvSpPr>
          <p:cNvPr id="6" name="shape-94">
            <a:extLst xmlns:a="http://schemas.openxmlformats.org/drawingml/2006/main">
              <a:ext uri="{FF2B5EF4-FFF2-40B4-BE49-F238E27FC236}">
                <a16:creationId xmlns:a16="http://schemas.microsoft.com/office/drawing/2014/main" id="{A3EEFA69-8081-4BB1-9674-7230BFCEA2C3}"/>
              </a:ext>
            </a:extLst>
          </p:cNvPr>
          <p:cNvSpPr>
            <a:spLocks xmlns:a="http://schemas.openxmlformats.org/drawingml/2006/main" noGrp="1"/>
          </p:cNvSpPr>
          <p:nvPr/>
        </p:nvSpPr>
        <p:spPr>
          <a:xfrm xmlns:a="http://schemas.openxmlformats.org/drawingml/2006/main">
            <a:off x="647700" y="4067175"/>
            <a:ext cx="3000375" cy="685800"/>
          </a:xfrm>
          <a:prstGeom xmlns:a="http://schemas.openxmlformats.org/drawingml/2006/main" prst="rect">
            <a:avLst/>
          </a:prstGeom>
          <a:solidFill xmlns:a="http://schemas.openxmlformats.org/drawingml/2006/main">
            <a:srgbClr val="DCD4FA"/>
          </a:solidFill>
          <a:ln xmlns:a="http://schemas.openxmlformats.org/drawingml/2006/main" w="0">
            <a:noFill/>
          </a:ln>
        </p:spPr>
      </p:sp>
      <p:sp>
        <p:nvSpPr>
          <p:cNvPr id="7" name="text-95">
            <a:extLst xmlns:a="http://schemas.openxmlformats.org/drawingml/2006/main">
              <a:ext uri="{FF2B5EF4-FFF2-40B4-BE49-F238E27FC236}">
                <a16:creationId xmlns:a16="http://schemas.microsoft.com/office/drawing/2014/main" id="{1A9E8A5A-610A-4BC1-9C12-EFE3B045A8D2}"/>
              </a:ext>
            </a:extLst>
          </p:cNvPr>
          <p:cNvSpPr>
            <a:spLocks xmlns:a="http://schemas.openxmlformats.org/drawingml/2006/main" noGrp="1"/>
          </p:cNvSpPr>
          <p:nvPr/>
        </p:nvSpPr>
        <p:spPr>
          <a:xfrm xmlns:a="http://schemas.openxmlformats.org/drawingml/2006/main">
            <a:off x="819150" y="4200525"/>
            <a:ext cx="26574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E2852"/>
                </a:solidFill>
                <a:latin typeface="DejaVu Sans"/>
                <a:ea typeface="DejaVu Sans"/>
                <a:cs typeface="DejaVu Sans"/>
              </a:defRPr>
            </a:pPr>
            <a:r>
              <a:rPr sz="1875" b="1">
                <a:solidFill>
                  <a:srgbClr val="1E2852"/>
                </a:solidFill>
                <a:latin typeface="DejaVu Sans"/>
                <a:ea typeface="DejaVu Sans"/>
                <a:cs typeface="DejaVu Sans"/>
              </a:rPr>
              <a:t>Snapshot 102</a:t>
            </a:r>
          </a:p>
        </p:txBody>
      </p:sp>
      <p:sp>
        <p:nvSpPr>
          <p:cNvPr id="8" name="shape-96">
            <a:extLst xmlns:a="http://schemas.openxmlformats.org/drawingml/2006/main">
              <a:ext uri="{FF2B5EF4-FFF2-40B4-BE49-F238E27FC236}">
                <a16:creationId xmlns:a16="http://schemas.microsoft.com/office/drawing/2014/main" id="{11518D01-9FE6-4F62-B539-1116C43AE05F}"/>
              </a:ext>
            </a:extLst>
          </p:cNvPr>
          <p:cNvSpPr>
            <a:spLocks xmlns:a="http://schemas.openxmlformats.org/drawingml/2006/main" noGrp="1"/>
          </p:cNvSpPr>
          <p:nvPr/>
        </p:nvSpPr>
        <p:spPr>
          <a:xfrm xmlns:a="http://schemas.openxmlformats.org/drawingml/2006/main">
            <a:off x="4695825" y="1771650"/>
            <a:ext cx="6848475" cy="1476375"/>
          </a:xfrm>
          <a:prstGeom xmlns:a="http://schemas.openxmlformats.org/drawingml/2006/main" prst="rect">
            <a:avLst/>
          </a:prstGeom>
          <a:solidFill xmlns:a="http://schemas.openxmlformats.org/drawingml/2006/main">
            <a:srgbClr val="EDF3FF"/>
          </a:solidFill>
          <a:ln xmlns:a="http://schemas.openxmlformats.org/drawingml/2006/main" w="0">
            <a:noFill/>
          </a:ln>
        </p:spPr>
      </p:sp>
      <p:sp>
        <p:nvSpPr>
          <p:cNvPr id="9" name="shape-97">
            <a:extLst xmlns:a="http://schemas.openxmlformats.org/drawingml/2006/main">
              <a:ext uri="{FF2B5EF4-FFF2-40B4-BE49-F238E27FC236}">
                <a16:creationId xmlns:a16="http://schemas.microsoft.com/office/drawing/2014/main" id="{324FD9E4-B017-4E30-BE3A-8039EF3E7F2E}"/>
              </a:ext>
            </a:extLst>
          </p:cNvPr>
          <p:cNvSpPr>
            <a:spLocks xmlns:a="http://schemas.openxmlformats.org/drawingml/2006/main" noGrp="1"/>
          </p:cNvSpPr>
          <p:nvPr/>
        </p:nvSpPr>
        <p:spPr>
          <a:xfrm xmlns:a="http://schemas.openxmlformats.org/drawingml/2006/main">
            <a:off x="4695825" y="3676650"/>
            <a:ext cx="6848475" cy="1476375"/>
          </a:xfrm>
          <a:prstGeom xmlns:a="http://schemas.openxmlformats.org/drawingml/2006/main" prst="rect">
            <a:avLst/>
          </a:prstGeom>
          <a:solidFill xmlns:a="http://schemas.openxmlformats.org/drawingml/2006/main">
            <a:srgbClr val="EDF3FF"/>
          </a:solidFill>
          <a:ln xmlns:a="http://schemas.openxmlformats.org/drawingml/2006/main" w="0">
            <a:noFill/>
          </a:ln>
        </p:spPr>
      </p:sp>
      <p:cxnSp>
        <p:nvCxnSpPr>
          <p:cNvPr id="35" name=""/>
          <p:cNvCxnSpPr>
            <a:stCxn xmlns:a="http://schemas.openxmlformats.org/drawingml/2006/main" id="4" idx="3"/>
            <a:endCxn xmlns:a="http://schemas.openxmlformats.org/drawingml/2006/main" id="8" idx="1"/>
          </p:cNvCxnSpPr>
          <p:nvPr/>
        </p:nvCxnSpPr>
        <p:spPr>
          <a:xfrm xmlns:a="http://schemas.openxmlformats.org/drawingml/2006/main">
            <a:off x="3648075" y="2505075"/>
            <a:ext cx="1047750" cy="4763"/>
          </a:xfrm>
          <a:prstGeom xmlns:a="http://schemas.openxmlformats.org/drawingml/2006/main" prst="bentConnector3">
            <a:avLst>
              <a:gd name="adj1" fmla="val 50000"/>
            </a:avLst>
          </a:prstGeom>
          <a:ln xmlns:a="http://schemas.openxmlformats.org/drawingml/2006/main" w="23813">
            <a:solidFill>
              <a:srgbClr val="3858D6"/>
            </a:solidFill>
            <a:prstDash val="solid"/>
            <a:tailEnd type="triangle" w="sm" len="sm"/>
          </a:ln>
        </p:spPr>
      </p:cxnSp>
      <p:cxnSp>
        <p:nvCxnSpPr>
          <p:cNvPr id="36" name=""/>
          <p:cNvCxnSpPr>
            <a:stCxn xmlns:a="http://schemas.openxmlformats.org/drawingml/2006/main" id="6" idx="3"/>
            <a:endCxn xmlns:a="http://schemas.openxmlformats.org/drawingml/2006/main" id="9" idx="1"/>
          </p:cNvCxnSpPr>
          <p:nvPr/>
        </p:nvCxnSpPr>
        <p:spPr>
          <a:xfrm xmlns:a="http://schemas.openxmlformats.org/drawingml/2006/main">
            <a:off x="3648075" y="4410075"/>
            <a:ext cx="1047750" cy="4763"/>
          </a:xfrm>
          <a:prstGeom xmlns:a="http://schemas.openxmlformats.org/drawingml/2006/main" prst="bentConnector3">
            <a:avLst>
              <a:gd name="adj1" fmla="val 50000"/>
            </a:avLst>
          </a:prstGeom>
          <a:ln xmlns:a="http://schemas.openxmlformats.org/drawingml/2006/main" w="23813">
            <a:solidFill>
              <a:srgbClr val="3858D6"/>
            </a:solidFill>
            <a:prstDash val="solid"/>
            <a:tailEnd type="triangle" w="sm" len="sm"/>
          </a:ln>
        </p:spPr>
      </p:cxnSp>
      <p:sp>
        <p:nvSpPr>
          <p:cNvPr id="12" name="text-98">
            <a:extLst xmlns:a="http://schemas.openxmlformats.org/drawingml/2006/main">
              <a:ext uri="{FF2B5EF4-FFF2-40B4-BE49-F238E27FC236}">
                <a16:creationId xmlns:a16="http://schemas.microsoft.com/office/drawing/2014/main" id="{EFE849A6-75E9-4F03-BF12-1649064A51F1}"/>
              </a:ext>
            </a:extLst>
          </p:cNvPr>
          <p:cNvSpPr>
            <a:spLocks xmlns:a="http://schemas.openxmlformats.org/drawingml/2006/main" noGrp="1"/>
          </p:cNvSpPr>
          <p:nvPr/>
        </p:nvSpPr>
        <p:spPr>
          <a:xfrm xmlns:a="http://schemas.openxmlformats.org/drawingml/2006/main">
            <a:off x="4867275" y="1838325"/>
            <a:ext cx="638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482"/>
                </a:solidFill>
                <a:latin typeface="DejaVu Sans"/>
                <a:ea typeface="DejaVu Sans"/>
                <a:cs typeface="DejaVu Sans"/>
              </a:defRPr>
            </a:pPr>
            <a:r>
              <a:rPr sz="1875" b="0">
                <a:solidFill>
                  <a:srgbClr val="5A6482"/>
                </a:solidFill>
                <a:latin typeface="DejaVu Sans"/>
                <a:ea typeface="DejaVu Sans"/>
                <a:cs typeface="DejaVu Sans"/>
              </a:rPr>
              <a:t>Manifest list · S101</a:t>
            </a:r>
          </a:p>
        </p:txBody>
      </p:sp>
      <p:sp>
        <p:nvSpPr>
          <p:cNvPr id="13" name="text-99">
            <a:extLst xmlns:a="http://schemas.openxmlformats.org/drawingml/2006/main">
              <a:ext uri="{FF2B5EF4-FFF2-40B4-BE49-F238E27FC236}">
                <a16:creationId xmlns:a16="http://schemas.microsoft.com/office/drawing/2014/main" id="{193C9F64-1FF1-4128-BA7E-3C7313458E29}"/>
              </a:ext>
            </a:extLst>
          </p:cNvPr>
          <p:cNvSpPr>
            <a:spLocks xmlns:a="http://schemas.openxmlformats.org/drawingml/2006/main" noGrp="1"/>
          </p:cNvSpPr>
          <p:nvPr/>
        </p:nvSpPr>
        <p:spPr>
          <a:xfrm xmlns:a="http://schemas.openxmlformats.org/drawingml/2006/main">
            <a:off x="4867275" y="3743325"/>
            <a:ext cx="638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482"/>
                </a:solidFill>
                <a:latin typeface="DejaVu Sans"/>
                <a:ea typeface="DejaVu Sans"/>
                <a:cs typeface="DejaVu Sans"/>
              </a:defRPr>
            </a:pPr>
            <a:r>
              <a:rPr sz="1875" b="0">
                <a:solidFill>
                  <a:srgbClr val="5A6482"/>
                </a:solidFill>
                <a:latin typeface="DejaVu Sans"/>
                <a:ea typeface="DejaVu Sans"/>
                <a:cs typeface="DejaVu Sans"/>
              </a:rPr>
              <a:t>Manifest list · S102</a:t>
            </a:r>
          </a:p>
        </p:txBody>
      </p:sp>
      <p:sp>
        <p:nvSpPr>
          <p:cNvPr id="14" name="shape-100">
            <a:extLst xmlns:a="http://schemas.openxmlformats.org/drawingml/2006/main">
              <a:ext uri="{FF2B5EF4-FFF2-40B4-BE49-F238E27FC236}">
                <a16:creationId xmlns:a16="http://schemas.microsoft.com/office/drawing/2014/main" id="{45AEC227-EA46-46F4-92B8-A7F33E2C0353}"/>
              </a:ext>
            </a:extLst>
          </p:cNvPr>
          <p:cNvSpPr>
            <a:spLocks xmlns:a="http://schemas.openxmlformats.org/drawingml/2006/main" noGrp="1"/>
          </p:cNvSpPr>
          <p:nvPr/>
        </p:nvSpPr>
        <p:spPr>
          <a:xfrm xmlns:a="http://schemas.openxmlformats.org/drawingml/2006/main">
            <a:off x="4953000" y="2343150"/>
            <a:ext cx="1714500" cy="6000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5" name="text-101">
            <a:extLst xmlns:a="http://schemas.openxmlformats.org/drawingml/2006/main">
              <a:ext uri="{FF2B5EF4-FFF2-40B4-BE49-F238E27FC236}">
                <a16:creationId xmlns:a16="http://schemas.microsoft.com/office/drawing/2014/main" id="{B0EE68FE-B475-4487-B3B9-D9F1A4EA608C}"/>
              </a:ext>
            </a:extLst>
          </p:cNvPr>
          <p:cNvSpPr>
            <a:spLocks xmlns:a="http://schemas.openxmlformats.org/drawingml/2006/main" noGrp="1"/>
          </p:cNvSpPr>
          <p:nvPr/>
        </p:nvSpPr>
        <p:spPr>
          <a:xfrm xmlns:a="http://schemas.openxmlformats.org/drawingml/2006/main">
            <a:off x="5124450" y="2476500"/>
            <a:ext cx="1371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E2852"/>
                </a:solidFill>
                <a:latin typeface="DejaVu Sans"/>
                <a:ea typeface="DejaVu Sans"/>
                <a:cs typeface="DejaVu Sans"/>
              </a:defRPr>
            </a:pPr>
            <a:r>
              <a:rPr sz="2025" b="1">
                <a:solidFill>
                  <a:srgbClr val="1E2852"/>
                </a:solidFill>
                <a:latin typeface="DejaVu Sans"/>
                <a:ea typeface="DejaVu Sans"/>
                <a:cs typeface="DejaVu Sans"/>
              </a:rPr>
              <a:t>M1</a:t>
            </a:r>
          </a:p>
        </p:txBody>
      </p:sp>
      <p:sp>
        <p:nvSpPr>
          <p:cNvPr id="16" name="shape-102">
            <a:extLst xmlns:a="http://schemas.openxmlformats.org/drawingml/2006/main">
              <a:ext uri="{FF2B5EF4-FFF2-40B4-BE49-F238E27FC236}">
                <a16:creationId xmlns:a16="http://schemas.microsoft.com/office/drawing/2014/main" id="{5E6E594E-BD55-47DC-9054-6A0E3CC5B141}"/>
              </a:ext>
            </a:extLst>
          </p:cNvPr>
          <p:cNvSpPr>
            <a:spLocks xmlns:a="http://schemas.openxmlformats.org/drawingml/2006/main" noGrp="1"/>
          </p:cNvSpPr>
          <p:nvPr/>
        </p:nvSpPr>
        <p:spPr>
          <a:xfrm xmlns:a="http://schemas.openxmlformats.org/drawingml/2006/main">
            <a:off x="7048500" y="2343150"/>
            <a:ext cx="1714500" cy="6000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7" name="text-103">
            <a:extLst xmlns:a="http://schemas.openxmlformats.org/drawingml/2006/main">
              <a:ext uri="{FF2B5EF4-FFF2-40B4-BE49-F238E27FC236}">
                <a16:creationId xmlns:a16="http://schemas.microsoft.com/office/drawing/2014/main" id="{8953CD0C-2946-433D-AC10-E87566206750}"/>
              </a:ext>
            </a:extLst>
          </p:cNvPr>
          <p:cNvSpPr>
            <a:spLocks xmlns:a="http://schemas.openxmlformats.org/drawingml/2006/main" noGrp="1"/>
          </p:cNvSpPr>
          <p:nvPr/>
        </p:nvSpPr>
        <p:spPr>
          <a:xfrm xmlns:a="http://schemas.openxmlformats.org/drawingml/2006/main">
            <a:off x="7219950" y="2476500"/>
            <a:ext cx="1371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E2852"/>
                </a:solidFill>
                <a:latin typeface="DejaVu Sans"/>
                <a:ea typeface="DejaVu Sans"/>
                <a:cs typeface="DejaVu Sans"/>
              </a:defRPr>
            </a:pPr>
            <a:r>
              <a:rPr sz="2025" b="1">
                <a:solidFill>
                  <a:srgbClr val="1E2852"/>
                </a:solidFill>
                <a:latin typeface="DejaVu Sans"/>
                <a:ea typeface="DejaVu Sans"/>
                <a:cs typeface="DejaVu Sans"/>
              </a:rPr>
              <a:t>M2</a:t>
            </a:r>
          </a:p>
        </p:txBody>
      </p:sp>
      <p:sp>
        <p:nvSpPr>
          <p:cNvPr id="18" name="shape-104">
            <a:extLst xmlns:a="http://schemas.openxmlformats.org/drawingml/2006/main">
              <a:ext uri="{FF2B5EF4-FFF2-40B4-BE49-F238E27FC236}">
                <a16:creationId xmlns:a16="http://schemas.microsoft.com/office/drawing/2014/main" id="{980CAABF-5E93-44EB-8F3A-C5000B355510}"/>
              </a:ext>
            </a:extLst>
          </p:cNvPr>
          <p:cNvSpPr>
            <a:spLocks xmlns:a="http://schemas.openxmlformats.org/drawingml/2006/main" noGrp="1"/>
          </p:cNvSpPr>
          <p:nvPr/>
        </p:nvSpPr>
        <p:spPr>
          <a:xfrm xmlns:a="http://schemas.openxmlformats.org/drawingml/2006/main">
            <a:off x="4953000" y="4248150"/>
            <a:ext cx="1714500" cy="6000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text-105">
            <a:extLst xmlns:a="http://schemas.openxmlformats.org/drawingml/2006/main">
              <a:ext uri="{FF2B5EF4-FFF2-40B4-BE49-F238E27FC236}">
                <a16:creationId xmlns:a16="http://schemas.microsoft.com/office/drawing/2014/main" id="{3B520F0B-5626-4A0A-B8FA-BA8F0278000B}"/>
              </a:ext>
            </a:extLst>
          </p:cNvPr>
          <p:cNvSpPr>
            <a:spLocks xmlns:a="http://schemas.openxmlformats.org/drawingml/2006/main" noGrp="1"/>
          </p:cNvSpPr>
          <p:nvPr/>
        </p:nvSpPr>
        <p:spPr>
          <a:xfrm xmlns:a="http://schemas.openxmlformats.org/drawingml/2006/main">
            <a:off x="5124450" y="4381500"/>
            <a:ext cx="1371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E2852"/>
                </a:solidFill>
                <a:latin typeface="DejaVu Sans"/>
                <a:ea typeface="DejaVu Sans"/>
                <a:cs typeface="DejaVu Sans"/>
              </a:defRPr>
            </a:pPr>
            <a:r>
              <a:rPr sz="2025" b="1">
                <a:solidFill>
                  <a:srgbClr val="1E2852"/>
                </a:solidFill>
                <a:latin typeface="DejaVu Sans"/>
                <a:ea typeface="DejaVu Sans"/>
                <a:cs typeface="DejaVu Sans"/>
              </a:rPr>
              <a:t>M1</a:t>
            </a:r>
          </a:p>
        </p:txBody>
      </p:sp>
      <p:sp>
        <p:nvSpPr>
          <p:cNvPr id="20" name="shape-106">
            <a:extLst xmlns:a="http://schemas.openxmlformats.org/drawingml/2006/main">
              <a:ext uri="{FF2B5EF4-FFF2-40B4-BE49-F238E27FC236}">
                <a16:creationId xmlns:a16="http://schemas.microsoft.com/office/drawing/2014/main" id="{6AE9CE29-9124-448D-85D5-CB3E1572C223}"/>
              </a:ext>
            </a:extLst>
          </p:cNvPr>
          <p:cNvSpPr>
            <a:spLocks xmlns:a="http://schemas.openxmlformats.org/drawingml/2006/main" noGrp="1"/>
          </p:cNvSpPr>
          <p:nvPr/>
        </p:nvSpPr>
        <p:spPr>
          <a:xfrm xmlns:a="http://schemas.openxmlformats.org/drawingml/2006/main">
            <a:off x="7048500" y="4248150"/>
            <a:ext cx="1714500" cy="6000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1" name="text-107">
            <a:extLst xmlns:a="http://schemas.openxmlformats.org/drawingml/2006/main">
              <a:ext uri="{FF2B5EF4-FFF2-40B4-BE49-F238E27FC236}">
                <a16:creationId xmlns:a16="http://schemas.microsoft.com/office/drawing/2014/main" id="{2A80B44B-2659-4A18-A3A7-D5F709FB27B8}"/>
              </a:ext>
            </a:extLst>
          </p:cNvPr>
          <p:cNvSpPr>
            <a:spLocks xmlns:a="http://schemas.openxmlformats.org/drawingml/2006/main" noGrp="1"/>
          </p:cNvSpPr>
          <p:nvPr/>
        </p:nvSpPr>
        <p:spPr>
          <a:xfrm xmlns:a="http://schemas.openxmlformats.org/drawingml/2006/main">
            <a:off x="7219950" y="4381500"/>
            <a:ext cx="1371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E2852"/>
                </a:solidFill>
                <a:latin typeface="DejaVu Sans"/>
                <a:ea typeface="DejaVu Sans"/>
                <a:cs typeface="DejaVu Sans"/>
              </a:defRPr>
            </a:pPr>
            <a:r>
              <a:rPr sz="2025" b="1">
                <a:solidFill>
                  <a:srgbClr val="1E2852"/>
                </a:solidFill>
                <a:latin typeface="DejaVu Sans"/>
                <a:ea typeface="DejaVu Sans"/>
                <a:cs typeface="DejaVu Sans"/>
              </a:rPr>
              <a:t>M2</a:t>
            </a:r>
          </a:p>
        </p:txBody>
      </p:sp>
      <p:sp>
        <p:nvSpPr>
          <p:cNvPr id="22" name="shape-108">
            <a:extLst xmlns:a="http://schemas.openxmlformats.org/drawingml/2006/main">
              <a:ext uri="{FF2B5EF4-FFF2-40B4-BE49-F238E27FC236}">
                <a16:creationId xmlns:a16="http://schemas.microsoft.com/office/drawing/2014/main" id="{88E57ACD-EA21-406F-B38B-05DD63BBE1BD}"/>
              </a:ext>
            </a:extLst>
          </p:cNvPr>
          <p:cNvSpPr>
            <a:spLocks xmlns:a="http://schemas.openxmlformats.org/drawingml/2006/main" noGrp="1"/>
          </p:cNvSpPr>
          <p:nvPr/>
        </p:nvSpPr>
        <p:spPr>
          <a:xfrm xmlns:a="http://schemas.openxmlformats.org/drawingml/2006/main">
            <a:off x="9144000" y="4248150"/>
            <a:ext cx="2133600" cy="600075"/>
          </a:xfrm>
          <a:prstGeom xmlns:a="http://schemas.openxmlformats.org/drawingml/2006/main" prst="rect">
            <a:avLst/>
          </a:prstGeom>
          <a:solidFill xmlns:a="http://schemas.openxmlformats.org/drawingml/2006/main">
            <a:srgbClr val="DCD4FA"/>
          </a:solidFill>
          <a:ln xmlns:a="http://schemas.openxmlformats.org/drawingml/2006/main" w="0">
            <a:noFill/>
          </a:ln>
        </p:spPr>
      </p:sp>
      <p:sp>
        <p:nvSpPr>
          <p:cNvPr id="23" name="text-109">
            <a:extLst xmlns:a="http://schemas.openxmlformats.org/drawingml/2006/main">
              <a:ext uri="{FF2B5EF4-FFF2-40B4-BE49-F238E27FC236}">
                <a16:creationId xmlns:a16="http://schemas.microsoft.com/office/drawing/2014/main" id="{E5C6237E-AE89-4E5D-8F09-907BBE346495}"/>
              </a:ext>
            </a:extLst>
          </p:cNvPr>
          <p:cNvSpPr>
            <a:spLocks xmlns:a="http://schemas.openxmlformats.org/drawingml/2006/main" noGrp="1"/>
          </p:cNvSpPr>
          <p:nvPr/>
        </p:nvSpPr>
        <p:spPr>
          <a:xfrm xmlns:a="http://schemas.openxmlformats.org/drawingml/2006/main">
            <a:off x="9315450" y="4381500"/>
            <a:ext cx="1790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E2852"/>
                </a:solidFill>
                <a:latin typeface="DejaVu Sans"/>
                <a:ea typeface="DejaVu Sans"/>
                <a:cs typeface="DejaVu Sans"/>
              </a:defRPr>
            </a:pPr>
            <a:r>
              <a:rPr sz="2025" b="1">
                <a:solidFill>
                  <a:srgbClr val="1E2852"/>
                </a:solidFill>
                <a:latin typeface="DejaVu Sans"/>
                <a:ea typeface="DejaVu Sans"/>
                <a:cs typeface="DejaVu Sans"/>
              </a:rPr>
              <a:t>M3 · mới</a:t>
            </a:r>
          </a:p>
        </p:txBody>
      </p:sp>
      <p:sp>
        <p:nvSpPr>
          <p:cNvPr id="24" name="shape-110">
            <a:extLst xmlns:a="http://schemas.openxmlformats.org/drawingml/2006/main">
              <a:ext uri="{FF2B5EF4-FFF2-40B4-BE49-F238E27FC236}">
                <a16:creationId xmlns:a16="http://schemas.microsoft.com/office/drawing/2014/main" id="{6722161A-42F1-4331-8A2E-5AE0794DE020}"/>
              </a:ext>
            </a:extLst>
          </p:cNvPr>
          <p:cNvSpPr>
            <a:spLocks xmlns:a="http://schemas.openxmlformats.org/drawingml/2006/main" noGrp="1"/>
          </p:cNvSpPr>
          <p:nvPr/>
        </p:nvSpPr>
        <p:spPr>
          <a:xfrm xmlns:a="http://schemas.openxmlformats.org/drawingml/2006/main">
            <a:off x="647700" y="5629275"/>
            <a:ext cx="10896600" cy="552450"/>
          </a:xfrm>
          <a:prstGeom xmlns:a="http://schemas.openxmlformats.org/drawingml/2006/main" prst="rect">
            <a:avLst/>
          </a:prstGeom>
          <a:solidFill xmlns:a="http://schemas.openxmlformats.org/drawingml/2006/main">
            <a:srgbClr val="F3F0FF"/>
          </a:solidFill>
          <a:ln xmlns:a="http://schemas.openxmlformats.org/drawingml/2006/main" w="0">
            <a:noFill/>
          </a:ln>
        </p:spPr>
      </p:sp>
      <p:sp>
        <p:nvSpPr>
          <p:cNvPr id="25" name="text-111">
            <a:extLst xmlns:a="http://schemas.openxmlformats.org/drawingml/2006/main">
              <a:ext uri="{FF2B5EF4-FFF2-40B4-BE49-F238E27FC236}">
                <a16:creationId xmlns:a16="http://schemas.microsoft.com/office/drawing/2014/main" id="{DC1724DC-F346-4F1B-B8EC-20CA0A9BE7A7}"/>
              </a:ext>
            </a:extLst>
          </p:cNvPr>
          <p:cNvSpPr>
            <a:spLocks xmlns:a="http://schemas.openxmlformats.org/drawingml/2006/main" noGrp="1"/>
          </p:cNvSpPr>
          <p:nvPr/>
        </p:nvSpPr>
        <p:spPr>
          <a:xfrm xmlns:a="http://schemas.openxmlformats.org/drawingml/2006/main">
            <a:off x="819150" y="57435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6A"/>
                </a:solidFill>
                <a:latin typeface="DejaVu Sans"/>
                <a:ea typeface="DejaVu Sans"/>
                <a:cs typeface="DejaVu Sans"/>
              </a:defRPr>
            </a:pPr>
            <a:r>
              <a:rPr sz="1875" b="1">
                <a:solidFill>
                  <a:srgbClr val="202D6A"/>
                </a:solidFill>
                <a:latin typeface="DejaVu Sans"/>
                <a:ea typeface="DejaVu Sans"/>
                <a:cs typeface="DejaVu Sans"/>
              </a:rPr>
              <a:t>Chia nhỏ metadata giúp tái sử dụng, đọc song song và pruning.</a:t>
            </a:r>
          </a:p>
        </p:txBody>
      </p:sp>
    </p:spTree>
    <p:extLst>
      <p:ext uri="{BB962C8B-B14F-4D97-AF65-F5344CB8AC3E}">
        <p14:creationId xmlns:p14="http://schemas.microsoft.com/office/powerpoint/2010/main" val="171975244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112">
            <a:extLst xmlns:a="http://schemas.openxmlformats.org/drawingml/2006/main">
              <a:ext uri="{FF2B5EF4-FFF2-40B4-BE49-F238E27FC236}">
                <a16:creationId xmlns:a16="http://schemas.microsoft.com/office/drawing/2014/main" id="{A279AEED-AD30-4404-AAF1-40831AEFC075}"/>
              </a:ext>
            </a:extLst>
          </p:cNvPr>
          <p:cNvSpPr>
            <a:spLocks xmlns:a="http://schemas.openxmlformats.org/drawingml/2006/main" noGrp="1"/>
          </p:cNvSpPr>
          <p:nvPr/>
        </p:nvSpPr>
        <p:spPr>
          <a:xfrm xmlns:a="http://schemas.openxmlformats.org/drawingml/2006/main">
            <a:off x="647700" y="4191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D6A"/>
                </a:solidFill>
                <a:latin typeface="DejaVu Sans"/>
                <a:ea typeface="DejaVu Sans"/>
                <a:cs typeface="DejaVu Sans"/>
              </a:defRPr>
            </a:pPr>
            <a:r>
              <a:rPr sz="3450" b="1">
                <a:solidFill>
                  <a:srgbClr val="202D6A"/>
                </a:solidFill>
                <a:latin typeface="DejaVu Sans"/>
                <a:ea typeface="DejaVu Sans"/>
                <a:cs typeface="DejaVu Sans"/>
              </a:rPr>
              <a:t>Pruning: loại bỏ trước khi đọc file</a:t>
            </a:r>
          </a:p>
        </p:txBody>
      </p:sp>
      <p:sp>
        <p:nvSpPr>
          <p:cNvPr id="2" name="line-113">
            <a:extLst xmlns:a="http://schemas.openxmlformats.org/drawingml/2006/main">
              <a:ext uri="{FF2B5EF4-FFF2-40B4-BE49-F238E27FC236}">
                <a16:creationId xmlns:a16="http://schemas.microsoft.com/office/drawing/2014/main" id="{13C633D9-3E90-4CC2-8F90-3A78C626D787}"/>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3" name="text-114">
            <a:extLst xmlns:a="http://schemas.openxmlformats.org/drawingml/2006/main">
              <a:ext uri="{FF2B5EF4-FFF2-40B4-BE49-F238E27FC236}">
                <a16:creationId xmlns:a16="http://schemas.microsoft.com/office/drawing/2014/main" id="{285EE63A-0B3A-4DD3-B294-75FBDBEB5BDF}"/>
              </a:ext>
            </a:extLst>
          </p:cNvPr>
          <p:cNvSpPr>
            <a:spLocks xmlns:a="http://schemas.openxmlformats.org/drawingml/2006/main" noGrp="1"/>
          </p:cNvSpPr>
          <p:nvPr/>
        </p:nvSpPr>
        <p:spPr>
          <a:xfrm xmlns:a="http://schemas.openxmlformats.org/drawingml/2006/main">
            <a:off x="11144250"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82"/>
                </a:solidFill>
                <a:latin typeface="DejaVu Sans"/>
                <a:ea typeface="DejaVu Sans"/>
                <a:cs typeface="DejaVu Sans"/>
              </a:defRPr>
            </a:pPr>
            <a:r>
              <a:rPr sz="1350" b="0">
                <a:solidFill>
                  <a:srgbClr val="5A6482"/>
                </a:solidFill>
                <a:latin typeface="DejaVu Sans"/>
                <a:ea typeface="DejaVu Sans"/>
                <a:cs typeface="DejaVu Sans"/>
              </a:rPr>
              <a:t>08</a:t>
            </a:r>
          </a:p>
        </p:txBody>
      </p:sp>
      <p:sp>
        <p:nvSpPr>
          <p:cNvPr id="4" name="text-115">
            <a:extLst xmlns:a="http://schemas.openxmlformats.org/drawingml/2006/main">
              <a:ext uri="{FF2B5EF4-FFF2-40B4-BE49-F238E27FC236}">
                <a16:creationId xmlns:a16="http://schemas.microsoft.com/office/drawing/2014/main" id="{D3984309-EC46-4DA2-8344-A78EEDCC9C0A}"/>
              </a:ext>
            </a:extLst>
          </p:cNvPr>
          <p:cNvSpPr>
            <a:spLocks xmlns:a="http://schemas.openxmlformats.org/drawingml/2006/main" noGrp="1"/>
          </p:cNvSpPr>
          <p:nvPr/>
        </p:nvSpPr>
        <p:spPr>
          <a:xfrm xmlns:a="http://schemas.openxmlformats.org/drawingml/2006/main">
            <a:off x="647700" y="1562100"/>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858D6"/>
                </a:solidFill>
                <a:latin typeface="DejaVu Sans"/>
                <a:ea typeface="DejaVu Sans"/>
                <a:cs typeface="DejaVu Sans"/>
              </a:defRPr>
            </a:pPr>
            <a:r>
              <a:rPr sz="2175" b="1">
                <a:solidFill>
                  <a:srgbClr val="3858D6"/>
                </a:solidFill>
                <a:latin typeface="DejaVu Sans"/>
                <a:ea typeface="DejaVu Sans"/>
                <a:cs typeface="DejaVu Sans"/>
              </a:rPr>
              <a:t>Truy vấn ngày 10/01 · partition days(event_time)</a:t>
            </a:r>
          </a:p>
        </p:txBody>
      </p:sp>
      <p:graphicFrame>
        <p:nvGraphicFramePr>
          <p:cNvPr id="15" name=""/>
          <p:cNvGraphicFramePr/>
          <p:nvPr/>
        </p:nvGraphicFramePr>
        <p:xfrm>
          <a:off xmlns:a="http://schemas.openxmlformats.org/drawingml/2006/main" x="647700" y="2190750"/>
          <a:ext xmlns:a="http://schemas.openxmlformats.org/drawingml/2006/main" cx="10896600" cy="1828800"/>
        </p:xfrm>
        <a:graphic xmlns:a="http://schemas.openxmlformats.org/drawingml/2006/main">
          <a:graphicData uri="http://schemas.openxmlformats.org/drawingml/2006/table">
            <a:tbl>
              <a:tblPr/>
              <a:tblGrid>
                <a:gridCol w="2066925"/>
                <a:gridCol w="2962275"/>
                <a:gridCol w="2962275"/>
                <a:gridCol w="2905125"/>
              </a:tblGrid>
              <a:tr h="609600">
                <a:tc>
                  <a:txBody>
                    <a:bodyPr/>
                    <a:lstStyle/>
                    <a:p>
                      <a:r>
                        <a:rPr sz="1875" b="1">
                          <a:solidFill>
                            <a:srgbClr val="FFFFFF"/>
                          </a:solidFill>
                          <a:latin typeface="DejaVu Sans"/>
                          <a:ea typeface="DejaVu Sans"/>
                          <a:cs typeface="DejaVu Sans"/>
                        </a:rPr>
                        <a:t>Manifest</a:t>
                      </a:r>
                    </a:p>
                  </a:txBody>
                  <a:tcPr marL="91440" marR="91440" marT="45720" marB="45720">
                    <a:solidFill>
                      <a:srgbClr val="202D6A"/>
                    </a:solidFill>
                  </a:tcPr>
                </a:tc>
                <a:tc>
                  <a:txBody>
                    <a:bodyPr/>
                    <a:lstStyle/>
                    <a:p>
                      <a:r>
                        <a:rPr sz="1875" b="1">
                          <a:solidFill>
                            <a:srgbClr val="FFFFFF"/>
                          </a:solidFill>
                          <a:latin typeface="DejaVu Sans"/>
                          <a:ea typeface="DejaVu Sans"/>
                          <a:cs typeface="DejaVu Sans"/>
                        </a:rPr>
                        <a:t>Partition thấp nhất</a:t>
                      </a:r>
                    </a:p>
                  </a:txBody>
                  <a:tcPr marL="91440" marR="91440" marT="45720" marB="45720">
                    <a:solidFill>
                      <a:srgbClr val="202D6A"/>
                    </a:solidFill>
                  </a:tcPr>
                </a:tc>
                <a:tc>
                  <a:txBody>
                    <a:bodyPr/>
                    <a:lstStyle/>
                    <a:p>
                      <a:r>
                        <a:rPr sz="1875" b="1">
                          <a:solidFill>
                            <a:srgbClr val="FFFFFF"/>
                          </a:solidFill>
                          <a:latin typeface="DejaVu Sans"/>
                          <a:ea typeface="DejaVu Sans"/>
                          <a:cs typeface="DejaVu Sans"/>
                        </a:rPr>
                        <a:t>Partition cao nhất</a:t>
                      </a:r>
                    </a:p>
                  </a:txBody>
                  <a:tcPr marL="91440" marR="91440" marT="45720" marB="45720">
                    <a:solidFill>
                      <a:srgbClr val="202D6A"/>
                    </a:solidFill>
                  </a:tcPr>
                </a:tc>
                <a:tc>
                  <a:txBody>
                    <a:bodyPr/>
                    <a:lstStyle/>
                    <a:p>
                      <a:r>
                        <a:rPr sz="1875" b="1">
                          <a:solidFill>
                            <a:srgbClr val="FFFFFF"/>
                          </a:solidFill>
                          <a:latin typeface="DejaVu Sans"/>
                          <a:ea typeface="DejaVu Sans"/>
                          <a:cs typeface="DejaVu Sans"/>
                        </a:rPr>
                        <a:t>Xử lý</a:t>
                      </a:r>
                    </a:p>
                  </a:txBody>
                  <a:tcPr marL="91440" marR="91440" marT="45720" marB="45720">
                    <a:solidFill>
                      <a:srgbClr val="202D6A"/>
                    </a:solidFill>
                  </a:tcPr>
                </a:tc>
              </a:tr>
              <a:tr h="609600">
                <a:tc>
                  <a:txBody>
                    <a:bodyPr/>
                    <a:lstStyle/>
                    <a:p>
                      <a:r>
                        <a:rPr sz="1875" b="0">
                          <a:solidFill>
                            <a:srgbClr val="1E2852"/>
                          </a:solidFill>
                          <a:latin typeface="DejaVu Sans"/>
                          <a:ea typeface="DejaVu Sans"/>
                          <a:cs typeface="DejaVu Sans"/>
                        </a:rPr>
                        <a:t>M1</a:t>
                      </a:r>
                    </a:p>
                  </a:txBody>
                  <a:tcPr marL="91440" marR="91440" marT="45720" marB="45720">
                    <a:solidFill>
                      <a:srgbClr val="F3F0FF"/>
                    </a:solidFill>
                  </a:tcPr>
                </a:tc>
                <a:tc>
                  <a:txBody>
                    <a:bodyPr/>
                    <a:lstStyle/>
                    <a:p>
                      <a:r>
                        <a:rPr sz="1875" b="0">
                          <a:solidFill>
                            <a:srgbClr val="1E2852"/>
                          </a:solidFill>
                          <a:latin typeface="DejaVu Sans"/>
                          <a:ea typeface="DejaVu Sans"/>
                          <a:cs typeface="DejaVu Sans"/>
                        </a:rPr>
                        <a:t>01/01</a:t>
                      </a:r>
                    </a:p>
                  </a:txBody>
                  <a:tcPr marL="91440" marR="91440" marT="45720" marB="45720">
                    <a:solidFill>
                      <a:srgbClr val="F3F0FF"/>
                    </a:solidFill>
                  </a:tcPr>
                </a:tc>
                <a:tc>
                  <a:txBody>
                    <a:bodyPr/>
                    <a:lstStyle/>
                    <a:p>
                      <a:r>
                        <a:rPr sz="1875" b="0">
                          <a:solidFill>
                            <a:srgbClr val="1E2852"/>
                          </a:solidFill>
                          <a:latin typeface="DejaVu Sans"/>
                          <a:ea typeface="DejaVu Sans"/>
                          <a:cs typeface="DejaVu Sans"/>
                        </a:rPr>
                        <a:t>03/01</a:t>
                      </a:r>
                    </a:p>
                  </a:txBody>
                  <a:tcPr marL="91440" marR="91440" marT="45720" marB="45720">
                    <a:solidFill>
                      <a:srgbClr val="F3F0FF"/>
                    </a:solidFill>
                  </a:tcPr>
                </a:tc>
                <a:tc>
                  <a:txBody>
                    <a:bodyPr/>
                    <a:lstStyle/>
                    <a:p>
                      <a:r>
                        <a:rPr sz="1875" b="0">
                          <a:solidFill>
                            <a:srgbClr val="1E2852"/>
                          </a:solidFill>
                          <a:latin typeface="DejaVu Sans"/>
                          <a:ea typeface="DejaVu Sans"/>
                          <a:cs typeface="DejaVu Sans"/>
                        </a:rPr>
                        <a:t>Bỏ qua</a:t>
                      </a:r>
                    </a:p>
                  </a:txBody>
                  <a:tcPr marL="91440" marR="91440" marT="45720" marB="45720">
                    <a:solidFill>
                      <a:srgbClr val="F3F0FF"/>
                    </a:solidFill>
                  </a:tcPr>
                </a:tc>
              </a:tr>
              <a:tr h="609600">
                <a:tc>
                  <a:txBody>
                    <a:bodyPr/>
                    <a:lstStyle/>
                    <a:p>
                      <a:r>
                        <a:rPr sz="1875" b="0">
                          <a:solidFill>
                            <a:srgbClr val="1E2852"/>
                          </a:solidFill>
                          <a:latin typeface="DejaVu Sans"/>
                          <a:ea typeface="DejaVu Sans"/>
                          <a:cs typeface="DejaVu Sans"/>
                        </a:rPr>
                        <a:t>M2</a:t>
                      </a:r>
                    </a:p>
                  </a:txBody>
                  <a:tcPr marL="91440" marR="91440" marT="45720" marB="45720">
                    <a:solidFill>
                      <a:srgbClr val="EDF3FF"/>
                    </a:solidFill>
                  </a:tcPr>
                </a:tc>
                <a:tc>
                  <a:txBody>
                    <a:bodyPr/>
                    <a:lstStyle/>
                    <a:p>
                      <a:r>
                        <a:rPr sz="1875" b="0">
                          <a:solidFill>
                            <a:srgbClr val="1E2852"/>
                          </a:solidFill>
                          <a:latin typeface="DejaVu Sans"/>
                          <a:ea typeface="DejaVu Sans"/>
                          <a:cs typeface="DejaVu Sans"/>
                        </a:rPr>
                        <a:t>10/01</a:t>
                      </a:r>
                    </a:p>
                  </a:txBody>
                  <a:tcPr marL="91440" marR="91440" marT="45720" marB="45720">
                    <a:solidFill>
                      <a:srgbClr val="EDF3FF"/>
                    </a:solidFill>
                  </a:tcPr>
                </a:tc>
                <a:tc>
                  <a:txBody>
                    <a:bodyPr/>
                    <a:lstStyle/>
                    <a:p>
                      <a:r>
                        <a:rPr sz="1875" b="0">
                          <a:solidFill>
                            <a:srgbClr val="1E2852"/>
                          </a:solidFill>
                          <a:latin typeface="DejaVu Sans"/>
                          <a:ea typeface="DejaVu Sans"/>
                          <a:cs typeface="DejaVu Sans"/>
                        </a:rPr>
                        <a:t>12/01</a:t>
                      </a:r>
                    </a:p>
                  </a:txBody>
                  <a:tcPr marL="91440" marR="91440" marT="45720" marB="45720">
                    <a:solidFill>
                      <a:srgbClr val="EDF3FF"/>
                    </a:solidFill>
                  </a:tcPr>
                </a:tc>
                <a:tc>
                  <a:txBody>
                    <a:bodyPr/>
                    <a:lstStyle/>
                    <a:p>
                      <a:r>
                        <a:rPr sz="1875" b="0">
                          <a:solidFill>
                            <a:srgbClr val="1E2852"/>
                          </a:solidFill>
                          <a:latin typeface="DejaVu Sans"/>
                          <a:ea typeface="DejaVu Sans"/>
                          <a:cs typeface="DejaVu Sans"/>
                        </a:rPr>
                        <a:t>Đọc manifest</a:t>
                      </a:r>
                    </a:p>
                  </a:txBody>
                  <a:tcPr marL="91440" marR="91440" marT="45720" marB="45720">
                    <a:solidFill>
                      <a:srgbClr val="EDF3FF"/>
                    </a:solidFill>
                  </a:tcPr>
                </a:tc>
              </a:tr>
            </a:tbl>
          </a:graphicData>
        </a:graphic>
      </p:graphicFrame>
      <p:sp>
        <p:nvSpPr>
          <p:cNvPr id="6" name="text-116">
            <a:extLst xmlns:a="http://schemas.openxmlformats.org/drawingml/2006/main">
              <a:ext uri="{FF2B5EF4-FFF2-40B4-BE49-F238E27FC236}">
                <a16:creationId xmlns:a16="http://schemas.microsoft.com/office/drawing/2014/main" id="{856CD986-2D73-4679-A460-1888B9C30494}"/>
              </a:ext>
            </a:extLst>
          </p:cNvPr>
          <p:cNvSpPr>
            <a:spLocks xmlns:a="http://schemas.openxmlformats.org/drawingml/2006/main" noGrp="1"/>
          </p:cNvSpPr>
          <p:nvPr/>
        </p:nvSpPr>
        <p:spPr>
          <a:xfrm xmlns:a="http://schemas.openxmlformats.org/drawingml/2006/main">
            <a:off x="647700" y="4286250"/>
            <a:ext cx="10896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D6A"/>
                </a:solidFill>
                <a:latin typeface="DejaVu Sans"/>
                <a:ea typeface="DejaVu Sans"/>
                <a:cs typeface="DejaVu Sans"/>
              </a:defRPr>
            </a:pPr>
            <a:r>
              <a:rPr sz="2175" b="1">
                <a:solidFill>
                  <a:srgbClr val="202D6A"/>
                </a:solidFill>
                <a:latin typeface="DejaVu Sans"/>
                <a:ea typeface="DejaVu Sans"/>
                <a:cs typeface="DejaVu Sans"/>
              </a:rPr>
              <a:t>Nếu thêm điều kiện amount &gt; 1.000</a:t>
            </a:r>
          </a:p>
        </p:txBody>
      </p:sp>
      <p:sp>
        <p:nvSpPr>
          <p:cNvPr id="7" name="text-117">
            <a:extLst xmlns:a="http://schemas.openxmlformats.org/drawingml/2006/main">
              <a:ext uri="{FF2B5EF4-FFF2-40B4-BE49-F238E27FC236}">
                <a16:creationId xmlns:a16="http://schemas.microsoft.com/office/drawing/2014/main" id="{7DA623BE-7D4C-4FE9-9C01-67F59FE16397}"/>
              </a:ext>
            </a:extLst>
          </p:cNvPr>
          <p:cNvSpPr>
            <a:spLocks xmlns:a="http://schemas.openxmlformats.org/drawingml/2006/main" noGrp="1"/>
          </p:cNvSpPr>
          <p:nvPr/>
        </p:nvSpPr>
        <p:spPr>
          <a:xfrm xmlns:a="http://schemas.openxmlformats.org/drawingml/2006/main">
            <a:off x="647700" y="4867275"/>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A6482"/>
                </a:solidFill>
                <a:latin typeface="DejaVu Sans"/>
                <a:ea typeface="DejaVu Sans"/>
                <a:cs typeface="DejaVu Sans"/>
              </a:defRPr>
            </a:pPr>
            <a:r>
              <a:rPr sz="2025" b="0">
                <a:solidFill>
                  <a:srgbClr val="5A6482"/>
                </a:solidFill>
                <a:latin typeface="DejaVu Sans"/>
                <a:ea typeface="DejaVu Sans"/>
                <a:cs typeface="DejaVu Sans"/>
              </a:rPr>
              <a:t>File A: [100, 500]  →  bỏ qua</a:t>
            </a:r>
          </a:p>
        </p:txBody>
      </p:sp>
      <p:sp>
        <p:nvSpPr>
          <p:cNvPr id="8" name="text-118">
            <a:extLst xmlns:a="http://schemas.openxmlformats.org/drawingml/2006/main">
              <a:ext uri="{FF2B5EF4-FFF2-40B4-BE49-F238E27FC236}">
                <a16:creationId xmlns:a16="http://schemas.microsoft.com/office/drawing/2014/main" id="{F07C3E1E-08FE-4895-8749-3769EC0EFAA7}"/>
              </a:ext>
            </a:extLst>
          </p:cNvPr>
          <p:cNvSpPr>
            <a:spLocks xmlns:a="http://schemas.openxmlformats.org/drawingml/2006/main" noGrp="1"/>
          </p:cNvSpPr>
          <p:nvPr/>
        </p:nvSpPr>
        <p:spPr>
          <a:xfrm xmlns:a="http://schemas.openxmlformats.org/drawingml/2006/main">
            <a:off x="6343650" y="4867275"/>
            <a:ext cx="5200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858D6"/>
                </a:solidFill>
                <a:latin typeface="DejaVu Sans"/>
                <a:ea typeface="DejaVu Sans"/>
                <a:cs typeface="DejaVu Sans"/>
              </a:defRPr>
            </a:pPr>
            <a:r>
              <a:rPr sz="2025" b="1">
                <a:solidFill>
                  <a:srgbClr val="3858D6"/>
                </a:solidFill>
                <a:latin typeface="DejaVu Sans"/>
                <a:ea typeface="DejaVu Sans"/>
                <a:cs typeface="DejaVu Sans"/>
              </a:rPr>
              <a:t>File B: [800, 1.500]  →  cần đọc</a:t>
            </a:r>
          </a:p>
        </p:txBody>
      </p:sp>
      <p:sp>
        <p:nvSpPr>
          <p:cNvPr id="9" name="shape-119">
            <a:extLst xmlns:a="http://schemas.openxmlformats.org/drawingml/2006/main">
              <a:ext uri="{FF2B5EF4-FFF2-40B4-BE49-F238E27FC236}">
                <a16:creationId xmlns:a16="http://schemas.microsoft.com/office/drawing/2014/main" id="{72F3F78F-98ED-468A-B38C-EB2C8E836120}"/>
              </a:ext>
            </a:extLst>
          </p:cNvPr>
          <p:cNvSpPr>
            <a:spLocks xmlns:a="http://schemas.openxmlformats.org/drawingml/2006/main" noGrp="1"/>
          </p:cNvSpPr>
          <p:nvPr/>
        </p:nvSpPr>
        <p:spPr>
          <a:xfrm xmlns:a="http://schemas.openxmlformats.org/drawingml/2006/main">
            <a:off x="647700" y="5629275"/>
            <a:ext cx="10896600" cy="552450"/>
          </a:xfrm>
          <a:prstGeom xmlns:a="http://schemas.openxmlformats.org/drawingml/2006/main" prst="rect">
            <a:avLst/>
          </a:prstGeom>
          <a:solidFill xmlns:a="http://schemas.openxmlformats.org/drawingml/2006/main">
            <a:srgbClr val="F3F0FF"/>
          </a:solidFill>
          <a:ln xmlns:a="http://schemas.openxmlformats.org/drawingml/2006/main" w="0">
            <a:noFill/>
          </a:ln>
        </p:spPr>
      </p:sp>
      <p:sp>
        <p:nvSpPr>
          <p:cNvPr id="10" name="text-120">
            <a:extLst xmlns:a="http://schemas.openxmlformats.org/drawingml/2006/main">
              <a:ext uri="{FF2B5EF4-FFF2-40B4-BE49-F238E27FC236}">
                <a16:creationId xmlns:a16="http://schemas.microsoft.com/office/drawing/2014/main" id="{BB482EB1-A7F7-4D57-BEE9-353455D1CA6D}"/>
              </a:ext>
            </a:extLst>
          </p:cNvPr>
          <p:cNvSpPr>
            <a:spLocks xmlns:a="http://schemas.openxmlformats.org/drawingml/2006/main" noGrp="1"/>
          </p:cNvSpPr>
          <p:nvPr/>
        </p:nvSpPr>
        <p:spPr>
          <a:xfrm xmlns:a="http://schemas.openxmlformats.org/drawingml/2006/main">
            <a:off x="819150" y="57435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6A"/>
                </a:solidFill>
                <a:latin typeface="DejaVu Sans"/>
                <a:ea typeface="DejaVu Sans"/>
                <a:cs typeface="DejaVu Sans"/>
              </a:defRPr>
            </a:pPr>
            <a:r>
              <a:rPr sz="1875" b="1">
                <a:solidFill>
                  <a:srgbClr val="202D6A"/>
                </a:solidFill>
                <a:latin typeface="DejaVu Sans"/>
                <a:ea typeface="DejaVu Sans"/>
                <a:cs typeface="DejaVu Sans"/>
              </a:rPr>
              <a:t>Partition summary lọc manifest; thống kê cột lọc data file.</a:t>
            </a:r>
          </a:p>
        </p:txBody>
      </p:sp>
    </p:spTree>
    <p:extLst>
      <p:ext uri="{BB962C8B-B14F-4D97-AF65-F5344CB8AC3E}">
        <p14:creationId xmlns:p14="http://schemas.microsoft.com/office/powerpoint/2010/main" val="1861463026"/>
      </p:ext>
    </p:extLst>
  </p:cSld>
</p:sld>
</file>

<file path=ppt/slides/slide9.xml><?xml version="1.0" encoding="utf-8"?>
<p:sld xmlns:p="http://schemas.openxmlformats.org/presentationml/2006/main">
  <p:cSld>
    <p:bg>
      <p:bgPr>
        <a:solidFill xmlns:a="http://schemas.openxmlformats.org/drawingml/2006/main">
          <a:srgbClr val="F3F0FF"/>
        </a:solidFill>
      </p:bgPr>
    </p:bg>
    <p:spTree>
      <p:nvGrpSpPr>
        <p:cNvPr id="1" name=""/>
        <p:cNvGrpSpPr/>
        <p:nvPr/>
      </p:nvGrpSpPr>
      <p:grpSpPr>
        <a:xfrm xmlns:a="http://schemas.openxmlformats.org/drawingml/2006/main"/>
      </p:grpSpPr>
      <p:sp>
        <p:nvSpPr>
          <p:cNvPr id="12" name="text-121">
            <a:extLst xmlns:a="http://schemas.openxmlformats.org/drawingml/2006/main">
              <a:ext uri="{FF2B5EF4-FFF2-40B4-BE49-F238E27FC236}">
                <a16:creationId xmlns:a16="http://schemas.microsoft.com/office/drawing/2014/main" id="{21C21E9B-B59B-4C08-B131-D2580D8818FC}"/>
              </a:ext>
            </a:extLst>
          </p:cNvPr>
          <p:cNvSpPr>
            <a:spLocks xmlns:a="http://schemas.openxmlformats.org/drawingml/2006/main" noGrp="1"/>
          </p:cNvSpPr>
          <p:nvPr/>
        </p:nvSpPr>
        <p:spPr>
          <a:xfrm xmlns:a="http://schemas.openxmlformats.org/drawingml/2006/main">
            <a:off x="647700" y="4191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D6A"/>
                </a:solidFill>
                <a:latin typeface="DejaVu Sans"/>
                <a:ea typeface="DejaVu Sans"/>
                <a:cs typeface="DejaVu Sans"/>
              </a:defRPr>
            </a:pPr>
            <a:r>
              <a:rPr sz="3450" b="1">
                <a:solidFill>
                  <a:srgbClr val="202D6A"/>
                </a:solidFill>
                <a:latin typeface="DejaVu Sans"/>
                <a:ea typeface="DejaVu Sans"/>
                <a:cs typeface="DejaVu Sans"/>
              </a:rPr>
              <a:t>Delete files đánh dấu dòng đã xóa</a:t>
            </a:r>
          </a:p>
        </p:txBody>
      </p:sp>
      <p:sp>
        <p:nvSpPr>
          <p:cNvPr id="2" name="line-122">
            <a:extLst xmlns:a="http://schemas.openxmlformats.org/drawingml/2006/main">
              <a:ext uri="{FF2B5EF4-FFF2-40B4-BE49-F238E27FC236}">
                <a16:creationId xmlns:a16="http://schemas.microsoft.com/office/drawing/2014/main" id="{B6FD8B5C-B9D6-4520-AEAD-D66DA6A5DEE3}"/>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3" name="text-123">
            <a:extLst xmlns:a="http://schemas.openxmlformats.org/drawingml/2006/main">
              <a:ext uri="{FF2B5EF4-FFF2-40B4-BE49-F238E27FC236}">
                <a16:creationId xmlns:a16="http://schemas.microsoft.com/office/drawing/2014/main" id="{2101D039-5143-461D-A747-55B7A85B0AB7}"/>
              </a:ext>
            </a:extLst>
          </p:cNvPr>
          <p:cNvSpPr>
            <a:spLocks xmlns:a="http://schemas.openxmlformats.org/drawingml/2006/main" noGrp="1"/>
          </p:cNvSpPr>
          <p:nvPr/>
        </p:nvSpPr>
        <p:spPr>
          <a:xfrm xmlns:a="http://schemas.openxmlformats.org/drawingml/2006/main">
            <a:off x="11144250"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82"/>
                </a:solidFill>
                <a:latin typeface="DejaVu Sans"/>
                <a:ea typeface="DejaVu Sans"/>
                <a:cs typeface="DejaVu Sans"/>
              </a:defRPr>
            </a:pPr>
            <a:r>
              <a:rPr sz="1350" b="0">
                <a:solidFill>
                  <a:srgbClr val="5A6482"/>
                </a:solidFill>
                <a:latin typeface="DejaVu Sans"/>
                <a:ea typeface="DejaVu Sans"/>
                <a:cs typeface="DejaVu Sans"/>
              </a:rPr>
              <a:t>09</a:t>
            </a:r>
          </a:p>
        </p:txBody>
      </p:sp>
      <p:sp>
        <p:nvSpPr>
          <p:cNvPr id="4" name="text-124">
            <a:extLst xmlns:a="http://schemas.openxmlformats.org/drawingml/2006/main">
              <a:ext uri="{FF2B5EF4-FFF2-40B4-BE49-F238E27FC236}">
                <a16:creationId xmlns:a16="http://schemas.microsoft.com/office/drawing/2014/main" id="{C30B7606-E215-428E-ACEE-BBD71021279B}"/>
              </a:ext>
            </a:extLst>
          </p:cNvPr>
          <p:cNvSpPr>
            <a:spLocks xmlns:a="http://schemas.openxmlformats.org/drawingml/2006/main" noGrp="1"/>
          </p:cNvSpPr>
          <p:nvPr/>
        </p:nvSpPr>
        <p:spPr>
          <a:xfrm xmlns:a="http://schemas.openxmlformats.org/drawingml/2006/main">
            <a:off x="647700" y="1704975"/>
            <a:ext cx="4810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3858D6"/>
                </a:solidFill>
                <a:latin typeface="DejaVu Sans"/>
                <a:ea typeface="DejaVu Sans"/>
                <a:cs typeface="DejaVu Sans"/>
              </a:defRPr>
            </a:pPr>
            <a:r>
              <a:rPr sz="2550" b="1">
                <a:solidFill>
                  <a:srgbClr val="3858D6"/>
                </a:solidFill>
                <a:latin typeface="DejaVu Sans"/>
                <a:ea typeface="DejaVu Sans"/>
                <a:cs typeface="DejaVu Sans"/>
              </a:rPr>
              <a:t>Position delete</a:t>
            </a:r>
          </a:p>
        </p:txBody>
      </p:sp>
      <p:graphicFrame>
        <p:nvGraphicFramePr>
          <p:cNvPr id="16" name=""/>
          <p:cNvGraphicFramePr/>
          <p:nvPr/>
        </p:nvGraphicFramePr>
        <p:xfrm>
          <a:off xmlns:a="http://schemas.openxmlformats.org/drawingml/2006/main" x="647700" y="2371725"/>
          <a:ext xmlns:a="http://schemas.openxmlformats.org/drawingml/2006/main" cx="4981575" cy="1238250"/>
        </p:xfrm>
        <a:graphic xmlns:a="http://schemas.openxmlformats.org/drawingml/2006/main">
          <a:graphicData uri="http://schemas.openxmlformats.org/drawingml/2006/table">
            <a:tbl>
              <a:tblPr/>
              <a:tblGrid>
                <a:gridCol w="3495675"/>
                <a:gridCol w="1485900"/>
              </a:tblGrid>
              <a:tr h="619125">
                <a:tc>
                  <a:txBody>
                    <a:bodyPr/>
                    <a:lstStyle/>
                    <a:p>
                      <a:r>
                        <a:rPr sz="1950" b="1">
                          <a:solidFill>
                            <a:srgbClr val="FFFFFF"/>
                          </a:solidFill>
                          <a:latin typeface="DejaVu Sans"/>
                          <a:ea typeface="DejaVu Sans"/>
                          <a:cs typeface="DejaVu Sans"/>
                        </a:rPr>
                        <a:t>file_path</a:t>
                      </a:r>
                    </a:p>
                  </a:txBody>
                  <a:tcPr marL="91440" marR="91440" marT="45720" marB="45720">
                    <a:solidFill>
                      <a:srgbClr val="202D6A"/>
                    </a:solidFill>
                  </a:tcPr>
                </a:tc>
                <a:tc>
                  <a:txBody>
                    <a:bodyPr/>
                    <a:lstStyle/>
                    <a:p>
                      <a:r>
                        <a:rPr sz="1950" b="1">
                          <a:solidFill>
                            <a:srgbClr val="FFFFFF"/>
                          </a:solidFill>
                          <a:latin typeface="DejaVu Sans"/>
                          <a:ea typeface="DejaVu Sans"/>
                          <a:cs typeface="DejaVu Sans"/>
                        </a:rPr>
                        <a:t>pos</a:t>
                      </a:r>
                    </a:p>
                  </a:txBody>
                  <a:tcPr marL="91440" marR="91440" marT="45720" marB="45720">
                    <a:solidFill>
                      <a:srgbClr val="202D6A"/>
                    </a:solidFill>
                  </a:tcPr>
                </a:tc>
              </a:tr>
              <a:tr h="619125">
                <a:tc>
                  <a:txBody>
                    <a:bodyPr/>
                    <a:lstStyle/>
                    <a:p>
                      <a:r>
                        <a:rPr sz="1950" b="0">
                          <a:solidFill>
                            <a:srgbClr val="1E2852"/>
                          </a:solidFill>
                          <a:latin typeface="DejaVu Sans"/>
                          <a:ea typeface="DejaVu Sans"/>
                          <a:cs typeface="DejaVu Sans"/>
                        </a:rPr>
                        <a:t>A.parquet</a:t>
                      </a:r>
                    </a:p>
                  </a:txBody>
                  <a:tcPr marL="91440" marR="91440" marT="45720" marB="45720">
                    <a:solidFill>
                      <a:srgbClr val="F3F0FF"/>
                    </a:solidFill>
                  </a:tcPr>
                </a:tc>
                <a:tc>
                  <a:txBody>
                    <a:bodyPr/>
                    <a:lstStyle/>
                    <a:p>
                      <a:r>
                        <a:rPr sz="1950" b="0">
                          <a:solidFill>
                            <a:srgbClr val="1E2852"/>
                          </a:solidFill>
                          <a:latin typeface="DejaVu Sans"/>
                          <a:ea typeface="DejaVu Sans"/>
                          <a:cs typeface="DejaVu Sans"/>
                        </a:rPr>
                        <a:t>1</a:t>
                      </a:r>
                    </a:p>
                  </a:txBody>
                  <a:tcPr marL="91440" marR="91440" marT="45720" marB="45720">
                    <a:solidFill>
                      <a:srgbClr val="F3F0FF"/>
                    </a:solidFill>
                  </a:tcPr>
                </a:tc>
              </a:tr>
            </a:tbl>
          </a:graphicData>
        </a:graphic>
      </p:graphicFrame>
      <p:sp>
        <p:nvSpPr>
          <p:cNvPr id="6" name="text-125">
            <a:extLst xmlns:a="http://schemas.openxmlformats.org/drawingml/2006/main">
              <a:ext uri="{FF2B5EF4-FFF2-40B4-BE49-F238E27FC236}">
                <a16:creationId xmlns:a16="http://schemas.microsoft.com/office/drawing/2014/main" id="{DE7211D6-FC97-41CA-A33F-3DD928677E8D}"/>
              </a:ext>
            </a:extLst>
          </p:cNvPr>
          <p:cNvSpPr>
            <a:spLocks xmlns:a="http://schemas.openxmlformats.org/drawingml/2006/main" noGrp="1"/>
          </p:cNvSpPr>
          <p:nvPr/>
        </p:nvSpPr>
        <p:spPr>
          <a:xfrm xmlns:a="http://schemas.openxmlformats.org/drawingml/2006/main">
            <a:off x="647700" y="3895725"/>
            <a:ext cx="49815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E2852"/>
                </a:solidFill>
                <a:latin typeface="DejaVu Sans"/>
                <a:ea typeface="DejaVu Sans"/>
                <a:cs typeface="DejaVu Sans"/>
              </a:defRPr>
            </a:pPr>
            <a:r>
              <a:rPr sz="2100" b="0">
                <a:solidFill>
                  <a:srgbClr val="1E2852"/>
                </a:solidFill>
                <a:latin typeface="DejaVu Sans"/>
                <a:ea typeface="DejaVu Sans"/>
                <a:cs typeface="DejaVu Sans"/>
              </a:rPr>
              <a:t>Xóa dòng tại vị trí 1 của A.parquet.</a:t>
            </a:r>
          </a:p>
          <a:p xmlns:a="http://schemas.openxmlformats.org/drawingml/2006/main">
            <a:pPr>
              <a:defRPr sz="2100" b="0">
                <a:solidFill>
                  <a:srgbClr val="1E2852"/>
                </a:solidFill>
                <a:latin typeface="DejaVu Sans"/>
                <a:ea typeface="DejaVu Sans"/>
                <a:cs typeface="DejaVu Sans"/>
              </a:defRPr>
            </a:pPr>
            <a:r>
              <a:rPr sz="2100" b="0">
                <a:solidFill>
                  <a:srgbClr val="1E2852"/>
                </a:solidFill>
                <a:latin typeface="DejaVu Sans"/>
                <a:ea typeface="DejaVu Sans"/>
                <a:cs typeface="DejaVu Sans"/>
              </a:rPr>
              <a:t>Vị trí bắt đầu từ 0.</a:t>
            </a:r>
          </a:p>
        </p:txBody>
      </p:sp>
      <p:sp>
        <p:nvSpPr>
          <p:cNvPr id="7" name="text-126">
            <a:extLst xmlns:a="http://schemas.openxmlformats.org/drawingml/2006/main">
              <a:ext uri="{FF2B5EF4-FFF2-40B4-BE49-F238E27FC236}">
                <a16:creationId xmlns:a16="http://schemas.microsoft.com/office/drawing/2014/main" id="{81BF07E4-0F09-4452-8B6B-795090D325DF}"/>
              </a:ext>
            </a:extLst>
          </p:cNvPr>
          <p:cNvSpPr>
            <a:spLocks xmlns:a="http://schemas.openxmlformats.org/drawingml/2006/main" noGrp="1"/>
          </p:cNvSpPr>
          <p:nvPr/>
        </p:nvSpPr>
        <p:spPr>
          <a:xfrm xmlns:a="http://schemas.openxmlformats.org/drawingml/2006/main">
            <a:off x="6515100" y="1704975"/>
            <a:ext cx="5029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3858D6"/>
                </a:solidFill>
                <a:latin typeface="DejaVu Sans"/>
                <a:ea typeface="DejaVu Sans"/>
                <a:cs typeface="DejaVu Sans"/>
              </a:defRPr>
            </a:pPr>
            <a:r>
              <a:rPr sz="2550" b="1">
                <a:solidFill>
                  <a:srgbClr val="3858D6"/>
                </a:solidFill>
                <a:latin typeface="DejaVu Sans"/>
                <a:ea typeface="DejaVu Sans"/>
                <a:cs typeface="DejaVu Sans"/>
              </a:rPr>
              <a:t>Equality delete</a:t>
            </a:r>
          </a:p>
        </p:txBody>
      </p:sp>
      <p:graphicFrame>
        <p:nvGraphicFramePr>
          <p:cNvPr id="19" name=""/>
          <p:cNvGraphicFramePr/>
          <p:nvPr/>
        </p:nvGraphicFramePr>
        <p:xfrm>
          <a:off xmlns:a="http://schemas.openxmlformats.org/drawingml/2006/main" x="6515100" y="2371725"/>
          <a:ext xmlns:a="http://schemas.openxmlformats.org/drawingml/2006/main" cx="5029200" cy="1238250"/>
        </p:xfrm>
        <a:graphic xmlns:a="http://schemas.openxmlformats.org/drawingml/2006/main">
          <a:graphicData uri="http://schemas.openxmlformats.org/drawingml/2006/table">
            <a:tbl>
              <a:tblPr/>
              <a:tblGrid>
                <a:gridCol w="5029200"/>
              </a:tblGrid>
              <a:tr h="619125">
                <a:tc>
                  <a:txBody>
                    <a:bodyPr/>
                    <a:lstStyle/>
                    <a:p>
                      <a:r>
                        <a:rPr sz="1950" b="1">
                          <a:solidFill>
                            <a:srgbClr val="FFFFFF"/>
                          </a:solidFill>
                          <a:latin typeface="DejaVu Sans"/>
                          <a:ea typeface="DejaVu Sans"/>
                          <a:cs typeface="DejaVu Sans"/>
                        </a:rPr>
                        <a:t>order_id</a:t>
                      </a:r>
                    </a:p>
                  </a:txBody>
                  <a:tcPr marL="91440" marR="91440" marT="45720" marB="45720">
                    <a:solidFill>
                      <a:srgbClr val="202D6A"/>
                    </a:solidFill>
                  </a:tcPr>
                </a:tc>
              </a:tr>
              <a:tr h="619125">
                <a:tc>
                  <a:txBody>
                    <a:bodyPr/>
                    <a:lstStyle/>
                    <a:p>
                      <a:r>
                        <a:rPr sz="1950" b="0">
                          <a:solidFill>
                            <a:srgbClr val="1E2852"/>
                          </a:solidFill>
                          <a:latin typeface="DejaVu Sans"/>
                          <a:ea typeface="DejaVu Sans"/>
                          <a:cs typeface="DejaVu Sans"/>
                        </a:rPr>
                        <a:t>102</a:t>
                      </a:r>
                    </a:p>
                  </a:txBody>
                  <a:tcPr marL="91440" marR="91440" marT="45720" marB="45720">
                    <a:solidFill>
                      <a:srgbClr val="F3F0FF"/>
                    </a:solidFill>
                  </a:tcPr>
                </a:tc>
              </a:tr>
            </a:tbl>
          </a:graphicData>
        </a:graphic>
      </p:graphicFrame>
      <p:sp>
        <p:nvSpPr>
          <p:cNvPr id="9" name="text-127">
            <a:extLst xmlns:a="http://schemas.openxmlformats.org/drawingml/2006/main">
              <a:ext uri="{FF2B5EF4-FFF2-40B4-BE49-F238E27FC236}">
                <a16:creationId xmlns:a16="http://schemas.microsoft.com/office/drawing/2014/main" id="{FABDCF47-F523-4A16-A71B-C59933B7F6A8}"/>
              </a:ext>
            </a:extLst>
          </p:cNvPr>
          <p:cNvSpPr>
            <a:spLocks xmlns:a="http://schemas.openxmlformats.org/drawingml/2006/main" noGrp="1"/>
          </p:cNvSpPr>
          <p:nvPr/>
        </p:nvSpPr>
        <p:spPr>
          <a:xfrm xmlns:a="http://schemas.openxmlformats.org/drawingml/2006/main">
            <a:off x="6515100" y="3895725"/>
            <a:ext cx="5029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E2852"/>
                </a:solidFill>
                <a:latin typeface="DejaVu Sans"/>
                <a:ea typeface="DejaVu Sans"/>
                <a:cs typeface="DejaVu Sans"/>
              </a:defRPr>
            </a:pPr>
            <a:r>
              <a:rPr sz="2025" b="0">
                <a:solidFill>
                  <a:srgbClr val="1E2852"/>
                </a:solidFill>
                <a:latin typeface="DejaVu Sans"/>
                <a:ea typeface="DejaVu Sans"/>
                <a:cs typeface="DejaVu Sans"/>
              </a:rPr>
              <a:t>Xóa các dòng phù hợp điều kiện</a:t>
            </a:r>
          </a:p>
          <a:p xmlns:a="http://schemas.openxmlformats.org/drawingml/2006/main">
            <a:pPr>
              <a:defRPr sz="2025" b="0">
                <a:solidFill>
                  <a:srgbClr val="1E2852"/>
                </a:solidFill>
                <a:latin typeface="DejaVu Sans"/>
                <a:ea typeface="DejaVu Sans"/>
                <a:cs typeface="DejaVu Sans"/>
              </a:defRPr>
            </a:pPr>
            <a:r>
              <a:rPr sz="2025" b="0">
                <a:solidFill>
                  <a:srgbClr val="1E2852"/>
                </a:solidFill>
                <a:latin typeface="DejaVu Sans"/>
                <a:ea typeface="DejaVu Sans"/>
                <a:cs typeface="DejaVu Sans"/>
              </a:rPr>
              <a:t>order_id = 102 trong phạm vi áp dụng.</a:t>
            </a:r>
          </a:p>
        </p:txBody>
      </p:sp>
      <p:sp>
        <p:nvSpPr>
          <p:cNvPr id="10" name="shape-128">
            <a:extLst xmlns:a="http://schemas.openxmlformats.org/drawingml/2006/main">
              <a:ext uri="{FF2B5EF4-FFF2-40B4-BE49-F238E27FC236}">
                <a16:creationId xmlns:a16="http://schemas.microsoft.com/office/drawing/2014/main" id="{5B3929FE-7298-48B5-8A60-20780417368C}"/>
              </a:ext>
            </a:extLst>
          </p:cNvPr>
          <p:cNvSpPr>
            <a:spLocks xmlns:a="http://schemas.openxmlformats.org/drawingml/2006/main" noGrp="1"/>
          </p:cNvSpPr>
          <p:nvPr/>
        </p:nvSpPr>
        <p:spPr>
          <a:xfrm xmlns:a="http://schemas.openxmlformats.org/drawingml/2006/main">
            <a:off x="647700" y="5629275"/>
            <a:ext cx="10896600" cy="552450"/>
          </a:xfrm>
          <a:prstGeom xmlns:a="http://schemas.openxmlformats.org/drawingml/2006/main" prst="rect">
            <a:avLst/>
          </a:prstGeom>
          <a:solidFill xmlns:a="http://schemas.openxmlformats.org/drawingml/2006/main">
            <a:srgbClr val="F3F0FF"/>
          </a:solidFill>
          <a:ln xmlns:a="http://schemas.openxmlformats.org/drawingml/2006/main" w="0">
            <a:noFill/>
          </a:ln>
        </p:spPr>
      </p:sp>
      <p:sp>
        <p:nvSpPr>
          <p:cNvPr id="11" name="text-129">
            <a:extLst xmlns:a="http://schemas.openxmlformats.org/drawingml/2006/main">
              <a:ext uri="{FF2B5EF4-FFF2-40B4-BE49-F238E27FC236}">
                <a16:creationId xmlns:a16="http://schemas.microsoft.com/office/drawing/2014/main" id="{3F6FE9A6-6EBB-4042-A9B2-866D0FC08280}"/>
              </a:ext>
            </a:extLst>
          </p:cNvPr>
          <p:cNvSpPr>
            <a:spLocks xmlns:a="http://schemas.openxmlformats.org/drawingml/2006/main" noGrp="1"/>
          </p:cNvSpPr>
          <p:nvPr/>
        </p:nvSpPr>
        <p:spPr>
          <a:xfrm xmlns:a="http://schemas.openxmlformats.org/drawingml/2006/main">
            <a:off x="819150" y="57435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6A"/>
                </a:solidFill>
                <a:latin typeface="DejaVu Sans"/>
                <a:ea typeface="DejaVu Sans"/>
                <a:cs typeface="DejaVu Sans"/>
              </a:defRPr>
            </a:pPr>
            <a:r>
              <a:rPr sz="1875" b="1">
                <a:solidFill>
                  <a:srgbClr val="202D6A"/>
                </a:solidFill>
                <a:latin typeface="DejaVu Sans"/>
                <a:ea typeface="DejaVu Sans"/>
                <a:cs typeface="DejaVu Sans"/>
              </a:rPr>
              <a:t>Delete file lưu thông tin xóa; giá trị mới nằm trong data file mới.</a:t>
            </a:r>
          </a:p>
        </p:txBody>
      </p:sp>
    </p:spTree>
    <p:extLst>
      <p:ext uri="{BB962C8B-B14F-4D97-AF65-F5344CB8AC3E}">
        <p14:creationId xmlns:p14="http://schemas.microsoft.com/office/powerpoint/2010/main" val="156272733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130">
            <a:extLst xmlns:a="http://schemas.openxmlformats.org/drawingml/2006/main">
              <a:ext uri="{FF2B5EF4-FFF2-40B4-BE49-F238E27FC236}">
                <a16:creationId xmlns:a16="http://schemas.microsoft.com/office/drawing/2014/main" id="{A5D3D92D-919E-4837-A63D-72BFB218EE19}"/>
              </a:ext>
            </a:extLst>
          </p:cNvPr>
          <p:cNvSpPr>
            <a:spLocks xmlns:a="http://schemas.openxmlformats.org/drawingml/2006/main" noGrp="1"/>
          </p:cNvSpPr>
          <p:nvPr/>
        </p:nvSpPr>
        <p:spPr>
          <a:xfrm xmlns:a="http://schemas.openxmlformats.org/drawingml/2006/main">
            <a:off x="647700" y="4191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D6A"/>
                </a:solidFill>
                <a:latin typeface="DejaVu Sans"/>
                <a:ea typeface="DejaVu Sans"/>
                <a:cs typeface="DejaVu Sans"/>
              </a:defRPr>
            </a:pPr>
            <a:r>
              <a:rPr sz="3450" b="1">
                <a:solidFill>
                  <a:srgbClr val="202D6A"/>
                </a:solidFill>
                <a:latin typeface="DejaVu Sans"/>
                <a:ea typeface="DejaVu Sans"/>
                <a:cs typeface="DejaVu Sans"/>
              </a:rPr>
              <a:t>Luồng ghi: chuẩn bị rồi commit</a:t>
            </a:r>
          </a:p>
        </p:txBody>
      </p:sp>
      <p:sp>
        <p:nvSpPr>
          <p:cNvPr id="2" name="line-131">
            <a:extLst xmlns:a="http://schemas.openxmlformats.org/drawingml/2006/main">
              <a:ext uri="{FF2B5EF4-FFF2-40B4-BE49-F238E27FC236}">
                <a16:creationId xmlns:a16="http://schemas.microsoft.com/office/drawing/2014/main" id="{2A13C231-199E-400B-8A0B-616F8BE74E8A}"/>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3" name="text-132">
            <a:extLst xmlns:a="http://schemas.openxmlformats.org/drawingml/2006/main">
              <a:ext uri="{FF2B5EF4-FFF2-40B4-BE49-F238E27FC236}">
                <a16:creationId xmlns:a16="http://schemas.microsoft.com/office/drawing/2014/main" id="{E00F56D2-A907-4834-9DFA-066821FA0F8B}"/>
              </a:ext>
            </a:extLst>
          </p:cNvPr>
          <p:cNvSpPr>
            <a:spLocks xmlns:a="http://schemas.openxmlformats.org/drawingml/2006/main" noGrp="1"/>
          </p:cNvSpPr>
          <p:nvPr/>
        </p:nvSpPr>
        <p:spPr>
          <a:xfrm xmlns:a="http://schemas.openxmlformats.org/drawingml/2006/main">
            <a:off x="11144250"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82"/>
                </a:solidFill>
                <a:latin typeface="DejaVu Sans"/>
                <a:ea typeface="DejaVu Sans"/>
                <a:cs typeface="DejaVu Sans"/>
              </a:defRPr>
            </a:pPr>
            <a:r>
              <a:rPr sz="1350" b="0">
                <a:solidFill>
                  <a:srgbClr val="5A6482"/>
                </a:solidFill>
                <a:latin typeface="DejaVu Sans"/>
                <a:ea typeface="DejaVu Sans"/>
                <a:cs typeface="DejaVu Sans"/>
              </a:rPr>
              <a:t>10</a:t>
            </a:r>
          </a:p>
        </p:txBody>
      </p:sp>
      <p:sp>
        <p:nvSpPr>
          <p:cNvPr id="4" name="text-133">
            <a:extLst xmlns:a="http://schemas.openxmlformats.org/drawingml/2006/main">
              <a:ext uri="{FF2B5EF4-FFF2-40B4-BE49-F238E27FC236}">
                <a16:creationId xmlns:a16="http://schemas.microsoft.com/office/drawing/2014/main" id="{9BC12AC6-8BA9-4A9D-9452-29649EA200C6}"/>
              </a:ext>
            </a:extLst>
          </p:cNvPr>
          <p:cNvSpPr>
            <a:spLocks xmlns:a="http://schemas.openxmlformats.org/drawingml/2006/main" noGrp="1"/>
          </p:cNvSpPr>
          <p:nvPr/>
        </p:nvSpPr>
        <p:spPr>
          <a:xfrm xmlns:a="http://schemas.openxmlformats.org/drawingml/2006/main">
            <a:off x="647700" y="168592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5A6482"/>
                </a:solidFill>
                <a:latin typeface="DejaVu Sans"/>
                <a:ea typeface="DejaVu Sans"/>
                <a:cs typeface="DejaVu Sans"/>
              </a:defRPr>
            </a:pPr>
            <a:r>
              <a:rPr sz="3225" b="1">
                <a:solidFill>
                  <a:srgbClr val="5A6482"/>
                </a:solidFill>
                <a:latin typeface="DejaVu Sans"/>
                <a:ea typeface="DejaVu Sans"/>
                <a:cs typeface="DejaVu Sans"/>
              </a:rPr>
              <a:t>1</a:t>
            </a:r>
          </a:p>
        </p:txBody>
      </p:sp>
      <p:sp>
        <p:nvSpPr>
          <p:cNvPr id="5" name="text-134">
            <a:extLst xmlns:a="http://schemas.openxmlformats.org/drawingml/2006/main">
              <a:ext uri="{FF2B5EF4-FFF2-40B4-BE49-F238E27FC236}">
                <a16:creationId xmlns:a16="http://schemas.microsoft.com/office/drawing/2014/main" id="{A04E0475-27F8-428C-9FE7-5CB9EC9AC8BF}"/>
              </a:ext>
            </a:extLst>
          </p:cNvPr>
          <p:cNvSpPr>
            <a:spLocks xmlns:a="http://schemas.openxmlformats.org/drawingml/2006/main" noGrp="1"/>
          </p:cNvSpPr>
          <p:nvPr/>
        </p:nvSpPr>
        <p:spPr>
          <a:xfrm xmlns:a="http://schemas.openxmlformats.org/drawingml/2006/main">
            <a:off x="1609725" y="1685925"/>
            <a:ext cx="47720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02D6A"/>
                </a:solidFill>
                <a:latin typeface="DejaVu Sans"/>
                <a:ea typeface="DejaVu Sans"/>
                <a:cs typeface="DejaVu Sans"/>
              </a:defRPr>
            </a:pPr>
            <a:r>
              <a:rPr sz="2250" b="1">
                <a:solidFill>
                  <a:srgbClr val="202D6A"/>
                </a:solidFill>
                <a:latin typeface="DejaVu Sans"/>
                <a:ea typeface="DejaVu Sans"/>
                <a:cs typeface="DejaVu Sans"/>
              </a:rPr>
              <a:t>Ghi data / delete files</a:t>
            </a:r>
          </a:p>
        </p:txBody>
      </p:sp>
      <p:sp>
        <p:nvSpPr>
          <p:cNvPr id="6" name="text-135">
            <a:extLst xmlns:a="http://schemas.openxmlformats.org/drawingml/2006/main">
              <a:ext uri="{FF2B5EF4-FFF2-40B4-BE49-F238E27FC236}">
                <a16:creationId xmlns:a16="http://schemas.microsoft.com/office/drawing/2014/main" id="{C1675964-7422-4F19-B1C1-0EDB8C13D312}"/>
              </a:ext>
            </a:extLst>
          </p:cNvPr>
          <p:cNvSpPr>
            <a:spLocks xmlns:a="http://schemas.openxmlformats.org/drawingml/2006/main" noGrp="1"/>
          </p:cNvSpPr>
          <p:nvPr/>
        </p:nvSpPr>
        <p:spPr>
          <a:xfrm xmlns:a="http://schemas.openxmlformats.org/drawingml/2006/main">
            <a:off x="6734175" y="1733550"/>
            <a:ext cx="47053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E2852"/>
                </a:solidFill>
                <a:latin typeface="DejaVu Sans"/>
                <a:ea typeface="DejaVu Sans"/>
                <a:cs typeface="DejaVu Sans"/>
              </a:defRPr>
            </a:pPr>
            <a:r>
              <a:rPr sz="1950" b="0">
                <a:solidFill>
                  <a:srgbClr val="1E2852"/>
                </a:solidFill>
                <a:latin typeface="DejaVu Sans"/>
                <a:ea typeface="DejaVu Sans"/>
                <a:cs typeface="DejaVu Sans"/>
              </a:rPr>
              <a:t>File mới chưa hiển thị cho reader.</a:t>
            </a:r>
          </a:p>
        </p:txBody>
      </p:sp>
      <p:sp>
        <p:nvSpPr>
          <p:cNvPr id="7" name="line-136">
            <a:extLst xmlns:a="http://schemas.openxmlformats.org/drawingml/2006/main">
              <a:ext uri="{FF2B5EF4-FFF2-40B4-BE49-F238E27FC236}">
                <a16:creationId xmlns:a16="http://schemas.microsoft.com/office/drawing/2014/main" id="{2E611E2D-63EF-4605-B4D4-BCDF4369CF1B}"/>
              </a:ext>
            </a:extLst>
          </p:cNvPr>
          <p:cNvSpPr>
            <a:spLocks xmlns:a="http://schemas.openxmlformats.org/drawingml/2006/main" noGrp="1"/>
          </p:cNvSpPr>
          <p:nvPr/>
        </p:nvSpPr>
        <p:spPr>
          <a:xfrm xmlns:a="http://schemas.openxmlformats.org/drawingml/2006/main">
            <a:off x="1590675" y="2438400"/>
            <a:ext cx="9953625"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8" name="text-137">
            <a:extLst xmlns:a="http://schemas.openxmlformats.org/drawingml/2006/main">
              <a:ext uri="{FF2B5EF4-FFF2-40B4-BE49-F238E27FC236}">
                <a16:creationId xmlns:a16="http://schemas.microsoft.com/office/drawing/2014/main" id="{5A062E3C-7615-4CD2-AE2F-8B73BD73FC16}"/>
              </a:ext>
            </a:extLst>
          </p:cNvPr>
          <p:cNvSpPr>
            <a:spLocks xmlns:a="http://schemas.openxmlformats.org/drawingml/2006/main" noGrp="1"/>
          </p:cNvSpPr>
          <p:nvPr/>
        </p:nvSpPr>
        <p:spPr>
          <a:xfrm xmlns:a="http://schemas.openxmlformats.org/drawingml/2006/main">
            <a:off x="647700" y="260032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5A6482"/>
                </a:solidFill>
                <a:latin typeface="DejaVu Sans"/>
                <a:ea typeface="DejaVu Sans"/>
                <a:cs typeface="DejaVu Sans"/>
              </a:defRPr>
            </a:pPr>
            <a:r>
              <a:rPr sz="3225" b="1">
                <a:solidFill>
                  <a:srgbClr val="5A6482"/>
                </a:solidFill>
                <a:latin typeface="DejaVu Sans"/>
                <a:ea typeface="DejaVu Sans"/>
                <a:cs typeface="DejaVu Sans"/>
              </a:rPr>
              <a:t>2</a:t>
            </a:r>
          </a:p>
        </p:txBody>
      </p:sp>
      <p:sp>
        <p:nvSpPr>
          <p:cNvPr id="9" name="text-138">
            <a:extLst xmlns:a="http://schemas.openxmlformats.org/drawingml/2006/main">
              <a:ext uri="{FF2B5EF4-FFF2-40B4-BE49-F238E27FC236}">
                <a16:creationId xmlns:a16="http://schemas.microsoft.com/office/drawing/2014/main" id="{A023CADA-E3D0-4609-8E3A-D199CF254AAA}"/>
              </a:ext>
            </a:extLst>
          </p:cNvPr>
          <p:cNvSpPr>
            <a:spLocks xmlns:a="http://schemas.openxmlformats.org/drawingml/2006/main" noGrp="1"/>
          </p:cNvSpPr>
          <p:nvPr/>
        </p:nvSpPr>
        <p:spPr>
          <a:xfrm xmlns:a="http://schemas.openxmlformats.org/drawingml/2006/main">
            <a:off x="1609725" y="2600325"/>
            <a:ext cx="47720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02D6A"/>
                </a:solidFill>
                <a:latin typeface="DejaVu Sans"/>
                <a:ea typeface="DejaVu Sans"/>
                <a:cs typeface="DejaVu Sans"/>
              </a:defRPr>
            </a:pPr>
            <a:r>
              <a:rPr sz="2250" b="1">
                <a:solidFill>
                  <a:srgbClr val="202D6A"/>
                </a:solidFill>
                <a:latin typeface="DejaVu Sans"/>
                <a:ea typeface="DejaVu Sans"/>
                <a:cs typeface="DejaVu Sans"/>
              </a:rPr>
              <a:t>Ghi / tái sử dụng manifests</a:t>
            </a:r>
          </a:p>
        </p:txBody>
      </p:sp>
      <p:sp>
        <p:nvSpPr>
          <p:cNvPr id="10" name="text-139">
            <a:extLst xmlns:a="http://schemas.openxmlformats.org/drawingml/2006/main">
              <a:ext uri="{FF2B5EF4-FFF2-40B4-BE49-F238E27FC236}">
                <a16:creationId xmlns:a16="http://schemas.microsoft.com/office/drawing/2014/main" id="{F3131C54-C56E-4B91-8260-08B6CF31AE57}"/>
              </a:ext>
            </a:extLst>
          </p:cNvPr>
          <p:cNvSpPr>
            <a:spLocks xmlns:a="http://schemas.openxmlformats.org/drawingml/2006/main" noGrp="1"/>
          </p:cNvSpPr>
          <p:nvPr/>
        </p:nvSpPr>
        <p:spPr>
          <a:xfrm xmlns:a="http://schemas.openxmlformats.org/drawingml/2006/main">
            <a:off x="6734175" y="2647950"/>
            <a:ext cx="47053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E2852"/>
                </a:solidFill>
                <a:latin typeface="DejaVu Sans"/>
                <a:ea typeface="DejaVu Sans"/>
                <a:cs typeface="DejaVu Sans"/>
              </a:defRPr>
            </a:pPr>
            <a:r>
              <a:rPr sz="1950" b="0">
                <a:solidFill>
                  <a:srgbClr val="1E2852"/>
                </a:solidFill>
                <a:latin typeface="DejaVu Sans"/>
                <a:ea typeface="DejaVu Sans"/>
                <a:cs typeface="DejaVu Sans"/>
              </a:rPr>
              <a:t>Ghi manifest list của snapshot.</a:t>
            </a:r>
          </a:p>
        </p:txBody>
      </p:sp>
      <p:sp>
        <p:nvSpPr>
          <p:cNvPr id="11" name="line-140">
            <a:extLst xmlns:a="http://schemas.openxmlformats.org/drawingml/2006/main">
              <a:ext uri="{FF2B5EF4-FFF2-40B4-BE49-F238E27FC236}">
                <a16:creationId xmlns:a16="http://schemas.microsoft.com/office/drawing/2014/main" id="{9BC66451-659F-428B-A924-630719C95DCF}"/>
              </a:ext>
            </a:extLst>
          </p:cNvPr>
          <p:cNvSpPr>
            <a:spLocks xmlns:a="http://schemas.openxmlformats.org/drawingml/2006/main" noGrp="1"/>
          </p:cNvSpPr>
          <p:nvPr/>
        </p:nvSpPr>
        <p:spPr>
          <a:xfrm xmlns:a="http://schemas.openxmlformats.org/drawingml/2006/main">
            <a:off x="1590675" y="3352800"/>
            <a:ext cx="9953625"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12" name="text-141">
            <a:extLst xmlns:a="http://schemas.openxmlformats.org/drawingml/2006/main">
              <a:ext uri="{FF2B5EF4-FFF2-40B4-BE49-F238E27FC236}">
                <a16:creationId xmlns:a16="http://schemas.microsoft.com/office/drawing/2014/main" id="{4FD37353-2475-4A99-985E-61DB2E3880DC}"/>
              </a:ext>
            </a:extLst>
          </p:cNvPr>
          <p:cNvSpPr>
            <a:spLocks xmlns:a="http://schemas.openxmlformats.org/drawingml/2006/main" noGrp="1"/>
          </p:cNvSpPr>
          <p:nvPr/>
        </p:nvSpPr>
        <p:spPr>
          <a:xfrm xmlns:a="http://schemas.openxmlformats.org/drawingml/2006/main">
            <a:off x="647700" y="351472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5A6482"/>
                </a:solidFill>
                <a:latin typeface="DejaVu Sans"/>
                <a:ea typeface="DejaVu Sans"/>
                <a:cs typeface="DejaVu Sans"/>
              </a:defRPr>
            </a:pPr>
            <a:r>
              <a:rPr sz="3225" b="1">
                <a:solidFill>
                  <a:srgbClr val="5A6482"/>
                </a:solidFill>
                <a:latin typeface="DejaVu Sans"/>
                <a:ea typeface="DejaVu Sans"/>
                <a:cs typeface="DejaVu Sans"/>
              </a:rPr>
              <a:t>3</a:t>
            </a:r>
          </a:p>
        </p:txBody>
      </p:sp>
      <p:sp>
        <p:nvSpPr>
          <p:cNvPr id="13" name="text-142">
            <a:extLst xmlns:a="http://schemas.openxmlformats.org/drawingml/2006/main">
              <a:ext uri="{FF2B5EF4-FFF2-40B4-BE49-F238E27FC236}">
                <a16:creationId xmlns:a16="http://schemas.microsoft.com/office/drawing/2014/main" id="{C1DB7E24-DD37-4281-B722-71499452CBCF}"/>
              </a:ext>
            </a:extLst>
          </p:cNvPr>
          <p:cNvSpPr>
            <a:spLocks xmlns:a="http://schemas.openxmlformats.org/drawingml/2006/main" noGrp="1"/>
          </p:cNvSpPr>
          <p:nvPr/>
        </p:nvSpPr>
        <p:spPr>
          <a:xfrm xmlns:a="http://schemas.openxmlformats.org/drawingml/2006/main">
            <a:off x="1609725" y="3514725"/>
            <a:ext cx="47720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02D6A"/>
                </a:solidFill>
                <a:latin typeface="DejaVu Sans"/>
                <a:ea typeface="DejaVu Sans"/>
                <a:cs typeface="DejaVu Sans"/>
              </a:defRPr>
            </a:pPr>
            <a:r>
              <a:rPr sz="2250" b="1">
                <a:solidFill>
                  <a:srgbClr val="202D6A"/>
                </a:solidFill>
                <a:latin typeface="DejaVu Sans"/>
                <a:ea typeface="DejaVu Sans"/>
                <a:cs typeface="DejaVu Sans"/>
              </a:rPr>
              <a:t>Ghi metadata JSON mới</a:t>
            </a:r>
          </a:p>
        </p:txBody>
      </p:sp>
      <p:sp>
        <p:nvSpPr>
          <p:cNvPr id="14" name="text-143">
            <a:extLst xmlns:a="http://schemas.openxmlformats.org/drawingml/2006/main">
              <a:ext uri="{FF2B5EF4-FFF2-40B4-BE49-F238E27FC236}">
                <a16:creationId xmlns:a16="http://schemas.microsoft.com/office/drawing/2014/main" id="{D6A6A1FE-65FF-429B-8894-2C8557074337}"/>
              </a:ext>
            </a:extLst>
          </p:cNvPr>
          <p:cNvSpPr>
            <a:spLocks xmlns:a="http://schemas.openxmlformats.org/drawingml/2006/main" noGrp="1"/>
          </p:cNvSpPr>
          <p:nvPr/>
        </p:nvSpPr>
        <p:spPr>
          <a:xfrm xmlns:a="http://schemas.openxmlformats.org/drawingml/2006/main">
            <a:off x="6734175" y="3562350"/>
            <a:ext cx="47053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E2852"/>
                </a:solidFill>
                <a:latin typeface="DejaVu Sans"/>
                <a:ea typeface="DejaVu Sans"/>
                <a:cs typeface="DejaVu Sans"/>
              </a:defRPr>
            </a:pPr>
            <a:r>
              <a:rPr sz="1950" b="0">
                <a:solidFill>
                  <a:srgbClr val="1E2852"/>
                </a:solidFill>
                <a:latin typeface="DejaVu Sans"/>
                <a:ea typeface="DejaVu Sans"/>
                <a:cs typeface="DejaVu Sans"/>
              </a:rPr>
              <a:t>Ghi nhận snapshot và trạng thái mới.</a:t>
            </a:r>
          </a:p>
        </p:txBody>
      </p:sp>
      <p:sp>
        <p:nvSpPr>
          <p:cNvPr id="15" name="line-144">
            <a:extLst xmlns:a="http://schemas.openxmlformats.org/drawingml/2006/main">
              <a:ext uri="{FF2B5EF4-FFF2-40B4-BE49-F238E27FC236}">
                <a16:creationId xmlns:a16="http://schemas.microsoft.com/office/drawing/2014/main" id="{ED9CC299-7051-414A-B5AF-7C87F525C312}"/>
              </a:ext>
            </a:extLst>
          </p:cNvPr>
          <p:cNvSpPr>
            <a:spLocks xmlns:a="http://schemas.openxmlformats.org/drawingml/2006/main" noGrp="1"/>
          </p:cNvSpPr>
          <p:nvPr/>
        </p:nvSpPr>
        <p:spPr>
          <a:xfrm xmlns:a="http://schemas.openxmlformats.org/drawingml/2006/main">
            <a:off x="1590675" y="4267200"/>
            <a:ext cx="9953625"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16" name="text-145">
            <a:extLst xmlns:a="http://schemas.openxmlformats.org/drawingml/2006/main">
              <a:ext uri="{FF2B5EF4-FFF2-40B4-BE49-F238E27FC236}">
                <a16:creationId xmlns:a16="http://schemas.microsoft.com/office/drawing/2014/main" id="{F338391A-B280-4E37-BA8D-FEB58A02C175}"/>
              </a:ext>
            </a:extLst>
          </p:cNvPr>
          <p:cNvSpPr>
            <a:spLocks xmlns:a="http://schemas.openxmlformats.org/drawingml/2006/main" noGrp="1"/>
          </p:cNvSpPr>
          <p:nvPr/>
        </p:nvSpPr>
        <p:spPr>
          <a:xfrm xmlns:a="http://schemas.openxmlformats.org/drawingml/2006/main">
            <a:off x="647700" y="442912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3858D6"/>
                </a:solidFill>
                <a:latin typeface="DejaVu Sans"/>
                <a:ea typeface="DejaVu Sans"/>
                <a:cs typeface="DejaVu Sans"/>
              </a:defRPr>
            </a:pPr>
            <a:r>
              <a:rPr sz="3225" b="1">
                <a:solidFill>
                  <a:srgbClr val="3858D6"/>
                </a:solidFill>
                <a:latin typeface="DejaVu Sans"/>
                <a:ea typeface="DejaVu Sans"/>
                <a:cs typeface="DejaVu Sans"/>
              </a:rPr>
              <a:t>4</a:t>
            </a:r>
          </a:p>
        </p:txBody>
      </p:sp>
      <p:sp>
        <p:nvSpPr>
          <p:cNvPr id="17" name="text-146">
            <a:extLst xmlns:a="http://schemas.openxmlformats.org/drawingml/2006/main">
              <a:ext uri="{FF2B5EF4-FFF2-40B4-BE49-F238E27FC236}">
                <a16:creationId xmlns:a16="http://schemas.microsoft.com/office/drawing/2014/main" id="{02C35277-0FF7-4F57-98D7-9B6D1C155E6D}"/>
              </a:ext>
            </a:extLst>
          </p:cNvPr>
          <p:cNvSpPr>
            <a:spLocks xmlns:a="http://schemas.openxmlformats.org/drawingml/2006/main" noGrp="1"/>
          </p:cNvSpPr>
          <p:nvPr/>
        </p:nvSpPr>
        <p:spPr>
          <a:xfrm xmlns:a="http://schemas.openxmlformats.org/drawingml/2006/main">
            <a:off x="1609725" y="4429125"/>
            <a:ext cx="47720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02D6A"/>
                </a:solidFill>
                <a:latin typeface="DejaVu Sans"/>
                <a:ea typeface="DejaVu Sans"/>
                <a:cs typeface="DejaVu Sans"/>
              </a:defRPr>
            </a:pPr>
            <a:r>
              <a:rPr sz="2250" b="1">
                <a:solidFill>
                  <a:srgbClr val="202D6A"/>
                </a:solidFill>
                <a:latin typeface="DejaVu Sans"/>
                <a:ea typeface="DejaVu Sans"/>
                <a:cs typeface="DejaVu Sans"/>
              </a:rPr>
              <a:t>Commit qua catalog</a:t>
            </a:r>
          </a:p>
        </p:txBody>
      </p:sp>
      <p:sp>
        <p:nvSpPr>
          <p:cNvPr id="18" name="text-147">
            <a:extLst xmlns:a="http://schemas.openxmlformats.org/drawingml/2006/main">
              <a:ext uri="{FF2B5EF4-FFF2-40B4-BE49-F238E27FC236}">
                <a16:creationId xmlns:a16="http://schemas.microsoft.com/office/drawing/2014/main" id="{5BA823AC-32D2-4E12-B44E-4A5758CCA3DB}"/>
              </a:ext>
            </a:extLst>
          </p:cNvPr>
          <p:cNvSpPr>
            <a:spLocks xmlns:a="http://schemas.openxmlformats.org/drawingml/2006/main" noGrp="1"/>
          </p:cNvSpPr>
          <p:nvPr/>
        </p:nvSpPr>
        <p:spPr>
          <a:xfrm xmlns:a="http://schemas.openxmlformats.org/drawingml/2006/main">
            <a:off x="6734175" y="4476750"/>
            <a:ext cx="47053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E2852"/>
                </a:solidFill>
                <a:latin typeface="DejaVu Sans"/>
                <a:ea typeface="DejaVu Sans"/>
                <a:cs typeface="DejaVu Sans"/>
              </a:defRPr>
            </a:pPr>
            <a:r>
              <a:rPr sz="1950" b="0">
                <a:solidFill>
                  <a:srgbClr val="1E2852"/>
                </a:solidFill>
                <a:latin typeface="DejaVu Sans"/>
                <a:ea typeface="DejaVu Sans"/>
                <a:cs typeface="DejaVu Sans"/>
              </a:rPr>
              <a:t>Công bố nguyên tử trạng thái của bảng.</a:t>
            </a:r>
          </a:p>
        </p:txBody>
      </p:sp>
      <p:sp>
        <p:nvSpPr>
          <p:cNvPr id="19" name="shape-148">
            <a:extLst xmlns:a="http://schemas.openxmlformats.org/drawingml/2006/main">
              <a:ext uri="{FF2B5EF4-FFF2-40B4-BE49-F238E27FC236}">
                <a16:creationId xmlns:a16="http://schemas.microsoft.com/office/drawing/2014/main" id="{A45C3DE3-8941-471E-9D91-18EBB8FE92BF}"/>
              </a:ext>
            </a:extLst>
          </p:cNvPr>
          <p:cNvSpPr>
            <a:spLocks xmlns:a="http://schemas.openxmlformats.org/drawingml/2006/main" noGrp="1"/>
          </p:cNvSpPr>
          <p:nvPr/>
        </p:nvSpPr>
        <p:spPr>
          <a:xfrm xmlns:a="http://schemas.openxmlformats.org/drawingml/2006/main">
            <a:off x="647700" y="5686425"/>
            <a:ext cx="10896600" cy="552450"/>
          </a:xfrm>
          <a:prstGeom xmlns:a="http://schemas.openxmlformats.org/drawingml/2006/main" prst="rect">
            <a:avLst/>
          </a:prstGeom>
          <a:solidFill xmlns:a="http://schemas.openxmlformats.org/drawingml/2006/main">
            <a:srgbClr val="F3F0FF"/>
          </a:solidFill>
          <a:ln xmlns:a="http://schemas.openxmlformats.org/drawingml/2006/main" w="0">
            <a:noFill/>
          </a:ln>
        </p:spPr>
      </p:sp>
      <p:sp>
        <p:nvSpPr>
          <p:cNvPr id="20" name="text-149">
            <a:extLst xmlns:a="http://schemas.openxmlformats.org/drawingml/2006/main">
              <a:ext uri="{FF2B5EF4-FFF2-40B4-BE49-F238E27FC236}">
                <a16:creationId xmlns:a16="http://schemas.microsoft.com/office/drawing/2014/main" id="{986A94BA-7047-4D0A-B1CC-D40EA05C5222}"/>
              </a:ext>
            </a:extLst>
          </p:cNvPr>
          <p:cNvSpPr>
            <a:spLocks xmlns:a="http://schemas.openxmlformats.org/drawingml/2006/main" noGrp="1"/>
          </p:cNvSpPr>
          <p:nvPr/>
        </p:nvSpPr>
        <p:spPr>
          <a:xfrm xmlns:a="http://schemas.openxmlformats.org/drawingml/2006/main">
            <a:off x="819150" y="580072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6A"/>
                </a:solidFill>
                <a:latin typeface="DejaVu Sans"/>
                <a:ea typeface="DejaVu Sans"/>
                <a:cs typeface="DejaVu Sans"/>
              </a:defRPr>
            </a:pPr>
            <a:r>
              <a:rPr sz="1875" b="1">
                <a:solidFill>
                  <a:srgbClr val="202D6A"/>
                </a:solidFill>
                <a:latin typeface="DejaVu Sans"/>
                <a:ea typeface="DejaVu Sans"/>
                <a:cs typeface="DejaVu Sans"/>
              </a:rPr>
              <a:t>Chỉ commit thành công mới làm snapshot mới nhìn thấy được.</a:t>
            </a:r>
          </a:p>
        </p:txBody>
      </p:sp>
    </p:spTree>
    <p:extLst>
      <p:ext uri="{BB962C8B-B14F-4D97-AF65-F5344CB8AC3E}">
        <p14:creationId xmlns:p14="http://schemas.microsoft.com/office/powerpoint/2010/main" val="2101969820"/>
      </p:ext>
    </p:extLst>
  </p:cSld>
</p:sld>
</file>

<file path=ppt/slides/slide11.xml><?xml version="1.0" encoding="utf-8"?>
<p:sld xmlns:p="http://schemas.openxmlformats.org/presentationml/2006/main">
  <p:cSld>
    <p:bg>
      <p:bgPr>
        <a:solidFill xmlns:a="http://schemas.openxmlformats.org/drawingml/2006/main">
          <a:srgbClr val="F3F0FF"/>
        </a:solidFill>
      </p:bgPr>
    </p:bg>
    <p:spTree>
      <p:nvGrpSpPr>
        <p:cNvPr id="1" name=""/>
        <p:cNvGrpSpPr/>
        <p:nvPr/>
      </p:nvGrpSpPr>
      <p:grpSpPr>
        <a:xfrm xmlns:a="http://schemas.openxmlformats.org/drawingml/2006/main"/>
      </p:grpSpPr>
      <p:sp>
        <p:nvSpPr>
          <p:cNvPr id="12" name="text-150">
            <a:extLst xmlns:a="http://schemas.openxmlformats.org/drawingml/2006/main">
              <a:ext uri="{FF2B5EF4-FFF2-40B4-BE49-F238E27FC236}">
                <a16:creationId xmlns:a16="http://schemas.microsoft.com/office/drawing/2014/main" id="{06795E5A-C36C-48AD-A58A-B24A52324BF4}"/>
              </a:ext>
            </a:extLst>
          </p:cNvPr>
          <p:cNvSpPr>
            <a:spLocks xmlns:a="http://schemas.openxmlformats.org/drawingml/2006/main" noGrp="1"/>
          </p:cNvSpPr>
          <p:nvPr/>
        </p:nvSpPr>
        <p:spPr>
          <a:xfrm xmlns:a="http://schemas.openxmlformats.org/drawingml/2006/main">
            <a:off x="647700" y="4191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D6A"/>
                </a:solidFill>
                <a:latin typeface="DejaVu Sans"/>
                <a:ea typeface="DejaVu Sans"/>
                <a:cs typeface="DejaVu Sans"/>
              </a:defRPr>
            </a:pPr>
            <a:r>
              <a:rPr sz="3450" b="1">
                <a:solidFill>
                  <a:srgbClr val="202D6A"/>
                </a:solidFill>
                <a:latin typeface="DejaVu Sans"/>
                <a:ea typeface="DejaVu Sans"/>
                <a:cs typeface="DejaVu Sans"/>
              </a:rPr>
              <a:t>Luồng đọc: bám vào một snapshot</a:t>
            </a:r>
          </a:p>
        </p:txBody>
      </p:sp>
      <p:sp>
        <p:nvSpPr>
          <p:cNvPr id="2" name="line-151">
            <a:extLst xmlns:a="http://schemas.openxmlformats.org/drawingml/2006/main">
              <a:ext uri="{FF2B5EF4-FFF2-40B4-BE49-F238E27FC236}">
                <a16:creationId xmlns:a16="http://schemas.microsoft.com/office/drawing/2014/main" id="{8623B850-AA85-481B-B532-B9B0530D6513}"/>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3" name="text-152">
            <a:extLst xmlns:a="http://schemas.openxmlformats.org/drawingml/2006/main">
              <a:ext uri="{FF2B5EF4-FFF2-40B4-BE49-F238E27FC236}">
                <a16:creationId xmlns:a16="http://schemas.microsoft.com/office/drawing/2014/main" id="{B0F447E0-346F-48A4-A88D-CC2CF746C30E}"/>
              </a:ext>
            </a:extLst>
          </p:cNvPr>
          <p:cNvSpPr>
            <a:spLocks xmlns:a="http://schemas.openxmlformats.org/drawingml/2006/main" noGrp="1"/>
          </p:cNvSpPr>
          <p:nvPr/>
        </p:nvSpPr>
        <p:spPr>
          <a:xfrm xmlns:a="http://schemas.openxmlformats.org/drawingml/2006/main">
            <a:off x="11144250"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82"/>
                </a:solidFill>
                <a:latin typeface="DejaVu Sans"/>
                <a:ea typeface="DejaVu Sans"/>
                <a:cs typeface="DejaVu Sans"/>
              </a:defRPr>
            </a:pPr>
            <a:r>
              <a:rPr sz="1350" b="0">
                <a:solidFill>
                  <a:srgbClr val="5A6482"/>
                </a:solidFill>
                <a:latin typeface="DejaVu Sans"/>
                <a:ea typeface="DejaVu Sans"/>
                <a:cs typeface="DejaVu Sans"/>
              </a:rPr>
              <a:t>11</a:t>
            </a:r>
          </a:p>
        </p:txBody>
      </p:sp>
      <p:sp>
        <p:nvSpPr>
          <p:cNvPr id="4" name="text-153">
            <a:extLst xmlns:a="http://schemas.openxmlformats.org/drawingml/2006/main">
              <a:ext uri="{FF2B5EF4-FFF2-40B4-BE49-F238E27FC236}">
                <a16:creationId xmlns:a16="http://schemas.microsoft.com/office/drawing/2014/main" id="{AC71F372-4D22-48EC-B876-02A081051870}"/>
              </a:ext>
            </a:extLst>
          </p:cNvPr>
          <p:cNvSpPr>
            <a:spLocks xmlns:a="http://schemas.openxmlformats.org/drawingml/2006/main" noGrp="1"/>
          </p:cNvSpPr>
          <p:nvPr/>
        </p:nvSpPr>
        <p:spPr>
          <a:xfrm xmlns:a="http://schemas.openxmlformats.org/drawingml/2006/main">
            <a:off x="647700" y="1819275"/>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858D6"/>
                </a:solidFill>
                <a:latin typeface="DejaVu Sans"/>
                <a:ea typeface="DejaVu Sans"/>
                <a:cs typeface="DejaVu Sans"/>
              </a:defRPr>
            </a:pPr>
            <a:r>
              <a:rPr sz="2250" b="1">
                <a:solidFill>
                  <a:srgbClr val="3858D6"/>
                </a:solidFill>
                <a:latin typeface="DejaVu Sans"/>
                <a:ea typeface="DejaVu Sans"/>
                <a:cs typeface="DejaVu Sans"/>
              </a:rPr>
              <a:t>1  Chọn trạng thái</a:t>
            </a:r>
          </a:p>
        </p:txBody>
      </p:sp>
      <p:sp>
        <p:nvSpPr>
          <p:cNvPr id="5" name="text-154">
            <a:extLst xmlns:a="http://schemas.openxmlformats.org/drawingml/2006/main">
              <a:ext uri="{FF2B5EF4-FFF2-40B4-BE49-F238E27FC236}">
                <a16:creationId xmlns:a16="http://schemas.microsoft.com/office/drawing/2014/main" id="{C9803C76-5780-443C-8AB0-A5E260504C0B}"/>
              </a:ext>
            </a:extLst>
          </p:cNvPr>
          <p:cNvSpPr>
            <a:spLocks xmlns:a="http://schemas.openxmlformats.org/drawingml/2006/main" noGrp="1"/>
          </p:cNvSpPr>
          <p:nvPr/>
        </p:nvSpPr>
        <p:spPr>
          <a:xfrm xmlns:a="http://schemas.openxmlformats.org/drawingml/2006/main">
            <a:off x="647700" y="2524125"/>
            <a:ext cx="328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E2852"/>
                </a:solidFill>
                <a:latin typeface="DejaVu Sans"/>
                <a:ea typeface="DejaVu Sans"/>
                <a:cs typeface="DejaVu Sans"/>
              </a:defRPr>
            </a:pPr>
            <a:r>
              <a:rPr sz="2175" b="0">
                <a:solidFill>
                  <a:srgbClr val="1E2852"/>
                </a:solidFill>
                <a:latin typeface="DejaVu Sans"/>
                <a:ea typeface="DejaVu Sans"/>
                <a:cs typeface="DejaVu Sans"/>
              </a:rPr>
              <a:t>Catalog → metadata</a:t>
            </a:r>
          </a:p>
          <a:p xmlns:a="http://schemas.openxmlformats.org/drawingml/2006/main">
            <a:pPr>
              <a:defRPr sz="2175" b="0">
                <a:solidFill>
                  <a:srgbClr val="1E2852"/>
                </a:solidFill>
                <a:latin typeface="DejaVu Sans"/>
                <a:ea typeface="DejaVu Sans"/>
                <a:cs typeface="DejaVu Sans"/>
              </a:defRPr>
            </a:pPr>
            <a:r>
              <a:rPr sz="2175" b="0">
                <a:solidFill>
                  <a:srgbClr val="1E2852"/>
                </a:solidFill>
                <a:latin typeface="DejaVu Sans"/>
                <a:ea typeface="DejaVu Sans"/>
                <a:cs typeface="DejaVu Sans"/>
              </a:rPr>
              <a:t>→ snapshot cần đọc</a:t>
            </a:r>
          </a:p>
        </p:txBody>
      </p:sp>
      <p:sp>
        <p:nvSpPr>
          <p:cNvPr id="6" name="text-155">
            <a:extLst xmlns:a="http://schemas.openxmlformats.org/drawingml/2006/main">
              <a:ext uri="{FF2B5EF4-FFF2-40B4-BE49-F238E27FC236}">
                <a16:creationId xmlns:a16="http://schemas.microsoft.com/office/drawing/2014/main" id="{1A427935-B764-444E-88D8-703FDBE6802A}"/>
              </a:ext>
            </a:extLst>
          </p:cNvPr>
          <p:cNvSpPr>
            <a:spLocks xmlns:a="http://schemas.openxmlformats.org/drawingml/2006/main" noGrp="1"/>
          </p:cNvSpPr>
          <p:nvPr/>
        </p:nvSpPr>
        <p:spPr>
          <a:xfrm xmlns:a="http://schemas.openxmlformats.org/drawingml/2006/main">
            <a:off x="4505325" y="181927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858D6"/>
                </a:solidFill>
                <a:latin typeface="DejaVu Sans"/>
                <a:ea typeface="DejaVu Sans"/>
                <a:cs typeface="DejaVu Sans"/>
              </a:defRPr>
            </a:pPr>
            <a:r>
              <a:rPr sz="2250" b="1">
                <a:solidFill>
                  <a:srgbClr val="3858D6"/>
                </a:solidFill>
                <a:latin typeface="DejaVu Sans"/>
                <a:ea typeface="DejaVu Sans"/>
                <a:cs typeface="DejaVu Sans"/>
              </a:rPr>
              <a:t>2  Lập kế hoạch</a:t>
            </a:r>
          </a:p>
        </p:txBody>
      </p:sp>
      <p:sp>
        <p:nvSpPr>
          <p:cNvPr id="7" name="text-156">
            <a:extLst xmlns:a="http://schemas.openxmlformats.org/drawingml/2006/main">
              <a:ext uri="{FF2B5EF4-FFF2-40B4-BE49-F238E27FC236}">
                <a16:creationId xmlns:a16="http://schemas.microsoft.com/office/drawing/2014/main" id="{43E912B6-CACC-42D5-849A-2D7BEE47694E}"/>
              </a:ext>
            </a:extLst>
          </p:cNvPr>
          <p:cNvSpPr>
            <a:spLocks xmlns:a="http://schemas.openxmlformats.org/drawingml/2006/main" noGrp="1"/>
          </p:cNvSpPr>
          <p:nvPr/>
        </p:nvSpPr>
        <p:spPr>
          <a:xfrm xmlns:a="http://schemas.openxmlformats.org/drawingml/2006/main">
            <a:off x="4505325" y="2524125"/>
            <a:ext cx="33051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E2852"/>
                </a:solidFill>
                <a:latin typeface="DejaVu Sans"/>
                <a:ea typeface="DejaVu Sans"/>
                <a:cs typeface="DejaVu Sans"/>
              </a:defRPr>
            </a:pPr>
            <a:r>
              <a:rPr sz="2175" b="0">
                <a:solidFill>
                  <a:srgbClr val="1E2852"/>
                </a:solidFill>
                <a:latin typeface="DejaVu Sans"/>
                <a:ea typeface="DejaVu Sans"/>
                <a:cs typeface="DejaVu Sans"/>
              </a:rPr>
              <a:t>Lọc manifest</a:t>
            </a:r>
          </a:p>
          <a:p xmlns:a="http://schemas.openxmlformats.org/drawingml/2006/main">
            <a:pPr>
              <a:defRPr sz="2175" b="0">
                <a:solidFill>
                  <a:srgbClr val="1E2852"/>
                </a:solidFill>
                <a:latin typeface="DejaVu Sans"/>
                <a:ea typeface="DejaVu Sans"/>
                <a:cs typeface="DejaVu Sans"/>
              </a:defRPr>
            </a:pPr>
            <a:r>
              <a:rPr sz="2175" b="0">
                <a:solidFill>
                  <a:srgbClr val="1E2852"/>
                </a:solidFill>
                <a:latin typeface="DejaVu Sans"/>
                <a:ea typeface="DejaVu Sans"/>
                <a:cs typeface="DejaVu Sans"/>
              </a:rPr>
              <a:t>Lọc data file</a:t>
            </a:r>
          </a:p>
          <a:p xmlns:a="http://schemas.openxmlformats.org/drawingml/2006/main">
            <a:pPr>
              <a:defRPr sz="2175" b="0">
                <a:solidFill>
                  <a:srgbClr val="1E2852"/>
                </a:solidFill>
                <a:latin typeface="DejaVu Sans"/>
                <a:ea typeface="DejaVu Sans"/>
                <a:cs typeface="DejaVu Sans"/>
              </a:defRPr>
            </a:pPr>
            <a:r>
              <a:rPr sz="2175" b="0">
                <a:solidFill>
                  <a:srgbClr val="1E2852"/>
                </a:solidFill>
                <a:latin typeface="DejaVu Sans"/>
                <a:ea typeface="DejaVu Sans"/>
                <a:cs typeface="DejaVu Sans"/>
              </a:rPr>
              <a:t>Lọc row group</a:t>
            </a:r>
          </a:p>
        </p:txBody>
      </p:sp>
      <p:sp>
        <p:nvSpPr>
          <p:cNvPr id="8" name="text-157">
            <a:extLst xmlns:a="http://schemas.openxmlformats.org/drawingml/2006/main">
              <a:ext uri="{FF2B5EF4-FFF2-40B4-BE49-F238E27FC236}">
                <a16:creationId xmlns:a16="http://schemas.microsoft.com/office/drawing/2014/main" id="{3302629D-7B6F-45D3-84A5-31A0F0FA3AF7}"/>
              </a:ext>
            </a:extLst>
          </p:cNvPr>
          <p:cNvSpPr>
            <a:spLocks xmlns:a="http://schemas.openxmlformats.org/drawingml/2006/main" noGrp="1"/>
          </p:cNvSpPr>
          <p:nvPr/>
        </p:nvSpPr>
        <p:spPr>
          <a:xfrm xmlns:a="http://schemas.openxmlformats.org/drawingml/2006/main">
            <a:off x="8353425" y="1819275"/>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858D6"/>
                </a:solidFill>
                <a:latin typeface="DejaVu Sans"/>
                <a:ea typeface="DejaVu Sans"/>
                <a:cs typeface="DejaVu Sans"/>
              </a:defRPr>
            </a:pPr>
            <a:r>
              <a:rPr sz="2250" b="1">
                <a:solidFill>
                  <a:srgbClr val="3858D6"/>
                </a:solidFill>
                <a:latin typeface="DejaVu Sans"/>
                <a:ea typeface="DejaVu Sans"/>
                <a:cs typeface="DejaVu Sans"/>
              </a:rPr>
              <a:t>3  Trả kết quả</a:t>
            </a:r>
          </a:p>
        </p:txBody>
      </p:sp>
      <p:sp>
        <p:nvSpPr>
          <p:cNvPr id="9" name="text-158">
            <a:extLst xmlns:a="http://schemas.openxmlformats.org/drawingml/2006/main">
              <a:ext uri="{FF2B5EF4-FFF2-40B4-BE49-F238E27FC236}">
                <a16:creationId xmlns:a16="http://schemas.microsoft.com/office/drawing/2014/main" id="{FC7A8CB0-9E6B-4D92-9987-3FEB42A7D1AF}"/>
              </a:ext>
            </a:extLst>
          </p:cNvPr>
          <p:cNvSpPr>
            <a:spLocks xmlns:a="http://schemas.openxmlformats.org/drawingml/2006/main" noGrp="1"/>
          </p:cNvSpPr>
          <p:nvPr/>
        </p:nvSpPr>
        <p:spPr>
          <a:xfrm xmlns:a="http://schemas.openxmlformats.org/drawingml/2006/main">
            <a:off x="8353425" y="2524125"/>
            <a:ext cx="320992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E2852"/>
                </a:solidFill>
                <a:latin typeface="DejaVu Sans"/>
                <a:ea typeface="DejaVu Sans"/>
                <a:cs typeface="DejaVu Sans"/>
              </a:defRPr>
            </a:pPr>
            <a:r>
              <a:rPr sz="2175" b="0">
                <a:solidFill>
                  <a:srgbClr val="1E2852"/>
                </a:solidFill>
                <a:latin typeface="DejaVu Sans"/>
                <a:ea typeface="DejaVu Sans"/>
                <a:cs typeface="DejaVu Sans"/>
              </a:rPr>
              <a:t>Đọc cột cần thiết</a:t>
            </a:r>
          </a:p>
          <a:p xmlns:a="http://schemas.openxmlformats.org/drawingml/2006/main">
            <a:pPr>
              <a:defRPr sz="2175" b="0">
                <a:solidFill>
                  <a:srgbClr val="1E2852"/>
                </a:solidFill>
                <a:latin typeface="DejaVu Sans"/>
                <a:ea typeface="DejaVu Sans"/>
                <a:cs typeface="DejaVu Sans"/>
              </a:defRPr>
            </a:pPr>
            <a:r>
              <a:rPr sz="2175" b="0">
                <a:solidFill>
                  <a:srgbClr val="1E2852"/>
                </a:solidFill>
                <a:latin typeface="DejaVu Sans"/>
                <a:ea typeface="DejaVu Sans"/>
                <a:cs typeface="DejaVu Sans"/>
              </a:rPr>
              <a:t>Áp dụng delete</a:t>
            </a:r>
          </a:p>
          <a:p xmlns:a="http://schemas.openxmlformats.org/drawingml/2006/main">
            <a:pPr>
              <a:defRPr sz="2175" b="0">
                <a:solidFill>
                  <a:srgbClr val="1E2852"/>
                </a:solidFill>
                <a:latin typeface="DejaVu Sans"/>
                <a:ea typeface="DejaVu Sans"/>
                <a:cs typeface="DejaVu Sans"/>
              </a:defRPr>
            </a:pPr>
            <a:r>
              <a:rPr sz="2175" b="0">
                <a:solidFill>
                  <a:srgbClr val="1E2852"/>
                </a:solidFill>
                <a:latin typeface="DejaVu Sans"/>
                <a:ea typeface="DejaVu Sans"/>
                <a:cs typeface="DejaVu Sans"/>
              </a:rPr>
              <a:t>Lọc các dòng</a:t>
            </a:r>
          </a:p>
        </p:txBody>
      </p:sp>
      <p:sp>
        <p:nvSpPr>
          <p:cNvPr id="10" name="line-159">
            <a:extLst xmlns:a="http://schemas.openxmlformats.org/drawingml/2006/main">
              <a:ext uri="{FF2B5EF4-FFF2-40B4-BE49-F238E27FC236}">
                <a16:creationId xmlns:a16="http://schemas.microsoft.com/office/drawing/2014/main" id="{324DE6A0-89AA-4D0A-90C8-64870DA00AB1}"/>
              </a:ext>
            </a:extLst>
          </p:cNvPr>
          <p:cNvSpPr>
            <a:spLocks xmlns:a="http://schemas.openxmlformats.org/drawingml/2006/main" noGrp="1"/>
          </p:cNvSpPr>
          <p:nvPr/>
        </p:nvSpPr>
        <p:spPr>
          <a:xfrm xmlns:a="http://schemas.openxmlformats.org/drawingml/2006/main">
            <a:off x="647700" y="4581525"/>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11" name="text-160">
            <a:extLst xmlns:a="http://schemas.openxmlformats.org/drawingml/2006/main">
              <a:ext uri="{FF2B5EF4-FFF2-40B4-BE49-F238E27FC236}">
                <a16:creationId xmlns:a16="http://schemas.microsoft.com/office/drawing/2014/main" id="{4C73C432-26DF-4535-9B99-9BC65EC569FB}"/>
              </a:ext>
            </a:extLst>
          </p:cNvPr>
          <p:cNvSpPr>
            <a:spLocks xmlns:a="http://schemas.openxmlformats.org/drawingml/2006/main" noGrp="1"/>
          </p:cNvSpPr>
          <p:nvPr/>
        </p:nvSpPr>
        <p:spPr>
          <a:xfrm xmlns:a="http://schemas.openxmlformats.org/drawingml/2006/main">
            <a:off x="647700" y="4962525"/>
            <a:ext cx="108966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D6A"/>
                </a:solidFill>
                <a:latin typeface="DejaVu Sans"/>
                <a:ea typeface="DejaVu Sans"/>
                <a:cs typeface="DejaVu Sans"/>
              </a:defRPr>
            </a:pPr>
            <a:r>
              <a:rPr sz="2550" b="1">
                <a:solidFill>
                  <a:srgbClr val="202D6A"/>
                </a:solidFill>
                <a:latin typeface="DejaVu Sans"/>
                <a:ea typeface="DejaVu Sans"/>
                <a:cs typeface="DejaVu Sans"/>
              </a:rPr>
              <a:t>Reader đang đọc S101 vẫn dùng S101</a:t>
            </a:r>
          </a:p>
          <a:p xmlns:a="http://schemas.openxmlformats.org/drawingml/2006/main">
            <a:pPr>
              <a:defRPr sz="2550" b="1">
                <a:solidFill>
                  <a:srgbClr val="202D6A"/>
                </a:solidFill>
                <a:latin typeface="DejaVu Sans"/>
                <a:ea typeface="DejaVu Sans"/>
                <a:cs typeface="DejaVu Sans"/>
              </a:defRPr>
            </a:pPr>
            <a:r>
              <a:rPr sz="2550" b="1">
                <a:solidFill>
                  <a:srgbClr val="202D6A"/>
                </a:solidFill>
                <a:latin typeface="DejaVu Sans"/>
                <a:ea typeface="DejaVu Sans"/>
                <a:cs typeface="DejaVu Sans"/>
              </a:rPr>
              <a:t>khi writer vừa commit S102.</a:t>
            </a:r>
          </a:p>
        </p:txBody>
      </p:sp>
    </p:spTree>
    <p:extLst>
      <p:ext uri="{BB962C8B-B14F-4D97-AF65-F5344CB8AC3E}">
        <p14:creationId xmlns:p14="http://schemas.microsoft.com/office/powerpoint/2010/main" val="49801612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61">
            <a:extLst xmlns:a="http://schemas.openxmlformats.org/drawingml/2006/main">
              <a:ext uri="{FF2B5EF4-FFF2-40B4-BE49-F238E27FC236}">
                <a16:creationId xmlns:a16="http://schemas.microsoft.com/office/drawing/2014/main" id="{8EF03DB5-2A6D-4549-ABF5-CC6B33FFF06C}"/>
              </a:ext>
            </a:extLst>
          </p:cNvPr>
          <p:cNvSpPr>
            <a:spLocks xmlns:a="http://schemas.openxmlformats.org/drawingml/2006/main" noGrp="1"/>
          </p:cNvSpPr>
          <p:nvPr/>
        </p:nvSpPr>
        <p:spPr>
          <a:xfrm xmlns:a="http://schemas.openxmlformats.org/drawingml/2006/main">
            <a:off x="647700" y="4191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D6A"/>
                </a:solidFill>
                <a:latin typeface="DejaVu Sans"/>
                <a:ea typeface="DejaVu Sans"/>
                <a:cs typeface="DejaVu Sans"/>
              </a:defRPr>
            </a:pPr>
            <a:r>
              <a:rPr sz="3450" b="1">
                <a:solidFill>
                  <a:srgbClr val="202D6A"/>
                </a:solidFill>
                <a:latin typeface="DejaVu Sans"/>
                <a:ea typeface="DejaVu Sans"/>
                <a:cs typeface="DejaVu Sans"/>
              </a:rPr>
              <a:t>ACID với optimistic concurrency</a:t>
            </a:r>
          </a:p>
        </p:txBody>
      </p:sp>
      <p:sp>
        <p:nvSpPr>
          <p:cNvPr id="2" name="line-162">
            <a:extLst xmlns:a="http://schemas.openxmlformats.org/drawingml/2006/main">
              <a:ext uri="{FF2B5EF4-FFF2-40B4-BE49-F238E27FC236}">
                <a16:creationId xmlns:a16="http://schemas.microsoft.com/office/drawing/2014/main" id="{D1BB0333-0966-43B3-97CC-13D2FC3BE6FB}"/>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3" name="text-163">
            <a:extLst xmlns:a="http://schemas.openxmlformats.org/drawingml/2006/main">
              <a:ext uri="{FF2B5EF4-FFF2-40B4-BE49-F238E27FC236}">
                <a16:creationId xmlns:a16="http://schemas.microsoft.com/office/drawing/2014/main" id="{D724F0FD-8A37-4E97-957C-1D4F777925B0}"/>
              </a:ext>
            </a:extLst>
          </p:cNvPr>
          <p:cNvSpPr>
            <a:spLocks xmlns:a="http://schemas.openxmlformats.org/drawingml/2006/main" noGrp="1"/>
          </p:cNvSpPr>
          <p:nvPr/>
        </p:nvSpPr>
        <p:spPr>
          <a:xfrm xmlns:a="http://schemas.openxmlformats.org/drawingml/2006/main">
            <a:off x="11144250"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82"/>
                </a:solidFill>
                <a:latin typeface="DejaVu Sans"/>
                <a:ea typeface="DejaVu Sans"/>
                <a:cs typeface="DejaVu Sans"/>
              </a:defRPr>
            </a:pPr>
            <a:r>
              <a:rPr sz="1350" b="0">
                <a:solidFill>
                  <a:srgbClr val="5A6482"/>
                </a:solidFill>
                <a:latin typeface="DejaVu Sans"/>
                <a:ea typeface="DejaVu Sans"/>
                <a:cs typeface="DejaVu Sans"/>
              </a:rPr>
              <a:t>12</a:t>
            </a:r>
          </a:p>
        </p:txBody>
      </p:sp>
      <p:graphicFrame>
        <p:nvGraphicFramePr>
          <p:cNvPr id="10" name=""/>
          <p:cNvGraphicFramePr/>
          <p:nvPr/>
        </p:nvGraphicFramePr>
        <p:xfrm>
          <a:off xmlns:a="http://schemas.openxmlformats.org/drawingml/2006/main" x="647700" y="1695450"/>
          <a:ext xmlns:a="http://schemas.openxmlformats.org/drawingml/2006/main" cx="10896600" cy="3476625"/>
        </p:xfrm>
        <a:graphic xmlns:a="http://schemas.openxmlformats.org/drawingml/2006/main">
          <a:graphicData uri="http://schemas.openxmlformats.org/drawingml/2006/table">
            <a:tbl>
              <a:tblPr/>
              <a:tblGrid>
                <a:gridCol w="2400300"/>
                <a:gridCol w="3829050"/>
                <a:gridCol w="4667250"/>
              </a:tblGrid>
              <a:tr h="695325">
                <a:tc>
                  <a:txBody>
                    <a:bodyPr/>
                    <a:lstStyle/>
                    <a:p>
                      <a:r>
                        <a:rPr sz="1875" b="1">
                          <a:solidFill>
                            <a:srgbClr val="FFFFFF"/>
                          </a:solidFill>
                          <a:latin typeface="DejaVu Sans"/>
                          <a:ea typeface="DejaVu Sans"/>
                          <a:cs typeface="DejaVu Sans"/>
                        </a:rPr>
                        <a:t>Bước</a:t>
                      </a:r>
                    </a:p>
                  </a:txBody>
                  <a:tcPr marL="91440" marR="91440" marT="45720" marB="45720">
                    <a:solidFill>
                      <a:srgbClr val="202D6A"/>
                    </a:solidFill>
                  </a:tcPr>
                </a:tc>
                <a:tc>
                  <a:txBody>
                    <a:bodyPr/>
                    <a:lstStyle/>
                    <a:p>
                      <a:r>
                        <a:rPr sz="1875" b="1">
                          <a:solidFill>
                            <a:srgbClr val="FFFFFF"/>
                          </a:solidFill>
                          <a:latin typeface="DejaVu Sans"/>
                          <a:ea typeface="DejaVu Sans"/>
                          <a:cs typeface="DejaVu Sans"/>
                        </a:rPr>
                        <a:t>Writer A</a:t>
                      </a:r>
                    </a:p>
                  </a:txBody>
                  <a:tcPr marL="91440" marR="91440" marT="45720" marB="45720">
                    <a:solidFill>
                      <a:srgbClr val="202D6A"/>
                    </a:solidFill>
                  </a:tcPr>
                </a:tc>
                <a:tc>
                  <a:txBody>
                    <a:bodyPr/>
                    <a:lstStyle/>
                    <a:p>
                      <a:r>
                        <a:rPr sz="1875" b="1">
                          <a:solidFill>
                            <a:srgbClr val="FFFFFF"/>
                          </a:solidFill>
                          <a:latin typeface="DejaVu Sans"/>
                          <a:ea typeface="DejaVu Sans"/>
                          <a:cs typeface="DejaVu Sans"/>
                        </a:rPr>
                        <a:t>Writer B</a:t>
                      </a:r>
                    </a:p>
                  </a:txBody>
                  <a:tcPr marL="91440" marR="91440" marT="45720" marB="45720">
                    <a:solidFill>
                      <a:srgbClr val="202D6A"/>
                    </a:solidFill>
                  </a:tcPr>
                </a:tc>
              </a:tr>
              <a:tr h="695325">
                <a:tc>
                  <a:txBody>
                    <a:bodyPr/>
                    <a:lstStyle/>
                    <a:p>
                      <a:r>
                        <a:rPr sz="1875" b="0">
                          <a:solidFill>
                            <a:srgbClr val="1E2852"/>
                          </a:solidFill>
                          <a:latin typeface="DejaVu Sans"/>
                          <a:ea typeface="DejaVu Sans"/>
                          <a:cs typeface="DejaVu Sans"/>
                        </a:rPr>
                        <a:t>Đọc trạng thái</a:t>
                      </a:r>
                    </a:p>
                  </a:txBody>
                  <a:tcPr marL="91440" marR="91440" marT="45720" marB="45720">
                    <a:solidFill>
                      <a:srgbClr val="F3F0FF"/>
                    </a:solidFill>
                  </a:tcPr>
                </a:tc>
                <a:tc>
                  <a:txBody>
                    <a:bodyPr/>
                    <a:lstStyle/>
                    <a:p>
                      <a:r>
                        <a:rPr sz="1875" b="0">
                          <a:solidFill>
                            <a:srgbClr val="1E2852"/>
                          </a:solidFill>
                          <a:latin typeface="DejaVu Sans"/>
                          <a:ea typeface="DejaVu Sans"/>
                          <a:cs typeface="DejaVu Sans"/>
                        </a:rPr>
                        <a:t>S1</a:t>
                      </a:r>
                    </a:p>
                  </a:txBody>
                  <a:tcPr marL="91440" marR="91440" marT="45720" marB="45720">
                    <a:solidFill>
                      <a:srgbClr val="F3F0FF"/>
                    </a:solidFill>
                  </a:tcPr>
                </a:tc>
                <a:tc>
                  <a:txBody>
                    <a:bodyPr/>
                    <a:lstStyle/>
                    <a:p>
                      <a:r>
                        <a:rPr sz="1875" b="0">
                          <a:solidFill>
                            <a:srgbClr val="1E2852"/>
                          </a:solidFill>
                          <a:latin typeface="DejaVu Sans"/>
                          <a:ea typeface="DejaVu Sans"/>
                          <a:cs typeface="DejaVu Sans"/>
                        </a:rPr>
                        <a:t>S1</a:t>
                      </a:r>
                    </a:p>
                  </a:txBody>
                  <a:tcPr marL="91440" marR="91440" marT="45720" marB="45720">
                    <a:solidFill>
                      <a:srgbClr val="F3F0FF"/>
                    </a:solidFill>
                  </a:tcPr>
                </a:tc>
              </a:tr>
              <a:tr h="695325">
                <a:tc>
                  <a:txBody>
                    <a:bodyPr/>
                    <a:lstStyle/>
                    <a:p>
                      <a:r>
                        <a:rPr sz="1875" b="0">
                          <a:solidFill>
                            <a:srgbClr val="1E2852"/>
                          </a:solidFill>
                          <a:latin typeface="DejaVu Sans"/>
                          <a:ea typeface="DejaVu Sans"/>
                          <a:cs typeface="DejaVu Sans"/>
                        </a:rPr>
                        <a:t>Chuẩn bị append</a:t>
                      </a:r>
                    </a:p>
                  </a:txBody>
                  <a:tcPr marL="91440" marR="91440" marT="45720" marB="45720">
                    <a:solidFill>
                      <a:srgbClr val="EDF3FF"/>
                    </a:solidFill>
                  </a:tcPr>
                </a:tc>
                <a:tc>
                  <a:txBody>
                    <a:bodyPr/>
                    <a:lstStyle/>
                    <a:p>
                      <a:r>
                        <a:rPr sz="1875" b="0">
                          <a:solidFill>
                            <a:srgbClr val="1E2852"/>
                          </a:solidFill>
                          <a:latin typeface="DejaVu Sans"/>
                          <a:ea typeface="DejaVu Sans"/>
                          <a:cs typeface="DejaVu Sans"/>
                        </a:rPr>
                        <a:t>Thêm file X</a:t>
                      </a:r>
                    </a:p>
                  </a:txBody>
                  <a:tcPr marL="91440" marR="91440" marT="45720" marB="45720">
                    <a:solidFill>
                      <a:srgbClr val="EDF3FF"/>
                    </a:solidFill>
                  </a:tcPr>
                </a:tc>
                <a:tc>
                  <a:txBody>
                    <a:bodyPr/>
                    <a:lstStyle/>
                    <a:p>
                      <a:r>
                        <a:rPr sz="1875" b="0">
                          <a:solidFill>
                            <a:srgbClr val="1E2852"/>
                          </a:solidFill>
                          <a:latin typeface="DejaVu Sans"/>
                          <a:ea typeface="DejaVu Sans"/>
                          <a:cs typeface="DejaVu Sans"/>
                        </a:rPr>
                        <a:t>Thêm file Y</a:t>
                      </a:r>
                    </a:p>
                  </a:txBody>
                  <a:tcPr marL="91440" marR="91440" marT="45720" marB="45720">
                    <a:solidFill>
                      <a:srgbClr val="EDF3FF"/>
                    </a:solidFill>
                  </a:tcPr>
                </a:tc>
              </a:tr>
              <a:tr h="695325">
                <a:tc>
                  <a:txBody>
                    <a:bodyPr/>
                    <a:lstStyle/>
                    <a:p>
                      <a:r>
                        <a:rPr sz="1875" b="0">
                          <a:solidFill>
                            <a:srgbClr val="1E2852"/>
                          </a:solidFill>
                          <a:latin typeface="DejaVu Sans"/>
                          <a:ea typeface="DejaVu Sans"/>
                          <a:cs typeface="DejaVu Sans"/>
                        </a:rPr>
                        <a:t>Commit lần đầu</a:t>
                      </a:r>
                    </a:p>
                  </a:txBody>
                  <a:tcPr marL="91440" marR="91440" marT="45720" marB="45720">
                    <a:solidFill>
                      <a:srgbClr val="F3F0FF"/>
                    </a:solidFill>
                  </a:tcPr>
                </a:tc>
                <a:tc>
                  <a:txBody>
                    <a:bodyPr/>
                    <a:lstStyle/>
                    <a:p>
                      <a:r>
                        <a:rPr sz="1875" b="0">
                          <a:solidFill>
                            <a:srgbClr val="1E2852"/>
                          </a:solidFill>
                          <a:latin typeface="DejaVu Sans"/>
                          <a:ea typeface="DejaVu Sans"/>
                          <a:cs typeface="DejaVu Sans"/>
                        </a:rPr>
                        <a:t>Thành công: S2</a:t>
                      </a:r>
                    </a:p>
                  </a:txBody>
                  <a:tcPr marL="91440" marR="91440" marT="45720" marB="45720">
                    <a:solidFill>
                      <a:srgbClr val="F3F0FF"/>
                    </a:solidFill>
                  </a:tcPr>
                </a:tc>
                <a:tc>
                  <a:txBody>
                    <a:bodyPr/>
                    <a:lstStyle/>
                    <a:p>
                      <a:r>
                        <a:rPr sz="1875" b="0">
                          <a:solidFill>
                            <a:srgbClr val="1E2852"/>
                          </a:solidFill>
                          <a:latin typeface="DejaVu Sans"/>
                          <a:ea typeface="DejaVu Sans"/>
                          <a:cs typeface="DejaVu Sans"/>
                        </a:rPr>
                        <a:t>Phát hiện base đã đổi</a:t>
                      </a:r>
                    </a:p>
                  </a:txBody>
                  <a:tcPr marL="91440" marR="91440" marT="45720" marB="45720">
                    <a:solidFill>
                      <a:srgbClr val="F3F0FF"/>
                    </a:solidFill>
                  </a:tcPr>
                </a:tc>
              </a:tr>
              <a:tr h="695325">
                <a:tc>
                  <a:txBody>
                    <a:bodyPr/>
                    <a:lstStyle/>
                    <a:p>
                      <a:r>
                        <a:rPr sz="1875" b="0">
                          <a:solidFill>
                            <a:srgbClr val="1E2852"/>
                          </a:solidFill>
                          <a:latin typeface="DejaVu Sans"/>
                          <a:ea typeface="DejaVu Sans"/>
                          <a:cs typeface="DejaVu Sans"/>
                        </a:rPr>
                        <a:t>Sau kiểm tra lại</a:t>
                      </a:r>
                    </a:p>
                  </a:txBody>
                  <a:tcPr marL="91440" marR="91440" marT="45720" marB="45720">
                    <a:solidFill>
                      <a:srgbClr val="EDF3FF"/>
                    </a:solidFill>
                  </a:tcPr>
                </a:tc>
                <a:tc>
                  <a:txBody>
                    <a:bodyPr/>
                    <a:lstStyle/>
                    <a:p>
                      <a:r>
                        <a:rPr sz="1875" b="0">
                          <a:solidFill>
                            <a:srgbClr val="1E2852"/>
                          </a:solidFill>
                          <a:latin typeface="DejaVu Sans"/>
                          <a:ea typeface="DejaVu Sans"/>
                          <a:cs typeface="DejaVu Sans"/>
                        </a:rPr>
                        <a:t>—</a:t>
                      </a:r>
                    </a:p>
                  </a:txBody>
                  <a:tcPr marL="91440" marR="91440" marT="45720" marB="45720">
                    <a:solidFill>
                      <a:srgbClr val="EDF3FF"/>
                    </a:solidFill>
                  </a:tcPr>
                </a:tc>
                <a:tc>
                  <a:txBody>
                    <a:bodyPr/>
                    <a:lstStyle/>
                    <a:p>
                      <a:r>
                        <a:rPr sz="1875" b="0">
                          <a:solidFill>
                            <a:srgbClr val="1E2852"/>
                          </a:solidFill>
                          <a:latin typeface="DejaVu Sans"/>
                          <a:ea typeface="DejaVu Sans"/>
                          <a:cs typeface="DejaVu Sans"/>
                        </a:rPr>
                        <a:t>Có thể commit S3: X + Y</a:t>
                      </a:r>
                    </a:p>
                  </a:txBody>
                  <a:tcPr marL="91440" marR="91440" marT="45720" marB="45720">
                    <a:solidFill>
                      <a:srgbClr val="EDF3FF"/>
                    </a:solidFill>
                  </a:tcPr>
                </a:tc>
              </a:tr>
            </a:tbl>
          </a:graphicData>
        </a:graphic>
      </p:graphicFrame>
      <p:sp>
        <p:nvSpPr>
          <p:cNvPr id="5" name="shape-164">
            <a:extLst xmlns:a="http://schemas.openxmlformats.org/drawingml/2006/main">
              <a:ext uri="{FF2B5EF4-FFF2-40B4-BE49-F238E27FC236}">
                <a16:creationId xmlns:a16="http://schemas.microsoft.com/office/drawing/2014/main" id="{BFAF9BC2-4CE1-416D-AD22-72FB7AB31055}"/>
              </a:ext>
            </a:extLst>
          </p:cNvPr>
          <p:cNvSpPr>
            <a:spLocks xmlns:a="http://schemas.openxmlformats.org/drawingml/2006/main" noGrp="1"/>
          </p:cNvSpPr>
          <p:nvPr/>
        </p:nvSpPr>
        <p:spPr>
          <a:xfrm xmlns:a="http://schemas.openxmlformats.org/drawingml/2006/main">
            <a:off x="647700" y="5629275"/>
            <a:ext cx="10896600" cy="552450"/>
          </a:xfrm>
          <a:prstGeom xmlns:a="http://schemas.openxmlformats.org/drawingml/2006/main" prst="rect">
            <a:avLst/>
          </a:prstGeom>
          <a:solidFill xmlns:a="http://schemas.openxmlformats.org/drawingml/2006/main">
            <a:srgbClr val="F3F0FF"/>
          </a:solidFill>
          <a:ln xmlns:a="http://schemas.openxmlformats.org/drawingml/2006/main" w="0">
            <a:noFill/>
          </a:ln>
        </p:spPr>
      </p:sp>
      <p:sp>
        <p:nvSpPr>
          <p:cNvPr id="6" name="text-165">
            <a:extLst xmlns:a="http://schemas.openxmlformats.org/drawingml/2006/main">
              <a:ext uri="{FF2B5EF4-FFF2-40B4-BE49-F238E27FC236}">
                <a16:creationId xmlns:a16="http://schemas.microsoft.com/office/drawing/2014/main" id="{03419A77-4F76-4664-807E-0D9DE22BF80C}"/>
              </a:ext>
            </a:extLst>
          </p:cNvPr>
          <p:cNvSpPr>
            <a:spLocks xmlns:a="http://schemas.openxmlformats.org/drawingml/2006/main" noGrp="1"/>
          </p:cNvSpPr>
          <p:nvPr/>
        </p:nvSpPr>
        <p:spPr>
          <a:xfrm xmlns:a="http://schemas.openxmlformats.org/drawingml/2006/main">
            <a:off x="819150" y="57435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6A"/>
                </a:solidFill>
                <a:latin typeface="DejaVu Sans"/>
                <a:ea typeface="DejaVu Sans"/>
                <a:cs typeface="DejaVu Sans"/>
              </a:defRPr>
            </a:pPr>
            <a:r>
              <a:rPr sz="1875" b="1">
                <a:solidFill>
                  <a:srgbClr val="202D6A"/>
                </a:solidFill>
                <a:latin typeface="DejaVu Sans"/>
                <a:ea typeface="DejaVu Sans"/>
                <a:cs typeface="DejaVu Sans"/>
              </a:rPr>
              <a:t>Retry chỉ tiếp tục khi kiểm tra cho thấy thay đổi còn tương thích.</a:t>
            </a:r>
          </a:p>
        </p:txBody>
      </p:sp>
    </p:spTree>
    <p:extLst>
      <p:ext uri="{BB962C8B-B14F-4D97-AF65-F5344CB8AC3E}">
        <p14:creationId xmlns:p14="http://schemas.microsoft.com/office/powerpoint/2010/main" val="539096705"/>
      </p:ext>
    </p:extLst>
  </p:cSld>
</p:sld>
</file>

<file path=ppt/slides/slide13.xml><?xml version="1.0" encoding="utf-8"?>
<p:sld xmlns:p="http://schemas.openxmlformats.org/presentationml/2006/main">
  <p:cSld>
    <p:bg>
      <p:bgPr>
        <a:solidFill xmlns:a="http://schemas.openxmlformats.org/drawingml/2006/main">
          <a:srgbClr val="F3F0FF"/>
        </a:solidFill>
      </p:bgPr>
    </p:bg>
    <p:spTree>
      <p:nvGrpSpPr>
        <p:cNvPr id="1" name=""/>
        <p:cNvGrpSpPr/>
        <p:nvPr/>
      </p:nvGrpSpPr>
      <p:grpSpPr>
        <a:xfrm xmlns:a="http://schemas.openxmlformats.org/drawingml/2006/main"/>
      </p:grpSpPr>
      <p:sp>
        <p:nvSpPr>
          <p:cNvPr id="9" name="text-166">
            <a:extLst xmlns:a="http://schemas.openxmlformats.org/drawingml/2006/main">
              <a:ext uri="{FF2B5EF4-FFF2-40B4-BE49-F238E27FC236}">
                <a16:creationId xmlns:a16="http://schemas.microsoft.com/office/drawing/2014/main" id="{DADF4E4A-C6BF-4550-8C6A-A91BBAF901F5}"/>
              </a:ext>
            </a:extLst>
          </p:cNvPr>
          <p:cNvSpPr>
            <a:spLocks xmlns:a="http://schemas.openxmlformats.org/drawingml/2006/main" noGrp="1"/>
          </p:cNvSpPr>
          <p:nvPr/>
        </p:nvSpPr>
        <p:spPr>
          <a:xfrm xmlns:a="http://schemas.openxmlformats.org/drawingml/2006/main">
            <a:off x="647700" y="4191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D6A"/>
                </a:solidFill>
                <a:latin typeface="DejaVu Sans"/>
                <a:ea typeface="DejaVu Sans"/>
                <a:cs typeface="DejaVu Sans"/>
              </a:defRPr>
            </a:pPr>
            <a:r>
              <a:rPr sz="3450" b="1">
                <a:solidFill>
                  <a:srgbClr val="202D6A"/>
                </a:solidFill>
                <a:latin typeface="DejaVu Sans"/>
                <a:ea typeface="DejaVu Sans"/>
                <a:cs typeface="DejaVu Sans"/>
              </a:rPr>
              <a:t>Schema evolution dựa trên field ID</a:t>
            </a:r>
          </a:p>
        </p:txBody>
      </p:sp>
      <p:sp>
        <p:nvSpPr>
          <p:cNvPr id="2" name="line-167">
            <a:extLst xmlns:a="http://schemas.openxmlformats.org/drawingml/2006/main">
              <a:ext uri="{FF2B5EF4-FFF2-40B4-BE49-F238E27FC236}">
                <a16:creationId xmlns:a16="http://schemas.microsoft.com/office/drawing/2014/main" id="{C25C00F6-75EE-41DE-9FC2-0B08DFBDCD68}"/>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3" name="text-168">
            <a:extLst xmlns:a="http://schemas.openxmlformats.org/drawingml/2006/main">
              <a:ext uri="{FF2B5EF4-FFF2-40B4-BE49-F238E27FC236}">
                <a16:creationId xmlns:a16="http://schemas.microsoft.com/office/drawing/2014/main" id="{6CBC3862-25C7-4980-BD47-B724EBD6BBEA}"/>
              </a:ext>
            </a:extLst>
          </p:cNvPr>
          <p:cNvSpPr>
            <a:spLocks xmlns:a="http://schemas.openxmlformats.org/drawingml/2006/main" noGrp="1"/>
          </p:cNvSpPr>
          <p:nvPr/>
        </p:nvSpPr>
        <p:spPr>
          <a:xfrm xmlns:a="http://schemas.openxmlformats.org/drawingml/2006/main">
            <a:off x="11144250"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82"/>
                </a:solidFill>
                <a:latin typeface="DejaVu Sans"/>
                <a:ea typeface="DejaVu Sans"/>
                <a:cs typeface="DejaVu Sans"/>
              </a:defRPr>
            </a:pPr>
            <a:r>
              <a:rPr sz="1350" b="0">
                <a:solidFill>
                  <a:srgbClr val="5A6482"/>
                </a:solidFill>
                <a:latin typeface="DejaVu Sans"/>
                <a:ea typeface="DejaVu Sans"/>
                <a:cs typeface="DejaVu Sans"/>
              </a:rPr>
              <a:t>13</a:t>
            </a:r>
          </a:p>
        </p:txBody>
      </p:sp>
      <p:graphicFrame>
        <p:nvGraphicFramePr>
          <p:cNvPr id="12" name=""/>
          <p:cNvGraphicFramePr/>
          <p:nvPr/>
        </p:nvGraphicFramePr>
        <p:xfrm>
          <a:off xmlns:a="http://schemas.openxmlformats.org/drawingml/2006/main" x="647700" y="1847850"/>
          <a:ext xmlns:a="http://schemas.openxmlformats.org/drawingml/2006/main" cx="10896600" cy="2667000"/>
        </p:xfrm>
        <a:graphic xmlns:a="http://schemas.openxmlformats.org/drawingml/2006/main">
          <a:graphicData uri="http://schemas.openxmlformats.org/drawingml/2006/table">
            <a:tbl>
              <a:tblPr/>
              <a:tblGrid>
                <a:gridCol w="2143125"/>
                <a:gridCol w="4381500"/>
                <a:gridCol w="4371975"/>
              </a:tblGrid>
              <a:tr h="666750">
                <a:tc>
                  <a:txBody>
                    <a:bodyPr/>
                    <a:lstStyle/>
                    <a:p>
                      <a:r>
                        <a:rPr sz="1950" b="1">
                          <a:solidFill>
                            <a:srgbClr val="FFFFFF"/>
                          </a:solidFill>
                          <a:latin typeface="DejaVu Sans"/>
                          <a:ea typeface="DejaVu Sans"/>
                          <a:cs typeface="DejaVu Sans"/>
                        </a:rPr>
                        <a:t>Field ID</a:t>
                      </a:r>
                    </a:p>
                  </a:txBody>
                  <a:tcPr marL="91440" marR="91440" marT="45720" marB="45720">
                    <a:solidFill>
                      <a:srgbClr val="202D6A"/>
                    </a:solidFill>
                  </a:tcPr>
                </a:tc>
                <a:tc>
                  <a:txBody>
                    <a:bodyPr/>
                    <a:lstStyle/>
                    <a:p>
                      <a:r>
                        <a:rPr sz="1950" b="1">
                          <a:solidFill>
                            <a:srgbClr val="FFFFFF"/>
                          </a:solidFill>
                          <a:latin typeface="DejaVu Sans"/>
                          <a:ea typeface="DejaVu Sans"/>
                          <a:cs typeface="DejaVu Sans"/>
                        </a:rPr>
                        <a:t>Schema cũ</a:t>
                      </a:r>
                    </a:p>
                  </a:txBody>
                  <a:tcPr marL="91440" marR="91440" marT="45720" marB="45720">
                    <a:solidFill>
                      <a:srgbClr val="202D6A"/>
                    </a:solidFill>
                  </a:tcPr>
                </a:tc>
                <a:tc>
                  <a:txBody>
                    <a:bodyPr/>
                    <a:lstStyle/>
                    <a:p>
                      <a:r>
                        <a:rPr sz="1950" b="1">
                          <a:solidFill>
                            <a:srgbClr val="FFFFFF"/>
                          </a:solidFill>
                          <a:latin typeface="DejaVu Sans"/>
                          <a:ea typeface="DejaVu Sans"/>
                          <a:cs typeface="DejaVu Sans"/>
                        </a:rPr>
                        <a:t>Schema mới</a:t>
                      </a:r>
                    </a:p>
                  </a:txBody>
                  <a:tcPr marL="91440" marR="91440" marT="45720" marB="45720">
                    <a:solidFill>
                      <a:srgbClr val="202D6A"/>
                    </a:solidFill>
                  </a:tcPr>
                </a:tc>
              </a:tr>
              <a:tr h="666750">
                <a:tc>
                  <a:txBody>
                    <a:bodyPr/>
                    <a:lstStyle/>
                    <a:p>
                      <a:r>
                        <a:rPr sz="1950" b="0">
                          <a:solidFill>
                            <a:srgbClr val="1E2852"/>
                          </a:solidFill>
                          <a:latin typeface="DejaVu Sans"/>
                          <a:ea typeface="DejaVu Sans"/>
                          <a:cs typeface="DejaVu Sans"/>
                        </a:rPr>
                        <a:t>1</a:t>
                      </a:r>
                    </a:p>
                  </a:txBody>
                  <a:tcPr marL="91440" marR="91440" marT="45720" marB="45720">
                    <a:solidFill>
                      <a:srgbClr val="F3F0FF"/>
                    </a:solidFill>
                  </a:tcPr>
                </a:tc>
                <a:tc>
                  <a:txBody>
                    <a:bodyPr/>
                    <a:lstStyle/>
                    <a:p>
                      <a:r>
                        <a:rPr sz="1950" b="0">
                          <a:solidFill>
                            <a:srgbClr val="1E2852"/>
                          </a:solidFill>
                          <a:latin typeface="DejaVu Sans"/>
                          <a:ea typeface="DejaVu Sans"/>
                          <a:cs typeface="DejaVu Sans"/>
                        </a:rPr>
                        <a:t>customer_id: int</a:t>
                      </a:r>
                    </a:p>
                  </a:txBody>
                  <a:tcPr marL="91440" marR="91440" marT="45720" marB="45720">
                    <a:solidFill>
                      <a:srgbClr val="F3F0FF"/>
                    </a:solidFill>
                  </a:tcPr>
                </a:tc>
                <a:tc>
                  <a:txBody>
                    <a:bodyPr/>
                    <a:lstStyle/>
                    <a:p>
                      <a:r>
                        <a:rPr sz="1950" b="0">
                          <a:solidFill>
                            <a:srgbClr val="1E2852"/>
                          </a:solidFill>
                          <a:latin typeface="DejaVu Sans"/>
                          <a:ea typeface="DejaVu Sans"/>
                          <a:cs typeface="DejaVu Sans"/>
                        </a:rPr>
                        <a:t>customer_id: long</a:t>
                      </a:r>
                    </a:p>
                  </a:txBody>
                  <a:tcPr marL="91440" marR="91440" marT="45720" marB="45720">
                    <a:solidFill>
                      <a:srgbClr val="F3F0FF"/>
                    </a:solidFill>
                  </a:tcPr>
                </a:tc>
              </a:tr>
              <a:tr h="666750">
                <a:tc>
                  <a:txBody>
                    <a:bodyPr/>
                    <a:lstStyle/>
                    <a:p>
                      <a:r>
                        <a:rPr sz="1950" b="0">
                          <a:solidFill>
                            <a:srgbClr val="1E2852"/>
                          </a:solidFill>
                          <a:latin typeface="DejaVu Sans"/>
                          <a:ea typeface="DejaVu Sans"/>
                          <a:cs typeface="DejaVu Sans"/>
                        </a:rPr>
                        <a:t>2</a:t>
                      </a:r>
                    </a:p>
                  </a:txBody>
                  <a:tcPr marL="91440" marR="91440" marT="45720" marB="45720">
                    <a:solidFill>
                      <a:srgbClr val="EDF3FF"/>
                    </a:solidFill>
                  </a:tcPr>
                </a:tc>
                <a:tc>
                  <a:txBody>
                    <a:bodyPr/>
                    <a:lstStyle/>
                    <a:p>
                      <a:r>
                        <a:rPr sz="1950" b="0">
                          <a:solidFill>
                            <a:srgbClr val="1E2852"/>
                          </a:solidFill>
                          <a:latin typeface="DejaVu Sans"/>
                          <a:ea typeface="DejaVu Sans"/>
                          <a:cs typeface="DejaVu Sans"/>
                        </a:rPr>
                        <a:t>customer_name: string</a:t>
                      </a:r>
                    </a:p>
                  </a:txBody>
                  <a:tcPr marL="91440" marR="91440" marT="45720" marB="45720">
                    <a:solidFill>
                      <a:srgbClr val="EDF3FF"/>
                    </a:solidFill>
                  </a:tcPr>
                </a:tc>
                <a:tc>
                  <a:txBody>
                    <a:bodyPr/>
                    <a:lstStyle/>
                    <a:p>
                      <a:r>
                        <a:rPr sz="1950" b="0">
                          <a:solidFill>
                            <a:srgbClr val="1E2852"/>
                          </a:solidFill>
                          <a:latin typeface="DejaVu Sans"/>
                          <a:ea typeface="DejaVu Sans"/>
                          <a:cs typeface="DejaVu Sans"/>
                        </a:rPr>
                        <a:t>full_name: string</a:t>
                      </a:r>
                    </a:p>
                  </a:txBody>
                  <a:tcPr marL="91440" marR="91440" marT="45720" marB="45720">
                    <a:solidFill>
                      <a:srgbClr val="EDF3FF"/>
                    </a:solidFill>
                  </a:tcPr>
                </a:tc>
              </a:tr>
              <a:tr h="666750">
                <a:tc>
                  <a:txBody>
                    <a:bodyPr/>
                    <a:lstStyle/>
                    <a:p>
                      <a:r>
                        <a:rPr sz="1950" b="0">
                          <a:solidFill>
                            <a:srgbClr val="1E2852"/>
                          </a:solidFill>
                          <a:latin typeface="DejaVu Sans"/>
                          <a:ea typeface="DejaVu Sans"/>
                          <a:cs typeface="DejaVu Sans"/>
                        </a:rPr>
                        <a:t>3</a:t>
                      </a:r>
                    </a:p>
                  </a:txBody>
                  <a:tcPr marL="91440" marR="91440" marT="45720" marB="45720">
                    <a:solidFill>
                      <a:srgbClr val="F3F0FF"/>
                    </a:solidFill>
                  </a:tcPr>
                </a:tc>
                <a:tc>
                  <a:txBody>
                    <a:bodyPr/>
                    <a:lstStyle/>
                    <a:p>
                      <a:r>
                        <a:rPr sz="1950" b="0">
                          <a:solidFill>
                            <a:srgbClr val="1E2852"/>
                          </a:solidFill>
                          <a:latin typeface="DejaVu Sans"/>
                          <a:ea typeface="DejaVu Sans"/>
                          <a:cs typeface="DejaVu Sans"/>
                        </a:rPr>
                        <a:t>—</a:t>
                      </a:r>
                    </a:p>
                  </a:txBody>
                  <a:tcPr marL="91440" marR="91440" marT="45720" marB="45720">
                    <a:solidFill>
                      <a:srgbClr val="F3F0FF"/>
                    </a:solidFill>
                  </a:tcPr>
                </a:tc>
                <a:tc>
                  <a:txBody>
                    <a:bodyPr/>
                    <a:lstStyle/>
                    <a:p>
                      <a:r>
                        <a:rPr sz="1950" b="0">
                          <a:solidFill>
                            <a:srgbClr val="1E2852"/>
                          </a:solidFill>
                          <a:latin typeface="DejaVu Sans"/>
                          <a:ea typeface="DejaVu Sans"/>
                          <a:cs typeface="DejaVu Sans"/>
                        </a:rPr>
                        <a:t>email: string (nullable)</a:t>
                      </a:r>
                    </a:p>
                  </a:txBody>
                  <a:tcPr marL="91440" marR="91440" marT="45720" marB="45720">
                    <a:solidFill>
                      <a:srgbClr val="F3F0FF"/>
                    </a:solidFill>
                  </a:tcPr>
                </a:tc>
              </a:tr>
            </a:tbl>
          </a:graphicData>
        </a:graphic>
      </p:graphicFrame>
      <p:sp>
        <p:nvSpPr>
          <p:cNvPr id="5" name="text-169">
            <a:extLst xmlns:a="http://schemas.openxmlformats.org/drawingml/2006/main">
              <a:ext uri="{FF2B5EF4-FFF2-40B4-BE49-F238E27FC236}">
                <a16:creationId xmlns:a16="http://schemas.microsoft.com/office/drawing/2014/main" id="{470AE5DF-6681-4AB1-A3A2-2924ACF076BD}"/>
              </a:ext>
            </a:extLst>
          </p:cNvPr>
          <p:cNvSpPr>
            <a:spLocks xmlns:a="http://schemas.openxmlformats.org/drawingml/2006/main" noGrp="1"/>
          </p:cNvSpPr>
          <p:nvPr/>
        </p:nvSpPr>
        <p:spPr>
          <a:xfrm xmlns:a="http://schemas.openxmlformats.org/drawingml/2006/main">
            <a:off x="647700" y="4895850"/>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858D6"/>
                </a:solidFill>
                <a:latin typeface="DejaVu Sans"/>
                <a:ea typeface="DejaVu Sans"/>
                <a:cs typeface="DejaVu Sans"/>
              </a:defRPr>
            </a:pPr>
            <a:r>
              <a:rPr sz="2250" b="1">
                <a:solidFill>
                  <a:srgbClr val="3858D6"/>
                </a:solidFill>
                <a:latin typeface="DejaVu Sans"/>
                <a:ea typeface="DejaVu Sans"/>
                <a:cs typeface="DejaVu Sans"/>
              </a:rPr>
              <a:t>Đổi tên vẫn giữ ID 2</a:t>
            </a:r>
          </a:p>
        </p:txBody>
      </p:sp>
      <p:sp>
        <p:nvSpPr>
          <p:cNvPr id="6" name="text-170">
            <a:extLst xmlns:a="http://schemas.openxmlformats.org/drawingml/2006/main">
              <a:ext uri="{FF2B5EF4-FFF2-40B4-BE49-F238E27FC236}">
                <a16:creationId xmlns:a16="http://schemas.microsoft.com/office/drawing/2014/main" id="{D8AED2D7-1D2C-45C9-AC6A-9836916CA004}"/>
              </a:ext>
            </a:extLst>
          </p:cNvPr>
          <p:cNvSpPr>
            <a:spLocks xmlns:a="http://schemas.openxmlformats.org/drawingml/2006/main" noGrp="1"/>
          </p:cNvSpPr>
          <p:nvPr/>
        </p:nvSpPr>
        <p:spPr>
          <a:xfrm xmlns:a="http://schemas.openxmlformats.org/drawingml/2006/main">
            <a:off x="6496050" y="489585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858D6"/>
                </a:solidFill>
                <a:latin typeface="DejaVu Sans"/>
                <a:ea typeface="DejaVu Sans"/>
                <a:cs typeface="DejaVu Sans"/>
              </a:defRPr>
            </a:pPr>
            <a:r>
              <a:rPr sz="2250" b="1">
                <a:solidFill>
                  <a:srgbClr val="3858D6"/>
                </a:solidFill>
                <a:latin typeface="DejaVu Sans"/>
                <a:ea typeface="DejaVu Sans"/>
                <a:cs typeface="DejaVu Sans"/>
              </a:rPr>
              <a:t>Dòng cũ đọc email là NULL</a:t>
            </a:r>
          </a:p>
        </p:txBody>
      </p:sp>
      <p:sp>
        <p:nvSpPr>
          <p:cNvPr id="7" name="shape-171">
            <a:extLst xmlns:a="http://schemas.openxmlformats.org/drawingml/2006/main">
              <a:ext uri="{FF2B5EF4-FFF2-40B4-BE49-F238E27FC236}">
                <a16:creationId xmlns:a16="http://schemas.microsoft.com/office/drawing/2014/main" id="{81F1A6C3-C91B-4514-8079-AFF8A9E018F5}"/>
              </a:ext>
            </a:extLst>
          </p:cNvPr>
          <p:cNvSpPr>
            <a:spLocks xmlns:a="http://schemas.openxmlformats.org/drawingml/2006/main" noGrp="1"/>
          </p:cNvSpPr>
          <p:nvPr/>
        </p:nvSpPr>
        <p:spPr>
          <a:xfrm xmlns:a="http://schemas.openxmlformats.org/drawingml/2006/main">
            <a:off x="647700" y="5629275"/>
            <a:ext cx="10896600" cy="552450"/>
          </a:xfrm>
          <a:prstGeom xmlns:a="http://schemas.openxmlformats.org/drawingml/2006/main" prst="rect">
            <a:avLst/>
          </a:prstGeom>
          <a:solidFill xmlns:a="http://schemas.openxmlformats.org/drawingml/2006/main">
            <a:srgbClr val="F3F0FF"/>
          </a:solidFill>
          <a:ln xmlns:a="http://schemas.openxmlformats.org/drawingml/2006/main" w="0">
            <a:noFill/>
          </a:ln>
        </p:spPr>
      </p:sp>
      <p:sp>
        <p:nvSpPr>
          <p:cNvPr id="8" name="text-172">
            <a:extLst xmlns:a="http://schemas.openxmlformats.org/drawingml/2006/main">
              <a:ext uri="{FF2B5EF4-FFF2-40B4-BE49-F238E27FC236}">
                <a16:creationId xmlns:a16="http://schemas.microsoft.com/office/drawing/2014/main" id="{87454CD7-AD25-4013-B7DC-8E06F3A57B5E}"/>
              </a:ext>
            </a:extLst>
          </p:cNvPr>
          <p:cNvSpPr>
            <a:spLocks xmlns:a="http://schemas.openxmlformats.org/drawingml/2006/main" noGrp="1"/>
          </p:cNvSpPr>
          <p:nvPr/>
        </p:nvSpPr>
        <p:spPr>
          <a:xfrm xmlns:a="http://schemas.openxmlformats.org/drawingml/2006/main">
            <a:off x="819150" y="57435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6A"/>
                </a:solidFill>
                <a:latin typeface="DejaVu Sans"/>
                <a:ea typeface="DejaVu Sans"/>
                <a:cs typeface="DejaVu Sans"/>
              </a:defRPr>
            </a:pPr>
            <a:r>
              <a:rPr sz="1875" b="1">
                <a:solidFill>
                  <a:srgbClr val="202D6A"/>
                </a:solidFill>
                <a:latin typeface="DejaVu Sans"/>
                <a:ea typeface="DejaVu Sans"/>
                <a:cs typeface="DejaVu Sans"/>
              </a:rPr>
              <a:t>Add · Drop · Rename · Reorder · Đổi kiểu tương thích</a:t>
            </a:r>
          </a:p>
        </p:txBody>
      </p:sp>
    </p:spTree>
    <p:extLst>
      <p:ext uri="{BB962C8B-B14F-4D97-AF65-F5344CB8AC3E}">
        <p14:creationId xmlns:p14="http://schemas.microsoft.com/office/powerpoint/2010/main" val="153313326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173">
            <a:extLst xmlns:a="http://schemas.openxmlformats.org/drawingml/2006/main">
              <a:ext uri="{FF2B5EF4-FFF2-40B4-BE49-F238E27FC236}">
                <a16:creationId xmlns:a16="http://schemas.microsoft.com/office/drawing/2014/main" id="{3549AB62-AF62-47A7-AC7F-9B593609541A}"/>
              </a:ext>
            </a:extLst>
          </p:cNvPr>
          <p:cNvSpPr>
            <a:spLocks xmlns:a="http://schemas.openxmlformats.org/drawingml/2006/main" noGrp="1"/>
          </p:cNvSpPr>
          <p:nvPr/>
        </p:nvSpPr>
        <p:spPr>
          <a:xfrm xmlns:a="http://schemas.openxmlformats.org/drawingml/2006/main">
            <a:off x="647700" y="4191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D6A"/>
                </a:solidFill>
                <a:latin typeface="DejaVu Sans"/>
                <a:ea typeface="DejaVu Sans"/>
                <a:cs typeface="DejaVu Sans"/>
              </a:defRPr>
            </a:pPr>
            <a:r>
              <a:rPr sz="3450" b="1">
                <a:solidFill>
                  <a:srgbClr val="202D6A"/>
                </a:solidFill>
                <a:latin typeface="DejaVu Sans"/>
                <a:ea typeface="DejaVu Sans"/>
                <a:cs typeface="DejaVu Sans"/>
              </a:rPr>
              <a:t>Đổi partition mà không viết lại dữ liệu</a:t>
            </a:r>
          </a:p>
        </p:txBody>
      </p:sp>
      <p:sp>
        <p:nvSpPr>
          <p:cNvPr id="2" name="line-174">
            <a:extLst xmlns:a="http://schemas.openxmlformats.org/drawingml/2006/main">
              <a:ext uri="{FF2B5EF4-FFF2-40B4-BE49-F238E27FC236}">
                <a16:creationId xmlns:a16="http://schemas.microsoft.com/office/drawing/2014/main" id="{2C81300B-82EA-4F1E-A844-753EF40C0F81}"/>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3" name="text-175">
            <a:extLst xmlns:a="http://schemas.openxmlformats.org/drawingml/2006/main">
              <a:ext uri="{FF2B5EF4-FFF2-40B4-BE49-F238E27FC236}">
                <a16:creationId xmlns:a16="http://schemas.microsoft.com/office/drawing/2014/main" id="{6B2AD6A3-41C7-4988-9390-4B3BF29EE379}"/>
              </a:ext>
            </a:extLst>
          </p:cNvPr>
          <p:cNvSpPr>
            <a:spLocks xmlns:a="http://schemas.openxmlformats.org/drawingml/2006/main" noGrp="1"/>
          </p:cNvSpPr>
          <p:nvPr/>
        </p:nvSpPr>
        <p:spPr>
          <a:xfrm xmlns:a="http://schemas.openxmlformats.org/drawingml/2006/main">
            <a:off x="11144250"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82"/>
                </a:solidFill>
                <a:latin typeface="DejaVu Sans"/>
                <a:ea typeface="DejaVu Sans"/>
                <a:cs typeface="DejaVu Sans"/>
              </a:defRPr>
            </a:pPr>
            <a:r>
              <a:rPr sz="1350" b="0">
                <a:solidFill>
                  <a:srgbClr val="5A6482"/>
                </a:solidFill>
                <a:latin typeface="DejaVu Sans"/>
                <a:ea typeface="DejaVu Sans"/>
                <a:cs typeface="DejaVu Sans"/>
              </a:rPr>
              <a:t>14</a:t>
            </a:r>
          </a:p>
        </p:txBody>
      </p:sp>
      <p:sp>
        <p:nvSpPr>
          <p:cNvPr id="4" name="text-176">
            <a:extLst xmlns:a="http://schemas.openxmlformats.org/drawingml/2006/main">
              <a:ext uri="{FF2B5EF4-FFF2-40B4-BE49-F238E27FC236}">
                <a16:creationId xmlns:a16="http://schemas.microsoft.com/office/drawing/2014/main" id="{DA822CD2-68DF-40DC-8AC5-AC345C93E510}"/>
              </a:ext>
            </a:extLst>
          </p:cNvPr>
          <p:cNvSpPr>
            <a:spLocks xmlns:a="http://schemas.openxmlformats.org/drawingml/2006/main" noGrp="1"/>
          </p:cNvSpPr>
          <p:nvPr/>
        </p:nvSpPr>
        <p:spPr>
          <a:xfrm xmlns:a="http://schemas.openxmlformats.org/drawingml/2006/main">
            <a:off x="647700" y="176212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858D6"/>
                </a:solidFill>
                <a:latin typeface="DejaVu Sans"/>
                <a:ea typeface="DejaVu Sans"/>
                <a:cs typeface="DejaVu Sans"/>
              </a:defRPr>
            </a:pPr>
            <a:r>
              <a:rPr sz="2400" b="1">
                <a:solidFill>
                  <a:srgbClr val="3858D6"/>
                </a:solidFill>
                <a:latin typeface="DejaVu Sans"/>
                <a:ea typeface="DejaVu Sans"/>
                <a:cs typeface="DejaVu Sans"/>
              </a:rPr>
              <a:t>Spec 0 · months(event_time)</a:t>
            </a:r>
          </a:p>
        </p:txBody>
      </p:sp>
      <p:sp>
        <p:nvSpPr>
          <p:cNvPr id="5" name="text-177">
            <a:extLst xmlns:a="http://schemas.openxmlformats.org/drawingml/2006/main">
              <a:ext uri="{FF2B5EF4-FFF2-40B4-BE49-F238E27FC236}">
                <a16:creationId xmlns:a16="http://schemas.microsoft.com/office/drawing/2014/main" id="{8966E6AF-721D-4A37-8BEA-AC80FDE773E2}"/>
              </a:ext>
            </a:extLst>
          </p:cNvPr>
          <p:cNvSpPr>
            <a:spLocks xmlns:a="http://schemas.openxmlformats.org/drawingml/2006/main" noGrp="1"/>
          </p:cNvSpPr>
          <p:nvPr/>
        </p:nvSpPr>
        <p:spPr>
          <a:xfrm xmlns:a="http://schemas.openxmlformats.org/drawingml/2006/main">
            <a:off x="647700" y="2400300"/>
            <a:ext cx="50387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A6482"/>
                </a:solidFill>
                <a:latin typeface="DejaVu Sans"/>
                <a:ea typeface="DejaVu Sans"/>
                <a:cs typeface="DejaVu Sans"/>
              </a:defRPr>
            </a:pPr>
            <a:r>
              <a:rPr sz="2100" b="0">
                <a:solidFill>
                  <a:srgbClr val="5A6482"/>
                </a:solidFill>
                <a:latin typeface="DejaVu Sans"/>
                <a:ea typeface="DejaVu Sans"/>
                <a:cs typeface="DejaVu Sans"/>
              </a:rPr>
              <a:t>Dữ liệu đã tồn tại</a:t>
            </a:r>
          </a:p>
        </p:txBody>
      </p:sp>
      <p:sp>
        <p:nvSpPr>
          <p:cNvPr id="6" name="shape-178">
            <a:extLst xmlns:a="http://schemas.openxmlformats.org/drawingml/2006/main">
              <a:ext uri="{FF2B5EF4-FFF2-40B4-BE49-F238E27FC236}">
                <a16:creationId xmlns:a16="http://schemas.microsoft.com/office/drawing/2014/main" id="{272FC622-2FB5-408A-8528-A1A52F8F9314}"/>
              </a:ext>
            </a:extLst>
          </p:cNvPr>
          <p:cNvSpPr>
            <a:spLocks xmlns:a="http://schemas.openxmlformats.org/drawingml/2006/main" noGrp="1"/>
          </p:cNvSpPr>
          <p:nvPr/>
        </p:nvSpPr>
        <p:spPr>
          <a:xfrm xmlns:a="http://schemas.openxmlformats.org/drawingml/2006/main">
            <a:off x="647700" y="3076575"/>
            <a:ext cx="4953000" cy="1000125"/>
          </a:xfrm>
          <a:prstGeom xmlns:a="http://schemas.openxmlformats.org/drawingml/2006/main" prst="rect">
            <a:avLst/>
          </a:prstGeom>
          <a:solidFill xmlns:a="http://schemas.openxmlformats.org/drawingml/2006/main">
            <a:srgbClr val="EDF3FF"/>
          </a:solidFill>
          <a:ln xmlns:a="http://schemas.openxmlformats.org/drawingml/2006/main" w="0">
            <a:noFill/>
          </a:ln>
        </p:spPr>
      </p:sp>
      <p:sp>
        <p:nvSpPr>
          <p:cNvPr id="7" name="text-179">
            <a:extLst xmlns:a="http://schemas.openxmlformats.org/drawingml/2006/main">
              <a:ext uri="{FF2B5EF4-FFF2-40B4-BE49-F238E27FC236}">
                <a16:creationId xmlns:a16="http://schemas.microsoft.com/office/drawing/2014/main" id="{58671D17-8C03-4DAF-BD51-6956855B30F7}"/>
              </a:ext>
            </a:extLst>
          </p:cNvPr>
          <p:cNvSpPr>
            <a:spLocks xmlns:a="http://schemas.openxmlformats.org/drawingml/2006/main" noGrp="1"/>
          </p:cNvSpPr>
          <p:nvPr/>
        </p:nvSpPr>
        <p:spPr>
          <a:xfrm xmlns:a="http://schemas.openxmlformats.org/drawingml/2006/main">
            <a:off x="819150" y="3209925"/>
            <a:ext cx="46101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E2852"/>
                </a:solidFill>
                <a:latin typeface="DejaVu Sans"/>
                <a:ea typeface="DejaVu Sans"/>
                <a:cs typeface="DejaVu Sans"/>
              </a:defRPr>
            </a:pPr>
            <a:r>
              <a:rPr sz="2475" b="1">
                <a:solidFill>
                  <a:srgbClr val="1E2852"/>
                </a:solidFill>
                <a:latin typeface="DejaVu Sans"/>
                <a:ea typeface="DejaVu Sans"/>
                <a:cs typeface="DejaVu Sans"/>
              </a:rPr>
              <a:t>2024-01</a:t>
            </a:r>
          </a:p>
        </p:txBody>
      </p:sp>
      <p:sp>
        <p:nvSpPr>
          <p:cNvPr id="8" name="text-180">
            <a:extLst xmlns:a="http://schemas.openxmlformats.org/drawingml/2006/main">
              <a:ext uri="{FF2B5EF4-FFF2-40B4-BE49-F238E27FC236}">
                <a16:creationId xmlns:a16="http://schemas.microsoft.com/office/drawing/2014/main" id="{12A87FAB-F318-4095-816D-351E95BCDF35}"/>
              </a:ext>
            </a:extLst>
          </p:cNvPr>
          <p:cNvSpPr>
            <a:spLocks xmlns:a="http://schemas.openxmlformats.org/drawingml/2006/main" noGrp="1"/>
          </p:cNvSpPr>
          <p:nvPr/>
        </p:nvSpPr>
        <p:spPr>
          <a:xfrm xmlns:a="http://schemas.openxmlformats.org/drawingml/2006/main">
            <a:off x="647700" y="4419600"/>
            <a:ext cx="4953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E2852"/>
                </a:solidFill>
                <a:latin typeface="DejaVu Sans"/>
                <a:ea typeface="DejaVu Sans"/>
                <a:cs typeface="DejaVu Sans"/>
              </a:defRPr>
            </a:pPr>
            <a:r>
              <a:rPr sz="2100" b="0">
                <a:solidFill>
                  <a:srgbClr val="1E2852"/>
                </a:solidFill>
                <a:latin typeface="DejaVu Sans"/>
                <a:ea typeface="DejaVu Sans"/>
                <a:cs typeface="DejaVu Sans"/>
              </a:rPr>
              <a:t>Giữ nguyên cách tổ chức theo tháng.</a:t>
            </a:r>
          </a:p>
        </p:txBody>
      </p:sp>
      <p:sp>
        <p:nvSpPr>
          <p:cNvPr id="9" name="text-181">
            <a:extLst xmlns:a="http://schemas.openxmlformats.org/drawingml/2006/main">
              <a:ext uri="{FF2B5EF4-FFF2-40B4-BE49-F238E27FC236}">
                <a16:creationId xmlns:a16="http://schemas.microsoft.com/office/drawing/2014/main" id="{0B320E34-A038-4B91-B4D7-30630820AC1F}"/>
              </a:ext>
            </a:extLst>
          </p:cNvPr>
          <p:cNvSpPr>
            <a:spLocks xmlns:a="http://schemas.openxmlformats.org/drawingml/2006/main" noGrp="1"/>
          </p:cNvSpPr>
          <p:nvPr/>
        </p:nvSpPr>
        <p:spPr>
          <a:xfrm xmlns:a="http://schemas.openxmlformats.org/drawingml/2006/main">
            <a:off x="6600825" y="1762125"/>
            <a:ext cx="49434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858D6"/>
                </a:solidFill>
                <a:latin typeface="DejaVu Sans"/>
                <a:ea typeface="DejaVu Sans"/>
                <a:cs typeface="DejaVu Sans"/>
              </a:defRPr>
            </a:pPr>
            <a:r>
              <a:rPr sz="2400" b="1">
                <a:solidFill>
                  <a:srgbClr val="3858D6"/>
                </a:solidFill>
                <a:latin typeface="DejaVu Sans"/>
                <a:ea typeface="DejaVu Sans"/>
                <a:cs typeface="DejaVu Sans"/>
              </a:rPr>
              <a:t>Spec 1 · days(event_time)</a:t>
            </a:r>
          </a:p>
        </p:txBody>
      </p:sp>
      <p:sp>
        <p:nvSpPr>
          <p:cNvPr id="10" name="text-182">
            <a:extLst xmlns:a="http://schemas.openxmlformats.org/drawingml/2006/main">
              <a:ext uri="{FF2B5EF4-FFF2-40B4-BE49-F238E27FC236}">
                <a16:creationId xmlns:a16="http://schemas.microsoft.com/office/drawing/2014/main" id="{7244CAFD-A354-494E-82BD-A8E7449A8F12}"/>
              </a:ext>
            </a:extLst>
          </p:cNvPr>
          <p:cNvSpPr>
            <a:spLocks xmlns:a="http://schemas.openxmlformats.org/drawingml/2006/main" noGrp="1"/>
          </p:cNvSpPr>
          <p:nvPr/>
        </p:nvSpPr>
        <p:spPr>
          <a:xfrm xmlns:a="http://schemas.openxmlformats.org/drawingml/2006/main">
            <a:off x="6600825" y="2400300"/>
            <a:ext cx="4943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A6482"/>
                </a:solidFill>
                <a:latin typeface="DejaVu Sans"/>
                <a:ea typeface="DejaVu Sans"/>
                <a:cs typeface="DejaVu Sans"/>
              </a:defRPr>
            </a:pPr>
            <a:r>
              <a:rPr sz="2100" b="0">
                <a:solidFill>
                  <a:srgbClr val="5A6482"/>
                </a:solidFill>
                <a:latin typeface="DejaVu Sans"/>
                <a:ea typeface="DejaVu Sans"/>
                <a:cs typeface="DejaVu Sans"/>
              </a:rPr>
              <a:t>Dữ liệu ghi sau thay đổi</a:t>
            </a:r>
          </a:p>
        </p:txBody>
      </p:sp>
      <p:sp>
        <p:nvSpPr>
          <p:cNvPr id="11" name="shape-183">
            <a:extLst xmlns:a="http://schemas.openxmlformats.org/drawingml/2006/main">
              <a:ext uri="{FF2B5EF4-FFF2-40B4-BE49-F238E27FC236}">
                <a16:creationId xmlns:a16="http://schemas.microsoft.com/office/drawing/2014/main" id="{1F45424F-B62C-4284-B86F-0009D141FBEB}"/>
              </a:ext>
            </a:extLst>
          </p:cNvPr>
          <p:cNvSpPr>
            <a:spLocks xmlns:a="http://schemas.openxmlformats.org/drawingml/2006/main" noGrp="1"/>
          </p:cNvSpPr>
          <p:nvPr/>
        </p:nvSpPr>
        <p:spPr>
          <a:xfrm xmlns:a="http://schemas.openxmlformats.org/drawingml/2006/main">
            <a:off x="6600825" y="3076575"/>
            <a:ext cx="2305050" cy="1000125"/>
          </a:xfrm>
          <a:prstGeom xmlns:a="http://schemas.openxmlformats.org/drawingml/2006/main" prst="rect">
            <a:avLst/>
          </a:prstGeom>
          <a:solidFill xmlns:a="http://schemas.openxmlformats.org/drawingml/2006/main">
            <a:srgbClr val="DCD4FA"/>
          </a:solidFill>
          <a:ln xmlns:a="http://schemas.openxmlformats.org/drawingml/2006/main" w="0">
            <a:noFill/>
          </a:ln>
        </p:spPr>
      </p:sp>
      <p:sp>
        <p:nvSpPr>
          <p:cNvPr id="12" name="text-184">
            <a:extLst xmlns:a="http://schemas.openxmlformats.org/drawingml/2006/main">
              <a:ext uri="{FF2B5EF4-FFF2-40B4-BE49-F238E27FC236}">
                <a16:creationId xmlns:a16="http://schemas.microsoft.com/office/drawing/2014/main" id="{F77953FC-2966-423A-B6A2-C009217B93EB}"/>
              </a:ext>
            </a:extLst>
          </p:cNvPr>
          <p:cNvSpPr>
            <a:spLocks xmlns:a="http://schemas.openxmlformats.org/drawingml/2006/main" noGrp="1"/>
          </p:cNvSpPr>
          <p:nvPr/>
        </p:nvSpPr>
        <p:spPr>
          <a:xfrm xmlns:a="http://schemas.openxmlformats.org/drawingml/2006/main">
            <a:off x="6772275" y="3209925"/>
            <a:ext cx="19621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E2852"/>
                </a:solidFill>
                <a:latin typeface="DejaVu Sans"/>
                <a:ea typeface="DejaVu Sans"/>
                <a:cs typeface="DejaVu Sans"/>
              </a:defRPr>
            </a:pPr>
            <a:r>
              <a:rPr sz="2025" b="1">
                <a:solidFill>
                  <a:srgbClr val="1E2852"/>
                </a:solidFill>
                <a:latin typeface="DejaVu Sans"/>
                <a:ea typeface="DejaVu Sans"/>
                <a:cs typeface="DejaVu Sans"/>
              </a:rPr>
              <a:t>2024-02-01</a:t>
            </a:r>
          </a:p>
        </p:txBody>
      </p:sp>
      <p:sp>
        <p:nvSpPr>
          <p:cNvPr id="13" name="shape-185">
            <a:extLst xmlns:a="http://schemas.openxmlformats.org/drawingml/2006/main">
              <a:ext uri="{FF2B5EF4-FFF2-40B4-BE49-F238E27FC236}">
                <a16:creationId xmlns:a16="http://schemas.microsoft.com/office/drawing/2014/main" id="{F183BE2F-00B1-4180-B8F3-05224E099DA6}"/>
              </a:ext>
            </a:extLst>
          </p:cNvPr>
          <p:cNvSpPr>
            <a:spLocks xmlns:a="http://schemas.openxmlformats.org/drawingml/2006/main" noGrp="1"/>
          </p:cNvSpPr>
          <p:nvPr/>
        </p:nvSpPr>
        <p:spPr>
          <a:xfrm xmlns:a="http://schemas.openxmlformats.org/drawingml/2006/main">
            <a:off x="9239250" y="3076575"/>
            <a:ext cx="2305050" cy="1000125"/>
          </a:xfrm>
          <a:prstGeom xmlns:a="http://schemas.openxmlformats.org/drawingml/2006/main" prst="rect">
            <a:avLst/>
          </a:prstGeom>
          <a:solidFill xmlns:a="http://schemas.openxmlformats.org/drawingml/2006/main">
            <a:srgbClr val="DCD4FA"/>
          </a:solidFill>
          <a:ln xmlns:a="http://schemas.openxmlformats.org/drawingml/2006/main" w="0">
            <a:noFill/>
          </a:ln>
        </p:spPr>
      </p:sp>
      <p:sp>
        <p:nvSpPr>
          <p:cNvPr id="14" name="text-186">
            <a:extLst xmlns:a="http://schemas.openxmlformats.org/drawingml/2006/main">
              <a:ext uri="{FF2B5EF4-FFF2-40B4-BE49-F238E27FC236}">
                <a16:creationId xmlns:a16="http://schemas.microsoft.com/office/drawing/2014/main" id="{C04BDD87-4611-418F-A029-25619E93EBCA}"/>
              </a:ext>
            </a:extLst>
          </p:cNvPr>
          <p:cNvSpPr>
            <a:spLocks xmlns:a="http://schemas.openxmlformats.org/drawingml/2006/main" noGrp="1"/>
          </p:cNvSpPr>
          <p:nvPr/>
        </p:nvSpPr>
        <p:spPr>
          <a:xfrm xmlns:a="http://schemas.openxmlformats.org/drawingml/2006/main">
            <a:off x="9410700" y="3209925"/>
            <a:ext cx="19621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E2852"/>
                </a:solidFill>
                <a:latin typeface="DejaVu Sans"/>
                <a:ea typeface="DejaVu Sans"/>
                <a:cs typeface="DejaVu Sans"/>
              </a:defRPr>
            </a:pPr>
            <a:r>
              <a:rPr sz="2025" b="1">
                <a:solidFill>
                  <a:srgbClr val="1E2852"/>
                </a:solidFill>
                <a:latin typeface="DejaVu Sans"/>
                <a:ea typeface="DejaVu Sans"/>
                <a:cs typeface="DejaVu Sans"/>
              </a:rPr>
              <a:t>2024-02-02</a:t>
            </a:r>
          </a:p>
        </p:txBody>
      </p:sp>
      <p:sp>
        <p:nvSpPr>
          <p:cNvPr id="15" name="text-187">
            <a:extLst xmlns:a="http://schemas.openxmlformats.org/drawingml/2006/main">
              <a:ext uri="{FF2B5EF4-FFF2-40B4-BE49-F238E27FC236}">
                <a16:creationId xmlns:a16="http://schemas.microsoft.com/office/drawing/2014/main" id="{18E405F3-77E5-455E-AED7-987D89F50BB3}"/>
              </a:ext>
            </a:extLst>
          </p:cNvPr>
          <p:cNvSpPr>
            <a:spLocks xmlns:a="http://schemas.openxmlformats.org/drawingml/2006/main" noGrp="1"/>
          </p:cNvSpPr>
          <p:nvPr/>
        </p:nvSpPr>
        <p:spPr>
          <a:xfrm xmlns:a="http://schemas.openxmlformats.org/drawingml/2006/main">
            <a:off x="6600825" y="4419600"/>
            <a:ext cx="49434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E2852"/>
                </a:solidFill>
                <a:latin typeface="DejaVu Sans"/>
                <a:ea typeface="DejaVu Sans"/>
                <a:cs typeface="DejaVu Sans"/>
              </a:defRPr>
            </a:pPr>
            <a:r>
              <a:rPr sz="2100" b="0">
                <a:solidFill>
                  <a:srgbClr val="1E2852"/>
                </a:solidFill>
                <a:latin typeface="DejaVu Sans"/>
                <a:ea typeface="DejaVu Sans"/>
                <a:cs typeface="DejaVu Sans"/>
              </a:rPr>
              <a:t>File mới dùng partition theo ngày.</a:t>
            </a:r>
          </a:p>
        </p:txBody>
      </p:sp>
      <p:sp>
        <p:nvSpPr>
          <p:cNvPr id="16" name="shape-188">
            <a:extLst xmlns:a="http://schemas.openxmlformats.org/drawingml/2006/main">
              <a:ext uri="{FF2B5EF4-FFF2-40B4-BE49-F238E27FC236}">
                <a16:creationId xmlns:a16="http://schemas.microsoft.com/office/drawing/2014/main" id="{AB4C0A83-6C17-439B-9B2B-1B06ED11524D}"/>
              </a:ext>
            </a:extLst>
          </p:cNvPr>
          <p:cNvSpPr>
            <a:spLocks xmlns:a="http://schemas.openxmlformats.org/drawingml/2006/main" noGrp="1"/>
          </p:cNvSpPr>
          <p:nvPr/>
        </p:nvSpPr>
        <p:spPr>
          <a:xfrm xmlns:a="http://schemas.openxmlformats.org/drawingml/2006/main">
            <a:off x="647700" y="5629275"/>
            <a:ext cx="10896600" cy="552450"/>
          </a:xfrm>
          <a:prstGeom xmlns:a="http://schemas.openxmlformats.org/drawingml/2006/main" prst="rect">
            <a:avLst/>
          </a:prstGeom>
          <a:solidFill xmlns:a="http://schemas.openxmlformats.org/drawingml/2006/main">
            <a:srgbClr val="F3F0FF"/>
          </a:solidFill>
          <a:ln xmlns:a="http://schemas.openxmlformats.org/drawingml/2006/main" w="0">
            <a:noFill/>
          </a:ln>
        </p:spPr>
      </p:sp>
      <p:sp>
        <p:nvSpPr>
          <p:cNvPr id="17" name="text-189">
            <a:extLst xmlns:a="http://schemas.openxmlformats.org/drawingml/2006/main">
              <a:ext uri="{FF2B5EF4-FFF2-40B4-BE49-F238E27FC236}">
                <a16:creationId xmlns:a16="http://schemas.microsoft.com/office/drawing/2014/main" id="{35E02CA9-A96F-49E7-A6D4-FCAC7B8B4D5B}"/>
              </a:ext>
            </a:extLst>
          </p:cNvPr>
          <p:cNvSpPr>
            <a:spLocks xmlns:a="http://schemas.openxmlformats.org/drawingml/2006/main" noGrp="1"/>
          </p:cNvSpPr>
          <p:nvPr/>
        </p:nvSpPr>
        <p:spPr>
          <a:xfrm xmlns:a="http://schemas.openxmlformats.org/drawingml/2006/main">
            <a:off x="819150" y="57435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6A"/>
                </a:solidFill>
                <a:latin typeface="DejaVu Sans"/>
                <a:ea typeface="DejaVu Sans"/>
                <a:cs typeface="DejaVu Sans"/>
              </a:defRPr>
            </a:pPr>
            <a:r>
              <a:rPr sz="1875" b="1">
                <a:solidFill>
                  <a:srgbClr val="202D6A"/>
                </a:solidFill>
                <a:latin typeface="DejaVu Sans"/>
                <a:ea typeface="DejaVu Sans"/>
                <a:cs typeface="DejaVu Sans"/>
              </a:rPr>
              <a:t>Engine đọc đồng thời nhiều partition spec trong cùng một bảng.</a:t>
            </a:r>
          </a:p>
        </p:txBody>
      </p:sp>
    </p:spTree>
    <p:extLst>
      <p:ext uri="{BB962C8B-B14F-4D97-AF65-F5344CB8AC3E}">
        <p14:creationId xmlns:p14="http://schemas.microsoft.com/office/powerpoint/2010/main" val="1052172427"/>
      </p:ext>
    </p:extLst>
  </p:cSld>
</p:sld>
</file>

<file path=ppt/slides/slide15.xml><?xml version="1.0" encoding="utf-8"?>
<p:sld xmlns:p="http://schemas.openxmlformats.org/presentationml/2006/main">
  <p:cSld>
    <p:bg>
      <p:bgPr>
        <a:solidFill xmlns:a="http://schemas.openxmlformats.org/drawingml/2006/main">
          <a:srgbClr val="F3F0FF"/>
        </a:solidFill>
      </p:bgPr>
    </p:bg>
    <p:spTree>
      <p:nvGrpSpPr>
        <p:cNvPr id="1" name=""/>
        <p:cNvGrpSpPr/>
        <p:nvPr/>
      </p:nvGrpSpPr>
      <p:grpSpPr>
        <a:xfrm xmlns:a="http://schemas.openxmlformats.org/drawingml/2006/main"/>
      </p:grpSpPr>
      <p:sp>
        <p:nvSpPr>
          <p:cNvPr id="8" name="text-190">
            <a:extLst xmlns:a="http://schemas.openxmlformats.org/drawingml/2006/main">
              <a:ext uri="{FF2B5EF4-FFF2-40B4-BE49-F238E27FC236}">
                <a16:creationId xmlns:a16="http://schemas.microsoft.com/office/drawing/2014/main" id="{B4990C12-8177-428A-8503-BF84C0E97B3E}"/>
              </a:ext>
            </a:extLst>
          </p:cNvPr>
          <p:cNvSpPr>
            <a:spLocks xmlns:a="http://schemas.openxmlformats.org/drawingml/2006/main" noGrp="1"/>
          </p:cNvSpPr>
          <p:nvPr/>
        </p:nvSpPr>
        <p:spPr>
          <a:xfrm xmlns:a="http://schemas.openxmlformats.org/drawingml/2006/main">
            <a:off x="647700" y="4191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D6A"/>
                </a:solidFill>
                <a:latin typeface="DejaVu Sans"/>
                <a:ea typeface="DejaVu Sans"/>
                <a:cs typeface="DejaVu Sans"/>
              </a:defRPr>
            </a:pPr>
            <a:r>
              <a:rPr sz="3450" b="1">
                <a:solidFill>
                  <a:srgbClr val="202D6A"/>
                </a:solidFill>
                <a:latin typeface="DejaVu Sans"/>
                <a:ea typeface="DejaVu Sans"/>
                <a:cs typeface="DejaVu Sans"/>
              </a:rPr>
              <a:t>Hidden partitioning: lọc cột nghiệp vụ</a:t>
            </a:r>
          </a:p>
        </p:txBody>
      </p:sp>
      <p:sp>
        <p:nvSpPr>
          <p:cNvPr id="2" name="line-191">
            <a:extLst xmlns:a="http://schemas.openxmlformats.org/drawingml/2006/main">
              <a:ext uri="{FF2B5EF4-FFF2-40B4-BE49-F238E27FC236}">
                <a16:creationId xmlns:a16="http://schemas.microsoft.com/office/drawing/2014/main" id="{809EB73F-F34F-41F0-BA93-A79AF38D5A87}"/>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3" name="text-192">
            <a:extLst xmlns:a="http://schemas.openxmlformats.org/drawingml/2006/main">
              <a:ext uri="{FF2B5EF4-FFF2-40B4-BE49-F238E27FC236}">
                <a16:creationId xmlns:a16="http://schemas.microsoft.com/office/drawing/2014/main" id="{5516E833-B019-41CF-94CC-97813016B39F}"/>
              </a:ext>
            </a:extLst>
          </p:cNvPr>
          <p:cNvSpPr>
            <a:spLocks xmlns:a="http://schemas.openxmlformats.org/drawingml/2006/main" noGrp="1"/>
          </p:cNvSpPr>
          <p:nvPr/>
        </p:nvSpPr>
        <p:spPr>
          <a:xfrm xmlns:a="http://schemas.openxmlformats.org/drawingml/2006/main">
            <a:off x="11144250"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82"/>
                </a:solidFill>
                <a:latin typeface="DejaVu Sans"/>
                <a:ea typeface="DejaVu Sans"/>
                <a:cs typeface="DejaVu Sans"/>
              </a:defRPr>
            </a:pPr>
            <a:r>
              <a:rPr sz="1350" b="0">
                <a:solidFill>
                  <a:srgbClr val="5A6482"/>
                </a:solidFill>
                <a:latin typeface="DejaVu Sans"/>
                <a:ea typeface="DejaVu Sans"/>
                <a:cs typeface="DejaVu Sans"/>
              </a:rPr>
              <a:t>15</a:t>
            </a:r>
          </a:p>
        </p:txBody>
      </p:sp>
      <p:sp>
        <p:nvSpPr>
          <p:cNvPr id="4" name="text-193">
            <a:extLst xmlns:a="http://schemas.openxmlformats.org/drawingml/2006/main">
              <a:ext uri="{FF2B5EF4-FFF2-40B4-BE49-F238E27FC236}">
                <a16:creationId xmlns:a16="http://schemas.microsoft.com/office/drawing/2014/main" id="{E830C6D3-F48C-4926-A061-3300BF6E2B0B}"/>
              </a:ext>
            </a:extLst>
          </p:cNvPr>
          <p:cNvSpPr>
            <a:spLocks xmlns:a="http://schemas.openxmlformats.org/drawingml/2006/main" noGrp="1"/>
          </p:cNvSpPr>
          <p:nvPr/>
        </p:nvSpPr>
        <p:spPr>
          <a:xfrm xmlns:a="http://schemas.openxmlformats.org/drawingml/2006/main">
            <a:off x="647700" y="1666875"/>
            <a:ext cx="10896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3858D6"/>
                </a:solidFill>
                <a:latin typeface="DejaVu Sans"/>
                <a:ea typeface="DejaVu Sans"/>
                <a:cs typeface="DejaVu Sans"/>
              </a:defRPr>
            </a:pPr>
            <a:r>
              <a:rPr sz="2550" b="1">
                <a:solidFill>
                  <a:srgbClr val="3858D6"/>
                </a:solidFill>
                <a:latin typeface="DejaVu Sans"/>
                <a:ea typeface="DejaVu Sans"/>
                <a:cs typeface="DejaVu Sans"/>
              </a:rPr>
              <a:t>Partition: days(event_time)</a:t>
            </a:r>
          </a:p>
        </p:txBody>
      </p:sp>
      <p:sp>
        <p:nvSpPr>
          <p:cNvPr id="5" name="shape-194">
            <a:extLst xmlns:a="http://schemas.openxmlformats.org/drawingml/2006/main">
              <a:ext uri="{FF2B5EF4-FFF2-40B4-BE49-F238E27FC236}">
                <a16:creationId xmlns:a16="http://schemas.microsoft.com/office/drawing/2014/main" id="{4905BFE7-6B29-4830-8FD7-7746FA078F6B}"/>
              </a:ext>
            </a:extLst>
          </p:cNvPr>
          <p:cNvSpPr>
            <a:spLocks xmlns:a="http://schemas.openxmlformats.org/drawingml/2006/main" noGrp="1"/>
          </p:cNvSpPr>
          <p:nvPr/>
        </p:nvSpPr>
        <p:spPr>
          <a:xfrm xmlns:a="http://schemas.openxmlformats.org/drawingml/2006/main">
            <a:off x="647700" y="2438400"/>
            <a:ext cx="10896600" cy="1724025"/>
          </a:xfrm>
          <a:prstGeom xmlns:a="http://schemas.openxmlformats.org/drawingml/2006/main" prst="rect">
            <a:avLst/>
          </a:prstGeom>
          <a:solidFill xmlns:a="http://schemas.openxmlformats.org/drawingml/2006/main">
            <a:srgbClr val="202D6A"/>
          </a:solidFill>
          <a:ln xmlns:a="http://schemas.openxmlformats.org/drawingml/2006/main" w="0">
            <a:noFill/>
          </a:ln>
        </p:spPr>
      </p:sp>
      <p:sp>
        <p:nvSpPr>
          <p:cNvPr id="6" name="text-195">
            <a:extLst xmlns:a="http://schemas.openxmlformats.org/drawingml/2006/main">
              <a:ext uri="{FF2B5EF4-FFF2-40B4-BE49-F238E27FC236}">
                <a16:creationId xmlns:a16="http://schemas.microsoft.com/office/drawing/2014/main" id="{B9F8AB37-D6A0-4F80-9DDF-4E3014275FD5}"/>
              </a:ext>
            </a:extLst>
          </p:cNvPr>
          <p:cNvSpPr>
            <a:spLocks xmlns:a="http://schemas.openxmlformats.org/drawingml/2006/main" noGrp="1"/>
          </p:cNvSpPr>
          <p:nvPr/>
        </p:nvSpPr>
        <p:spPr>
          <a:xfrm xmlns:a="http://schemas.openxmlformats.org/drawingml/2006/main">
            <a:off x="866775" y="2667000"/>
            <a:ext cx="104298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SELECT * FROM sales</a:t>
            </a:r>
          </a:p>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WHERE event_time &gt;= TIMESTAMP '2024-01-10 00:00:00'</a:t>
            </a:r>
          </a:p>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  AND event_time &lt;  TIMESTAMP '2024-01-11 00:00:00';</a:t>
            </a:r>
          </a:p>
        </p:txBody>
      </p:sp>
      <p:sp>
        <p:nvSpPr>
          <p:cNvPr id="7" name="text-196">
            <a:extLst xmlns:a="http://schemas.openxmlformats.org/drawingml/2006/main">
              <a:ext uri="{FF2B5EF4-FFF2-40B4-BE49-F238E27FC236}">
                <a16:creationId xmlns:a16="http://schemas.microsoft.com/office/drawing/2014/main" id="{F19B7C81-7096-41EE-8BD3-2D9C83661651}"/>
              </a:ext>
            </a:extLst>
          </p:cNvPr>
          <p:cNvSpPr>
            <a:spLocks xmlns:a="http://schemas.openxmlformats.org/drawingml/2006/main" noGrp="1"/>
          </p:cNvSpPr>
          <p:nvPr/>
        </p:nvSpPr>
        <p:spPr>
          <a:xfrm xmlns:a="http://schemas.openxmlformats.org/drawingml/2006/main">
            <a:off x="647700" y="46005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02D6A"/>
                </a:solidFill>
                <a:latin typeface="DejaVu Sans"/>
                <a:ea typeface="DejaVu Sans"/>
                <a:cs typeface="DejaVu Sans"/>
              </a:defRPr>
            </a:pPr>
            <a:r>
              <a:rPr sz="2400" b="1">
                <a:solidFill>
                  <a:srgbClr val="202D6A"/>
                </a:solidFill>
                <a:latin typeface="DejaVu Sans"/>
                <a:ea typeface="DejaVu Sans"/>
                <a:cs typeface="DejaVu Sans"/>
              </a:rPr>
              <a:t>Engine suy ra partition ngày 2024-01-10</a:t>
            </a:r>
          </a:p>
          <a:p xmlns:a="http://schemas.openxmlformats.org/drawingml/2006/main">
            <a:pPr>
              <a:defRPr sz="2400" b="1">
                <a:solidFill>
                  <a:srgbClr val="202D6A"/>
                </a:solidFill>
                <a:latin typeface="DejaVu Sans"/>
                <a:ea typeface="DejaVu Sans"/>
                <a:cs typeface="DejaVu Sans"/>
              </a:defRPr>
            </a:pPr>
            <a:r>
              <a:rPr sz="2400" b="1">
                <a:solidFill>
                  <a:srgbClr val="202D6A"/>
                </a:solidFill>
                <a:latin typeface="DejaVu Sans"/>
                <a:ea typeface="DejaVu Sans"/>
                <a:cs typeface="DejaVu Sans"/>
              </a:rPr>
              <a:t>và vẫn kiểm tra điều kiện trên dữ liệu khi cần.</a:t>
            </a:r>
          </a:p>
        </p:txBody>
      </p:sp>
    </p:spTree>
    <p:extLst>
      <p:ext uri="{BB962C8B-B14F-4D97-AF65-F5344CB8AC3E}">
        <p14:creationId xmlns:p14="http://schemas.microsoft.com/office/powerpoint/2010/main" val="98110559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197">
            <a:extLst xmlns:a="http://schemas.openxmlformats.org/drawingml/2006/main">
              <a:ext uri="{FF2B5EF4-FFF2-40B4-BE49-F238E27FC236}">
                <a16:creationId xmlns:a16="http://schemas.microsoft.com/office/drawing/2014/main" id="{CA3CD5FE-128B-4AEF-B72F-8576712275B9}"/>
              </a:ext>
            </a:extLst>
          </p:cNvPr>
          <p:cNvSpPr>
            <a:spLocks xmlns:a="http://schemas.openxmlformats.org/drawingml/2006/main" noGrp="1"/>
          </p:cNvSpPr>
          <p:nvPr/>
        </p:nvSpPr>
        <p:spPr>
          <a:xfrm xmlns:a="http://schemas.openxmlformats.org/drawingml/2006/main">
            <a:off x="647700" y="4191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D6A"/>
                </a:solidFill>
                <a:latin typeface="DejaVu Sans"/>
                <a:ea typeface="DejaVu Sans"/>
                <a:cs typeface="DejaVu Sans"/>
              </a:defRPr>
            </a:pPr>
            <a:r>
              <a:rPr sz="3450" b="1">
                <a:solidFill>
                  <a:srgbClr val="202D6A"/>
                </a:solidFill>
                <a:latin typeface="DejaVu Sans"/>
                <a:ea typeface="DejaVu Sans"/>
                <a:cs typeface="DejaVu Sans"/>
              </a:rPr>
              <a:t>Time travel và rollback</a:t>
            </a:r>
          </a:p>
        </p:txBody>
      </p:sp>
      <p:sp>
        <p:nvSpPr>
          <p:cNvPr id="2" name="line-198">
            <a:extLst xmlns:a="http://schemas.openxmlformats.org/drawingml/2006/main">
              <a:ext uri="{FF2B5EF4-FFF2-40B4-BE49-F238E27FC236}">
                <a16:creationId xmlns:a16="http://schemas.microsoft.com/office/drawing/2014/main" id="{799506F5-4177-4053-8F3C-B1E337C27185}"/>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3" name="text-199">
            <a:extLst xmlns:a="http://schemas.openxmlformats.org/drawingml/2006/main">
              <a:ext uri="{FF2B5EF4-FFF2-40B4-BE49-F238E27FC236}">
                <a16:creationId xmlns:a16="http://schemas.microsoft.com/office/drawing/2014/main" id="{D5E5F30E-239C-404D-96F5-AE2D2A2CF90D}"/>
              </a:ext>
            </a:extLst>
          </p:cNvPr>
          <p:cNvSpPr>
            <a:spLocks xmlns:a="http://schemas.openxmlformats.org/drawingml/2006/main" noGrp="1"/>
          </p:cNvSpPr>
          <p:nvPr/>
        </p:nvSpPr>
        <p:spPr>
          <a:xfrm xmlns:a="http://schemas.openxmlformats.org/drawingml/2006/main">
            <a:off x="11144250"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82"/>
                </a:solidFill>
                <a:latin typeface="DejaVu Sans"/>
                <a:ea typeface="DejaVu Sans"/>
                <a:cs typeface="DejaVu Sans"/>
              </a:defRPr>
            </a:pPr>
            <a:r>
              <a:rPr sz="1350" b="0">
                <a:solidFill>
                  <a:srgbClr val="5A6482"/>
                </a:solidFill>
                <a:latin typeface="DejaVu Sans"/>
                <a:ea typeface="DejaVu Sans"/>
                <a:cs typeface="DejaVu Sans"/>
              </a:rPr>
              <a:t>16</a:t>
            </a:r>
          </a:p>
        </p:txBody>
      </p:sp>
      <p:sp>
        <p:nvSpPr>
          <p:cNvPr id="4" name="shape-200">
            <a:extLst xmlns:a="http://schemas.openxmlformats.org/drawingml/2006/main">
              <a:ext uri="{FF2B5EF4-FFF2-40B4-BE49-F238E27FC236}">
                <a16:creationId xmlns:a16="http://schemas.microsoft.com/office/drawing/2014/main" id="{EA05E763-C1D7-4195-B9C1-DFA6CDDE406E}"/>
              </a:ext>
            </a:extLst>
          </p:cNvPr>
          <p:cNvSpPr>
            <a:spLocks xmlns:a="http://schemas.openxmlformats.org/drawingml/2006/main" noGrp="1"/>
          </p:cNvSpPr>
          <p:nvPr/>
        </p:nvSpPr>
        <p:spPr>
          <a:xfrm xmlns:a="http://schemas.openxmlformats.org/drawingml/2006/main">
            <a:off x="647700" y="1781175"/>
            <a:ext cx="2905125" cy="762000"/>
          </a:xfrm>
          <a:prstGeom xmlns:a="http://schemas.openxmlformats.org/drawingml/2006/main" prst="rect">
            <a:avLst/>
          </a:prstGeom>
          <a:solidFill xmlns:a="http://schemas.openxmlformats.org/drawingml/2006/main">
            <a:srgbClr val="EDF3FF"/>
          </a:solidFill>
          <a:ln xmlns:a="http://schemas.openxmlformats.org/drawingml/2006/main" w="0">
            <a:noFill/>
          </a:ln>
        </p:spPr>
      </p:sp>
      <p:sp>
        <p:nvSpPr>
          <p:cNvPr id="5" name="text-201">
            <a:extLst xmlns:a="http://schemas.openxmlformats.org/drawingml/2006/main">
              <a:ext uri="{FF2B5EF4-FFF2-40B4-BE49-F238E27FC236}">
                <a16:creationId xmlns:a16="http://schemas.microsoft.com/office/drawing/2014/main" id="{93125699-3C6A-4B20-80D0-F6FBD17FAC37}"/>
              </a:ext>
            </a:extLst>
          </p:cNvPr>
          <p:cNvSpPr>
            <a:spLocks xmlns:a="http://schemas.openxmlformats.org/drawingml/2006/main" noGrp="1"/>
          </p:cNvSpPr>
          <p:nvPr/>
        </p:nvSpPr>
        <p:spPr>
          <a:xfrm xmlns:a="http://schemas.openxmlformats.org/drawingml/2006/main">
            <a:off x="819150" y="1914525"/>
            <a:ext cx="2562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E2852"/>
                </a:solidFill>
                <a:latin typeface="DejaVu Sans"/>
                <a:ea typeface="DejaVu Sans"/>
                <a:cs typeface="DejaVu Sans"/>
              </a:defRPr>
            </a:pPr>
            <a:r>
              <a:rPr sz="2250" b="1">
                <a:solidFill>
                  <a:srgbClr val="1E2852"/>
                </a:solidFill>
                <a:latin typeface="DejaVu Sans"/>
                <a:ea typeface="DejaVu Sans"/>
                <a:cs typeface="DejaVu Sans"/>
              </a:rPr>
              <a:t>S101 · đúng</a:t>
            </a:r>
          </a:p>
        </p:txBody>
      </p:sp>
      <p:sp>
        <p:nvSpPr>
          <p:cNvPr id="6" name="shape-202">
            <a:extLst xmlns:a="http://schemas.openxmlformats.org/drawingml/2006/main">
              <a:ext uri="{FF2B5EF4-FFF2-40B4-BE49-F238E27FC236}">
                <a16:creationId xmlns:a16="http://schemas.microsoft.com/office/drawing/2014/main" id="{759EA168-C400-43E8-9856-43CAEF4DB44C}"/>
              </a:ext>
            </a:extLst>
          </p:cNvPr>
          <p:cNvSpPr>
            <a:spLocks xmlns:a="http://schemas.openxmlformats.org/drawingml/2006/main" noGrp="1"/>
          </p:cNvSpPr>
          <p:nvPr/>
        </p:nvSpPr>
        <p:spPr>
          <a:xfrm xmlns:a="http://schemas.openxmlformats.org/drawingml/2006/main">
            <a:off x="4638675" y="1781175"/>
            <a:ext cx="2905125" cy="762000"/>
          </a:xfrm>
          <a:prstGeom xmlns:a="http://schemas.openxmlformats.org/drawingml/2006/main" prst="rect">
            <a:avLst/>
          </a:prstGeom>
          <a:solidFill xmlns:a="http://schemas.openxmlformats.org/drawingml/2006/main">
            <a:srgbClr val="DCD4FA"/>
          </a:solidFill>
          <a:ln xmlns:a="http://schemas.openxmlformats.org/drawingml/2006/main" w="0">
            <a:noFill/>
          </a:ln>
        </p:spPr>
      </p:sp>
      <p:sp>
        <p:nvSpPr>
          <p:cNvPr id="7" name="text-203">
            <a:extLst xmlns:a="http://schemas.openxmlformats.org/drawingml/2006/main">
              <a:ext uri="{FF2B5EF4-FFF2-40B4-BE49-F238E27FC236}">
                <a16:creationId xmlns:a16="http://schemas.microsoft.com/office/drawing/2014/main" id="{86A45612-BFD2-47E3-9101-574698E9B1B7}"/>
              </a:ext>
            </a:extLst>
          </p:cNvPr>
          <p:cNvSpPr>
            <a:spLocks xmlns:a="http://schemas.openxmlformats.org/drawingml/2006/main" noGrp="1"/>
          </p:cNvSpPr>
          <p:nvPr/>
        </p:nvSpPr>
        <p:spPr>
          <a:xfrm xmlns:a="http://schemas.openxmlformats.org/drawingml/2006/main">
            <a:off x="4810125" y="1914525"/>
            <a:ext cx="2562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E2852"/>
                </a:solidFill>
                <a:latin typeface="DejaVu Sans"/>
                <a:ea typeface="DejaVu Sans"/>
                <a:cs typeface="DejaVu Sans"/>
              </a:defRPr>
            </a:pPr>
            <a:r>
              <a:rPr sz="2250" b="1">
                <a:solidFill>
                  <a:srgbClr val="1E2852"/>
                </a:solidFill>
                <a:latin typeface="DejaVu Sans"/>
                <a:ea typeface="DejaVu Sans"/>
                <a:cs typeface="DejaVu Sans"/>
              </a:rPr>
              <a:t>S102 · đúng</a:t>
            </a:r>
          </a:p>
        </p:txBody>
      </p:sp>
      <p:sp>
        <p:nvSpPr>
          <p:cNvPr id="8" name="shape-204">
            <a:extLst xmlns:a="http://schemas.openxmlformats.org/drawingml/2006/main">
              <a:ext uri="{FF2B5EF4-FFF2-40B4-BE49-F238E27FC236}">
                <a16:creationId xmlns:a16="http://schemas.microsoft.com/office/drawing/2014/main" id="{4C83633F-EF5C-41A6-9D9E-0FCFD9D97846}"/>
              </a:ext>
            </a:extLst>
          </p:cNvPr>
          <p:cNvSpPr>
            <a:spLocks xmlns:a="http://schemas.openxmlformats.org/drawingml/2006/main" noGrp="1"/>
          </p:cNvSpPr>
          <p:nvPr/>
        </p:nvSpPr>
        <p:spPr>
          <a:xfrm xmlns:a="http://schemas.openxmlformats.org/drawingml/2006/main">
            <a:off x="8629650" y="1781175"/>
            <a:ext cx="2905125" cy="762000"/>
          </a:xfrm>
          <a:prstGeom xmlns:a="http://schemas.openxmlformats.org/drawingml/2006/main" prst="rect">
            <a:avLst/>
          </a:prstGeom>
          <a:solidFill xmlns:a="http://schemas.openxmlformats.org/drawingml/2006/main">
            <a:srgbClr val="F3F0FF"/>
          </a:solidFill>
          <a:ln xmlns:a="http://schemas.openxmlformats.org/drawingml/2006/main" w="0">
            <a:noFill/>
          </a:ln>
        </p:spPr>
      </p:sp>
      <p:sp>
        <p:nvSpPr>
          <p:cNvPr id="9" name="text-205">
            <a:extLst xmlns:a="http://schemas.openxmlformats.org/drawingml/2006/main">
              <a:ext uri="{FF2B5EF4-FFF2-40B4-BE49-F238E27FC236}">
                <a16:creationId xmlns:a16="http://schemas.microsoft.com/office/drawing/2014/main" id="{D4F1BE29-982B-4151-A289-5D7955CE45C7}"/>
              </a:ext>
            </a:extLst>
          </p:cNvPr>
          <p:cNvSpPr>
            <a:spLocks xmlns:a="http://schemas.openxmlformats.org/drawingml/2006/main" noGrp="1"/>
          </p:cNvSpPr>
          <p:nvPr/>
        </p:nvSpPr>
        <p:spPr>
          <a:xfrm xmlns:a="http://schemas.openxmlformats.org/drawingml/2006/main">
            <a:off x="8801100" y="1914525"/>
            <a:ext cx="2562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E2852"/>
                </a:solidFill>
                <a:latin typeface="DejaVu Sans"/>
                <a:ea typeface="DejaVu Sans"/>
                <a:cs typeface="DejaVu Sans"/>
              </a:defRPr>
            </a:pPr>
            <a:r>
              <a:rPr sz="2250" b="1">
                <a:solidFill>
                  <a:srgbClr val="1E2852"/>
                </a:solidFill>
                <a:latin typeface="DejaVu Sans"/>
                <a:ea typeface="DejaVu Sans"/>
                <a:cs typeface="DejaVu Sans"/>
              </a:rPr>
              <a:t>S103 · lỗi</a:t>
            </a:r>
          </a:p>
        </p:txBody>
      </p:sp>
      <p:cxnSp>
        <p:nvCxnSpPr>
          <p:cNvPr id="27" name=""/>
          <p:cNvCxnSpPr>
            <a:stCxn xmlns:a="http://schemas.openxmlformats.org/drawingml/2006/main" id="4" idx="3"/>
            <a:endCxn xmlns:a="http://schemas.openxmlformats.org/drawingml/2006/main" id="6" idx="1"/>
          </p:cNvCxnSpPr>
          <p:nvPr/>
        </p:nvCxnSpPr>
        <p:spPr>
          <a:xfrm xmlns:a="http://schemas.openxmlformats.org/drawingml/2006/main">
            <a:off x="3552825" y="2162175"/>
            <a:ext cx="1085850" cy="0"/>
          </a:xfrm>
          <a:prstGeom xmlns:a="http://schemas.openxmlformats.org/drawingml/2006/main" prst="straightConnector1">
            <a:avLst/>
          </a:prstGeom>
          <a:ln xmlns:a="http://schemas.openxmlformats.org/drawingml/2006/main" w="23813">
            <a:solidFill>
              <a:srgbClr val="3858D6"/>
            </a:solidFill>
            <a:prstDash val="solid"/>
            <a:tailEnd type="triangle" w="sm" len="sm"/>
          </a:ln>
        </p:spPr>
      </p:cxnSp>
      <p:cxnSp>
        <p:nvCxnSpPr>
          <p:cNvPr id="28" name=""/>
          <p:cNvCxnSpPr>
            <a:stCxn xmlns:a="http://schemas.openxmlformats.org/drawingml/2006/main" id="6" idx="3"/>
            <a:endCxn xmlns:a="http://schemas.openxmlformats.org/drawingml/2006/main" id="8" idx="1"/>
          </p:cNvCxnSpPr>
          <p:nvPr/>
        </p:nvCxnSpPr>
        <p:spPr>
          <a:xfrm xmlns:a="http://schemas.openxmlformats.org/drawingml/2006/main">
            <a:off x="7543800" y="2162175"/>
            <a:ext cx="1085850" cy="0"/>
          </a:xfrm>
          <a:prstGeom xmlns:a="http://schemas.openxmlformats.org/drawingml/2006/main" prst="straightConnector1">
            <a:avLst/>
          </a:prstGeom>
          <a:ln xmlns:a="http://schemas.openxmlformats.org/drawingml/2006/main" w="23813">
            <a:solidFill>
              <a:srgbClr val="3858D6"/>
            </a:solidFill>
            <a:prstDash val="solid"/>
            <a:tailEnd type="triangle" w="sm" len="sm"/>
          </a:ln>
        </p:spPr>
      </p:cxnSp>
      <p:sp>
        <p:nvSpPr>
          <p:cNvPr id="12" name="text-206">
            <a:extLst xmlns:a="http://schemas.openxmlformats.org/drawingml/2006/main">
              <a:ext uri="{FF2B5EF4-FFF2-40B4-BE49-F238E27FC236}">
                <a16:creationId xmlns:a16="http://schemas.microsoft.com/office/drawing/2014/main" id="{C83BA622-9093-460C-B353-E2316D75A2ED}"/>
              </a:ext>
            </a:extLst>
          </p:cNvPr>
          <p:cNvSpPr>
            <a:spLocks xmlns:a="http://schemas.openxmlformats.org/drawingml/2006/main" noGrp="1"/>
          </p:cNvSpPr>
          <p:nvPr/>
        </p:nvSpPr>
        <p:spPr>
          <a:xfrm xmlns:a="http://schemas.openxmlformats.org/drawingml/2006/main">
            <a:off x="647700" y="3171825"/>
            <a:ext cx="5086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858D6"/>
                </a:solidFill>
                <a:latin typeface="DejaVu Sans"/>
                <a:ea typeface="DejaVu Sans"/>
                <a:cs typeface="DejaVu Sans"/>
              </a:defRPr>
            </a:pPr>
            <a:r>
              <a:rPr sz="2025" b="1">
                <a:solidFill>
                  <a:srgbClr val="3858D6"/>
                </a:solidFill>
                <a:latin typeface="DejaVu Sans"/>
                <a:ea typeface="DejaVu Sans"/>
                <a:cs typeface="DejaVu Sans"/>
              </a:rPr>
              <a:t>TIME TRAVEL</a:t>
            </a:r>
          </a:p>
        </p:txBody>
      </p:sp>
      <p:sp>
        <p:nvSpPr>
          <p:cNvPr id="13" name="text-207">
            <a:extLst xmlns:a="http://schemas.openxmlformats.org/drawingml/2006/main">
              <a:ext uri="{FF2B5EF4-FFF2-40B4-BE49-F238E27FC236}">
                <a16:creationId xmlns:a16="http://schemas.microsoft.com/office/drawing/2014/main" id="{188A027F-0F6E-4495-8118-BCA3E49D0058}"/>
              </a:ext>
            </a:extLst>
          </p:cNvPr>
          <p:cNvSpPr>
            <a:spLocks xmlns:a="http://schemas.openxmlformats.org/drawingml/2006/main" noGrp="1"/>
          </p:cNvSpPr>
          <p:nvPr/>
        </p:nvSpPr>
        <p:spPr>
          <a:xfrm xmlns:a="http://schemas.openxmlformats.org/drawingml/2006/main">
            <a:off x="647700" y="3762375"/>
            <a:ext cx="5010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E2852"/>
                </a:solidFill>
                <a:latin typeface="DejaVu Sans"/>
                <a:ea typeface="DejaVu Sans"/>
                <a:cs typeface="DejaVu Sans"/>
              </a:defRPr>
            </a:pPr>
            <a:r>
              <a:rPr sz="2250" b="0">
                <a:solidFill>
                  <a:srgbClr val="1E2852"/>
                </a:solidFill>
                <a:latin typeface="DejaVu Sans"/>
                <a:ea typeface="DejaVu Sans"/>
                <a:cs typeface="DejaVu Sans"/>
              </a:rPr>
              <a:t>Đọc lại S102, không đổi</a:t>
            </a:r>
          </a:p>
          <a:p xmlns:a="http://schemas.openxmlformats.org/drawingml/2006/main">
            <a:pPr>
              <a:defRPr sz="2250" b="0">
                <a:solidFill>
                  <a:srgbClr val="1E2852"/>
                </a:solidFill>
                <a:latin typeface="DejaVu Sans"/>
                <a:ea typeface="DejaVu Sans"/>
                <a:cs typeface="DejaVu Sans"/>
              </a:defRPr>
            </a:pPr>
            <a:r>
              <a:rPr sz="2250" b="0">
                <a:solidFill>
                  <a:srgbClr val="1E2852"/>
                </a:solidFill>
                <a:latin typeface="DejaVu Sans"/>
                <a:ea typeface="DejaVu Sans"/>
                <a:cs typeface="DejaVu Sans"/>
              </a:rPr>
              <a:t>trạng thái hiện tại của bảng.</a:t>
            </a:r>
          </a:p>
        </p:txBody>
      </p:sp>
      <p:sp>
        <p:nvSpPr>
          <p:cNvPr id="14" name="text-208">
            <a:extLst xmlns:a="http://schemas.openxmlformats.org/drawingml/2006/main">
              <a:ext uri="{FF2B5EF4-FFF2-40B4-BE49-F238E27FC236}">
                <a16:creationId xmlns:a16="http://schemas.microsoft.com/office/drawing/2014/main" id="{C2741E84-85C5-4AF6-B8A0-B5749E024E99}"/>
              </a:ext>
            </a:extLst>
          </p:cNvPr>
          <p:cNvSpPr>
            <a:spLocks xmlns:a="http://schemas.openxmlformats.org/drawingml/2006/main" noGrp="1"/>
          </p:cNvSpPr>
          <p:nvPr/>
        </p:nvSpPr>
        <p:spPr>
          <a:xfrm xmlns:a="http://schemas.openxmlformats.org/drawingml/2006/main">
            <a:off x="6496050" y="317182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858D6"/>
                </a:solidFill>
                <a:latin typeface="DejaVu Sans"/>
                <a:ea typeface="DejaVu Sans"/>
                <a:cs typeface="DejaVu Sans"/>
              </a:defRPr>
            </a:pPr>
            <a:r>
              <a:rPr sz="2025" b="1">
                <a:solidFill>
                  <a:srgbClr val="3858D6"/>
                </a:solidFill>
                <a:latin typeface="DejaVu Sans"/>
                <a:ea typeface="DejaVu Sans"/>
                <a:cs typeface="DejaVu Sans"/>
              </a:rPr>
              <a:t>ROLLBACK</a:t>
            </a:r>
          </a:p>
        </p:txBody>
      </p:sp>
      <p:sp>
        <p:nvSpPr>
          <p:cNvPr id="15" name="text-209">
            <a:extLst xmlns:a="http://schemas.openxmlformats.org/drawingml/2006/main">
              <a:ext uri="{FF2B5EF4-FFF2-40B4-BE49-F238E27FC236}">
                <a16:creationId xmlns:a16="http://schemas.microsoft.com/office/drawing/2014/main" id="{6FBE4DA7-A40F-49DC-BA78-89F401B8BFE0}"/>
              </a:ext>
            </a:extLst>
          </p:cNvPr>
          <p:cNvSpPr>
            <a:spLocks xmlns:a="http://schemas.openxmlformats.org/drawingml/2006/main" noGrp="1"/>
          </p:cNvSpPr>
          <p:nvPr/>
        </p:nvSpPr>
        <p:spPr>
          <a:xfrm xmlns:a="http://schemas.openxmlformats.org/drawingml/2006/main">
            <a:off x="6496050" y="3762375"/>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E2852"/>
                </a:solidFill>
                <a:latin typeface="DejaVu Sans"/>
                <a:ea typeface="DejaVu Sans"/>
                <a:cs typeface="DejaVu Sans"/>
              </a:defRPr>
            </a:pPr>
            <a:r>
              <a:rPr sz="2250" b="0">
                <a:solidFill>
                  <a:srgbClr val="1E2852"/>
                </a:solidFill>
                <a:latin typeface="DejaVu Sans"/>
                <a:ea typeface="DejaVu Sans"/>
                <a:cs typeface="DejaVu Sans"/>
              </a:rPr>
              <a:t>Đưa current snapshot</a:t>
            </a:r>
          </a:p>
          <a:p xmlns:a="http://schemas.openxmlformats.org/drawingml/2006/main">
            <a:pPr>
              <a:defRPr sz="2250" b="0">
                <a:solidFill>
                  <a:srgbClr val="1E2852"/>
                </a:solidFill>
                <a:latin typeface="DejaVu Sans"/>
                <a:ea typeface="DejaVu Sans"/>
                <a:cs typeface="DejaVu Sans"/>
              </a:defRPr>
            </a:pPr>
            <a:r>
              <a:rPr sz="2250" b="0">
                <a:solidFill>
                  <a:srgbClr val="1E2852"/>
                </a:solidFill>
                <a:latin typeface="DejaVu Sans"/>
                <a:ea typeface="DejaVu Sans"/>
                <a:cs typeface="DejaVu Sans"/>
              </a:rPr>
              <a:t>trở về S102.</a:t>
            </a:r>
          </a:p>
        </p:txBody>
      </p:sp>
      <p:sp>
        <p:nvSpPr>
          <p:cNvPr id="16" name="shape-210">
            <a:extLst xmlns:a="http://schemas.openxmlformats.org/drawingml/2006/main">
              <a:ext uri="{FF2B5EF4-FFF2-40B4-BE49-F238E27FC236}">
                <a16:creationId xmlns:a16="http://schemas.microsoft.com/office/drawing/2014/main" id="{B406E137-95BF-487F-82DF-C85CB01728E4}"/>
              </a:ext>
            </a:extLst>
          </p:cNvPr>
          <p:cNvSpPr>
            <a:spLocks xmlns:a="http://schemas.openxmlformats.org/drawingml/2006/main" noGrp="1"/>
          </p:cNvSpPr>
          <p:nvPr/>
        </p:nvSpPr>
        <p:spPr>
          <a:xfrm xmlns:a="http://schemas.openxmlformats.org/drawingml/2006/main">
            <a:off x="647700" y="5629275"/>
            <a:ext cx="10896600" cy="552450"/>
          </a:xfrm>
          <a:prstGeom xmlns:a="http://schemas.openxmlformats.org/drawingml/2006/main" prst="rect">
            <a:avLst/>
          </a:prstGeom>
          <a:solidFill xmlns:a="http://schemas.openxmlformats.org/drawingml/2006/main">
            <a:srgbClr val="F3F0FF"/>
          </a:solidFill>
          <a:ln xmlns:a="http://schemas.openxmlformats.org/drawingml/2006/main" w="0">
            <a:noFill/>
          </a:ln>
        </p:spPr>
      </p:sp>
      <p:sp>
        <p:nvSpPr>
          <p:cNvPr id="17" name="text-211">
            <a:extLst xmlns:a="http://schemas.openxmlformats.org/drawingml/2006/main">
              <a:ext uri="{FF2B5EF4-FFF2-40B4-BE49-F238E27FC236}">
                <a16:creationId xmlns:a16="http://schemas.microsoft.com/office/drawing/2014/main" id="{04D015B4-A6F2-46F4-B743-1F7F14F3E578}"/>
              </a:ext>
            </a:extLst>
          </p:cNvPr>
          <p:cNvSpPr>
            <a:spLocks xmlns:a="http://schemas.openxmlformats.org/drawingml/2006/main" noGrp="1"/>
          </p:cNvSpPr>
          <p:nvPr/>
        </p:nvSpPr>
        <p:spPr>
          <a:xfrm xmlns:a="http://schemas.openxmlformats.org/drawingml/2006/main">
            <a:off x="819150" y="57435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6A"/>
                </a:solidFill>
                <a:latin typeface="DejaVu Sans"/>
                <a:ea typeface="DejaVu Sans"/>
                <a:cs typeface="DejaVu Sans"/>
              </a:defRPr>
            </a:pPr>
            <a:r>
              <a:rPr sz="1875" b="1">
                <a:solidFill>
                  <a:srgbClr val="202D6A"/>
                </a:solidFill>
                <a:latin typeface="DejaVu Sans"/>
                <a:ea typeface="DejaVu Sans"/>
                <a:cs typeface="DejaVu Sans"/>
              </a:rPr>
              <a:t>Snapshot và các file liên quan phải còn được giữ lại.</a:t>
            </a:r>
          </a:p>
        </p:txBody>
      </p:sp>
    </p:spTree>
    <p:extLst>
      <p:ext uri="{BB962C8B-B14F-4D97-AF65-F5344CB8AC3E}">
        <p14:creationId xmlns:p14="http://schemas.microsoft.com/office/powerpoint/2010/main" val="2062960388"/>
      </p:ext>
    </p:extLst>
  </p:cSld>
</p:sld>
</file>

<file path=ppt/slides/slide17.xml><?xml version="1.0" encoding="utf-8"?>
<p:sld xmlns:p="http://schemas.openxmlformats.org/presentationml/2006/main">
  <p:cSld>
    <p:bg>
      <p:bgPr>
        <a:solidFill xmlns:a="http://schemas.openxmlformats.org/drawingml/2006/main">
          <a:srgbClr val="F3F0FF"/>
        </a:solidFill>
      </p:bgPr>
    </p:bg>
    <p:spTree>
      <p:nvGrpSpPr>
        <p:cNvPr id="1" name=""/>
        <p:cNvGrpSpPr/>
        <p:nvPr/>
      </p:nvGrpSpPr>
      <p:grpSpPr>
        <a:xfrm xmlns:a="http://schemas.openxmlformats.org/drawingml/2006/main"/>
      </p:grpSpPr>
      <p:sp>
        <p:nvSpPr>
          <p:cNvPr id="15" name="text-212">
            <a:extLst xmlns:a="http://schemas.openxmlformats.org/drawingml/2006/main">
              <a:ext uri="{FF2B5EF4-FFF2-40B4-BE49-F238E27FC236}">
                <a16:creationId xmlns:a16="http://schemas.microsoft.com/office/drawing/2014/main" id="{F7BAC865-7C2C-4E77-9486-49A3EDCDF1B4}"/>
              </a:ext>
            </a:extLst>
          </p:cNvPr>
          <p:cNvSpPr>
            <a:spLocks xmlns:a="http://schemas.openxmlformats.org/drawingml/2006/main" noGrp="1"/>
          </p:cNvSpPr>
          <p:nvPr/>
        </p:nvSpPr>
        <p:spPr>
          <a:xfrm xmlns:a="http://schemas.openxmlformats.org/drawingml/2006/main">
            <a:off x="647700" y="4191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D6A"/>
                </a:solidFill>
                <a:latin typeface="DejaVu Sans"/>
                <a:ea typeface="DejaVu Sans"/>
                <a:cs typeface="DejaVu Sans"/>
              </a:defRPr>
            </a:pPr>
            <a:r>
              <a:rPr sz="3450" b="1">
                <a:solidFill>
                  <a:srgbClr val="202D6A"/>
                </a:solidFill>
                <a:latin typeface="DejaVu Sans"/>
                <a:ea typeface="DejaVu Sans"/>
                <a:cs typeface="DejaVu Sans"/>
              </a:rPr>
              <a:t>Update: CoW và MoR ghi những gì?</a:t>
            </a:r>
          </a:p>
        </p:txBody>
      </p:sp>
      <p:sp>
        <p:nvSpPr>
          <p:cNvPr id="2" name="line-213">
            <a:extLst xmlns:a="http://schemas.openxmlformats.org/drawingml/2006/main">
              <a:ext uri="{FF2B5EF4-FFF2-40B4-BE49-F238E27FC236}">
                <a16:creationId xmlns:a16="http://schemas.microsoft.com/office/drawing/2014/main" id="{41EBDDF0-EE29-4F07-8A7A-7C5386B1409A}"/>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3" name="text-214">
            <a:extLst xmlns:a="http://schemas.openxmlformats.org/drawingml/2006/main">
              <a:ext uri="{FF2B5EF4-FFF2-40B4-BE49-F238E27FC236}">
                <a16:creationId xmlns:a16="http://schemas.microsoft.com/office/drawing/2014/main" id="{26C95DEB-7DDF-45E7-BA03-CEEA7887BB50}"/>
              </a:ext>
            </a:extLst>
          </p:cNvPr>
          <p:cNvSpPr>
            <a:spLocks xmlns:a="http://schemas.openxmlformats.org/drawingml/2006/main" noGrp="1"/>
          </p:cNvSpPr>
          <p:nvPr/>
        </p:nvSpPr>
        <p:spPr>
          <a:xfrm xmlns:a="http://schemas.openxmlformats.org/drawingml/2006/main">
            <a:off x="11144250"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82"/>
                </a:solidFill>
                <a:latin typeface="DejaVu Sans"/>
                <a:ea typeface="DejaVu Sans"/>
                <a:cs typeface="DejaVu Sans"/>
              </a:defRPr>
            </a:pPr>
            <a:r>
              <a:rPr sz="1350" b="0">
                <a:solidFill>
                  <a:srgbClr val="5A6482"/>
                </a:solidFill>
                <a:latin typeface="DejaVu Sans"/>
                <a:ea typeface="DejaVu Sans"/>
                <a:cs typeface="DejaVu Sans"/>
              </a:rPr>
              <a:t>17</a:t>
            </a:r>
          </a:p>
        </p:txBody>
      </p:sp>
      <p:sp>
        <p:nvSpPr>
          <p:cNvPr id="4" name="text-215">
            <a:extLst xmlns:a="http://schemas.openxmlformats.org/drawingml/2006/main">
              <a:ext uri="{FF2B5EF4-FFF2-40B4-BE49-F238E27FC236}">
                <a16:creationId xmlns:a16="http://schemas.microsoft.com/office/drawing/2014/main" id="{AC36B1B2-41DC-40DA-A5A9-AE84439E2BC0}"/>
              </a:ext>
            </a:extLst>
          </p:cNvPr>
          <p:cNvSpPr>
            <a:spLocks xmlns:a="http://schemas.openxmlformats.org/drawingml/2006/main" noGrp="1"/>
          </p:cNvSpPr>
          <p:nvPr/>
        </p:nvSpPr>
        <p:spPr>
          <a:xfrm xmlns:a="http://schemas.openxmlformats.org/drawingml/2006/main">
            <a:off x="647700" y="1552575"/>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858D6"/>
                </a:solidFill>
                <a:latin typeface="DejaVu Sans"/>
                <a:ea typeface="DejaVu Sans"/>
                <a:cs typeface="DejaVu Sans"/>
              </a:defRPr>
            </a:pPr>
            <a:r>
              <a:rPr sz="2025" b="1">
                <a:solidFill>
                  <a:srgbClr val="3858D6"/>
                </a:solidFill>
                <a:latin typeface="DejaVu Sans"/>
                <a:ea typeface="DejaVu Sans"/>
                <a:cs typeface="DejaVu Sans"/>
              </a:rPr>
              <a:t>UPDATE sales SET amount = 250 WHERE order_id = 102</a:t>
            </a:r>
          </a:p>
        </p:txBody>
      </p:sp>
      <p:sp>
        <p:nvSpPr>
          <p:cNvPr id="5" name="text-216">
            <a:extLst xmlns:a="http://schemas.openxmlformats.org/drawingml/2006/main">
              <a:ext uri="{FF2B5EF4-FFF2-40B4-BE49-F238E27FC236}">
                <a16:creationId xmlns:a16="http://schemas.microsoft.com/office/drawing/2014/main" id="{E89BFE73-0751-4E48-8633-1FF7CA2DDEE4}"/>
              </a:ext>
            </a:extLst>
          </p:cNvPr>
          <p:cNvSpPr>
            <a:spLocks xmlns:a="http://schemas.openxmlformats.org/drawingml/2006/main" noGrp="1"/>
          </p:cNvSpPr>
          <p:nvPr/>
        </p:nvSpPr>
        <p:spPr>
          <a:xfrm xmlns:a="http://schemas.openxmlformats.org/drawingml/2006/main">
            <a:off x="647700" y="2200275"/>
            <a:ext cx="4972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D6A"/>
                </a:solidFill>
                <a:latin typeface="DejaVu Sans"/>
                <a:ea typeface="DejaVu Sans"/>
                <a:cs typeface="DejaVu Sans"/>
              </a:defRPr>
            </a:pPr>
            <a:r>
              <a:rPr sz="2100" b="1">
                <a:solidFill>
                  <a:srgbClr val="202D6A"/>
                </a:solidFill>
                <a:latin typeface="DejaVu Sans"/>
                <a:ea typeface="DejaVu Sans"/>
                <a:cs typeface="DejaVu Sans"/>
              </a:rPr>
              <a:t>COPY-ON-WRITE</a:t>
            </a:r>
          </a:p>
        </p:txBody>
      </p:sp>
      <p:sp>
        <p:nvSpPr>
          <p:cNvPr id="6" name="text-217">
            <a:extLst xmlns:a="http://schemas.openxmlformats.org/drawingml/2006/main">
              <a:ext uri="{FF2B5EF4-FFF2-40B4-BE49-F238E27FC236}">
                <a16:creationId xmlns:a16="http://schemas.microsoft.com/office/drawing/2014/main" id="{9BD443C0-5BC4-4193-8F53-A3A867DBCF10}"/>
              </a:ext>
            </a:extLst>
          </p:cNvPr>
          <p:cNvSpPr>
            <a:spLocks xmlns:a="http://schemas.openxmlformats.org/drawingml/2006/main" noGrp="1"/>
          </p:cNvSpPr>
          <p:nvPr/>
        </p:nvSpPr>
        <p:spPr>
          <a:xfrm xmlns:a="http://schemas.openxmlformats.org/drawingml/2006/main">
            <a:off x="647700" y="2867025"/>
            <a:ext cx="5038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E2852"/>
                </a:solidFill>
                <a:latin typeface="DejaVu Sans"/>
                <a:ea typeface="DejaVu Sans"/>
                <a:cs typeface="DejaVu Sans"/>
              </a:defRPr>
            </a:pPr>
            <a:r>
              <a:rPr sz="1950" b="0">
                <a:solidFill>
                  <a:srgbClr val="1E2852"/>
                </a:solidFill>
                <a:latin typeface="DejaVu Sans"/>
                <a:ea typeface="DejaVu Sans"/>
                <a:cs typeface="DejaVu Sans"/>
              </a:rPr>
              <a:t>A.parquet: [101,100] [102,200]</a:t>
            </a:r>
          </a:p>
        </p:txBody>
      </p:sp>
      <p:sp>
        <p:nvSpPr>
          <p:cNvPr id="7" name="text-218">
            <a:extLst xmlns:a="http://schemas.openxmlformats.org/drawingml/2006/main">
              <a:ext uri="{FF2B5EF4-FFF2-40B4-BE49-F238E27FC236}">
                <a16:creationId xmlns:a16="http://schemas.microsoft.com/office/drawing/2014/main" id="{08E652FC-3592-4456-8D3F-5209D4C0F2FD}"/>
              </a:ext>
            </a:extLst>
          </p:cNvPr>
          <p:cNvSpPr>
            <a:spLocks xmlns:a="http://schemas.openxmlformats.org/drawingml/2006/main" noGrp="1"/>
          </p:cNvSpPr>
          <p:nvPr/>
        </p:nvSpPr>
        <p:spPr>
          <a:xfrm xmlns:a="http://schemas.openxmlformats.org/drawingml/2006/main">
            <a:off x="647700" y="3486150"/>
            <a:ext cx="50387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858D6"/>
                </a:solidFill>
                <a:latin typeface="DejaVu Sans"/>
                <a:ea typeface="DejaVu Sans"/>
                <a:cs typeface="DejaVu Sans"/>
              </a:defRPr>
            </a:pPr>
            <a:r>
              <a:rPr sz="2325" b="1">
                <a:solidFill>
                  <a:srgbClr val="3858D6"/>
                </a:solidFill>
                <a:latin typeface="DejaVu Sans"/>
                <a:ea typeface="DejaVu Sans"/>
                <a:cs typeface="DejaVu Sans"/>
              </a:rPr>
              <a:t>Ghi A′.parquet:</a:t>
            </a:r>
          </a:p>
          <a:p xmlns:a="http://schemas.openxmlformats.org/drawingml/2006/main">
            <a:pPr>
              <a:defRPr sz="2325" b="1">
                <a:solidFill>
                  <a:srgbClr val="3858D6"/>
                </a:solidFill>
                <a:latin typeface="DejaVu Sans"/>
                <a:ea typeface="DejaVu Sans"/>
                <a:cs typeface="DejaVu Sans"/>
              </a:defRPr>
            </a:pPr>
            <a:r>
              <a:rPr sz="2325" b="1">
                <a:solidFill>
                  <a:srgbClr val="3858D6"/>
                </a:solidFill>
                <a:latin typeface="DejaVu Sans"/>
                <a:ea typeface="DejaVu Sans"/>
                <a:cs typeface="DejaVu Sans"/>
              </a:rPr>
              <a:t>[101,100] [102,250]</a:t>
            </a:r>
          </a:p>
        </p:txBody>
      </p:sp>
      <p:sp>
        <p:nvSpPr>
          <p:cNvPr id="8" name="text-219">
            <a:extLst xmlns:a="http://schemas.openxmlformats.org/drawingml/2006/main">
              <a:ext uri="{FF2B5EF4-FFF2-40B4-BE49-F238E27FC236}">
                <a16:creationId xmlns:a16="http://schemas.microsoft.com/office/drawing/2014/main" id="{253022EC-9B19-4A25-AB17-E7C5CF37753F}"/>
              </a:ext>
            </a:extLst>
          </p:cNvPr>
          <p:cNvSpPr>
            <a:spLocks xmlns:a="http://schemas.openxmlformats.org/drawingml/2006/main" noGrp="1"/>
          </p:cNvSpPr>
          <p:nvPr/>
        </p:nvSpPr>
        <p:spPr>
          <a:xfrm xmlns:a="http://schemas.openxmlformats.org/drawingml/2006/main">
            <a:off x="647700" y="4695825"/>
            <a:ext cx="50387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E2852"/>
                </a:solidFill>
                <a:latin typeface="DejaVu Sans"/>
                <a:ea typeface="DejaVu Sans"/>
                <a:cs typeface="DejaVu Sans"/>
              </a:defRPr>
            </a:pPr>
            <a:r>
              <a:rPr sz="2025" b="0">
                <a:solidFill>
                  <a:srgbClr val="1E2852"/>
                </a:solidFill>
                <a:latin typeface="DejaVu Sans"/>
                <a:ea typeface="DejaVu Sans"/>
                <a:cs typeface="DejaVu Sans"/>
              </a:rPr>
              <a:t>Snapshot mới thay A bằng A′.</a:t>
            </a:r>
          </a:p>
          <a:p xmlns:a="http://schemas.openxmlformats.org/drawingml/2006/main">
            <a:pPr>
              <a:defRPr sz="2025" b="0">
                <a:solidFill>
                  <a:srgbClr val="1E2852"/>
                </a:solidFill>
                <a:latin typeface="DejaVu Sans"/>
                <a:ea typeface="DejaVu Sans"/>
                <a:cs typeface="DejaVu Sans"/>
              </a:defRPr>
            </a:pPr>
            <a:r>
              <a:rPr sz="2025" b="0">
                <a:solidFill>
                  <a:srgbClr val="1E2852"/>
                </a:solidFill>
                <a:latin typeface="DejaVu Sans"/>
                <a:ea typeface="DejaVu Sans"/>
                <a:cs typeface="DejaVu Sans"/>
              </a:rPr>
              <a:t>Các dòng không đổi được chép lại.</a:t>
            </a:r>
          </a:p>
        </p:txBody>
      </p:sp>
      <p:sp>
        <p:nvSpPr>
          <p:cNvPr id="9" name="text-220">
            <a:extLst xmlns:a="http://schemas.openxmlformats.org/drawingml/2006/main">
              <a:ext uri="{FF2B5EF4-FFF2-40B4-BE49-F238E27FC236}">
                <a16:creationId xmlns:a16="http://schemas.microsoft.com/office/drawing/2014/main" id="{C4E756FB-FF7A-4CE8-8B6F-60E2FB58D001}"/>
              </a:ext>
            </a:extLst>
          </p:cNvPr>
          <p:cNvSpPr>
            <a:spLocks xmlns:a="http://schemas.openxmlformats.org/drawingml/2006/main" noGrp="1"/>
          </p:cNvSpPr>
          <p:nvPr/>
        </p:nvSpPr>
        <p:spPr>
          <a:xfrm xmlns:a="http://schemas.openxmlformats.org/drawingml/2006/main">
            <a:off x="6496050" y="2200275"/>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D6A"/>
                </a:solidFill>
                <a:latin typeface="DejaVu Sans"/>
                <a:ea typeface="DejaVu Sans"/>
                <a:cs typeface="DejaVu Sans"/>
              </a:defRPr>
            </a:pPr>
            <a:r>
              <a:rPr sz="2100" b="1">
                <a:solidFill>
                  <a:srgbClr val="202D6A"/>
                </a:solidFill>
                <a:latin typeface="DejaVu Sans"/>
                <a:ea typeface="DejaVu Sans"/>
                <a:cs typeface="DejaVu Sans"/>
              </a:rPr>
              <a:t>MERGE-ON-READ</a:t>
            </a:r>
          </a:p>
        </p:txBody>
      </p:sp>
      <p:sp>
        <p:nvSpPr>
          <p:cNvPr id="10" name="text-221">
            <a:extLst xmlns:a="http://schemas.openxmlformats.org/drawingml/2006/main">
              <a:ext uri="{FF2B5EF4-FFF2-40B4-BE49-F238E27FC236}">
                <a16:creationId xmlns:a16="http://schemas.microsoft.com/office/drawing/2014/main" id="{B7FDBA25-878F-48AA-B850-3AAA5074659C}"/>
              </a:ext>
            </a:extLst>
          </p:cNvPr>
          <p:cNvSpPr>
            <a:spLocks xmlns:a="http://schemas.openxmlformats.org/drawingml/2006/main" noGrp="1"/>
          </p:cNvSpPr>
          <p:nvPr/>
        </p:nvSpPr>
        <p:spPr>
          <a:xfrm xmlns:a="http://schemas.openxmlformats.org/drawingml/2006/main">
            <a:off x="6496050" y="286702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E2852"/>
                </a:solidFill>
                <a:latin typeface="DejaVu Sans"/>
                <a:ea typeface="DejaVu Sans"/>
                <a:cs typeface="DejaVu Sans"/>
              </a:defRPr>
            </a:pPr>
            <a:r>
              <a:rPr sz="2025" b="0">
                <a:solidFill>
                  <a:srgbClr val="1E2852"/>
                </a:solidFill>
                <a:latin typeface="DejaVu Sans"/>
                <a:ea typeface="DejaVu Sans"/>
                <a:cs typeface="DejaVu Sans"/>
              </a:rPr>
              <a:t>Giữ nguyên A.parquet</a:t>
            </a:r>
          </a:p>
        </p:txBody>
      </p:sp>
      <p:sp>
        <p:nvSpPr>
          <p:cNvPr id="11" name="text-222">
            <a:extLst xmlns:a="http://schemas.openxmlformats.org/drawingml/2006/main">
              <a:ext uri="{FF2B5EF4-FFF2-40B4-BE49-F238E27FC236}">
                <a16:creationId xmlns:a16="http://schemas.microsoft.com/office/drawing/2014/main" id="{925D2ABD-F6AD-4C06-98BE-70E917BF6A5C}"/>
              </a:ext>
            </a:extLst>
          </p:cNvPr>
          <p:cNvSpPr>
            <a:spLocks xmlns:a="http://schemas.openxmlformats.org/drawingml/2006/main" noGrp="1"/>
          </p:cNvSpPr>
          <p:nvPr/>
        </p:nvSpPr>
        <p:spPr>
          <a:xfrm xmlns:a="http://schemas.openxmlformats.org/drawingml/2006/main">
            <a:off x="6496050" y="3486150"/>
            <a:ext cx="5048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858D6"/>
                </a:solidFill>
                <a:latin typeface="DejaVu Sans"/>
                <a:ea typeface="DejaVu Sans"/>
                <a:cs typeface="DejaVu Sans"/>
              </a:defRPr>
            </a:pPr>
            <a:r>
              <a:rPr sz="2175" b="1">
                <a:solidFill>
                  <a:srgbClr val="3858D6"/>
                </a:solidFill>
                <a:latin typeface="DejaVu Sans"/>
                <a:ea typeface="DejaVu Sans"/>
                <a:cs typeface="DejaVu Sans"/>
              </a:rPr>
              <a:t>Delete D: (A.parquet, pos=1)</a:t>
            </a:r>
          </a:p>
          <a:p xmlns:a="http://schemas.openxmlformats.org/drawingml/2006/main">
            <a:pPr>
              <a:defRPr sz="2175" b="1">
                <a:solidFill>
                  <a:srgbClr val="3858D6"/>
                </a:solidFill>
                <a:latin typeface="DejaVu Sans"/>
                <a:ea typeface="DejaVu Sans"/>
                <a:cs typeface="DejaVu Sans"/>
              </a:defRPr>
            </a:pPr>
            <a:r>
              <a:rPr sz="2175" b="1">
                <a:solidFill>
                  <a:srgbClr val="3858D6"/>
                </a:solidFill>
                <a:latin typeface="DejaVu Sans"/>
                <a:ea typeface="DejaVu Sans"/>
                <a:cs typeface="DejaVu Sans"/>
              </a:rPr>
              <a:t>Data B mới: [102,250]</a:t>
            </a:r>
          </a:p>
        </p:txBody>
      </p:sp>
      <p:sp>
        <p:nvSpPr>
          <p:cNvPr id="12" name="text-223">
            <a:extLst xmlns:a="http://schemas.openxmlformats.org/drawingml/2006/main">
              <a:ext uri="{FF2B5EF4-FFF2-40B4-BE49-F238E27FC236}">
                <a16:creationId xmlns:a16="http://schemas.microsoft.com/office/drawing/2014/main" id="{E6116839-AB88-41F5-95AE-0B8786F5B14F}"/>
              </a:ext>
            </a:extLst>
          </p:cNvPr>
          <p:cNvSpPr>
            <a:spLocks xmlns:a="http://schemas.openxmlformats.org/drawingml/2006/main" noGrp="1"/>
          </p:cNvSpPr>
          <p:nvPr/>
        </p:nvSpPr>
        <p:spPr>
          <a:xfrm xmlns:a="http://schemas.openxmlformats.org/drawingml/2006/main">
            <a:off x="6496050" y="4695825"/>
            <a:ext cx="504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E2852"/>
                </a:solidFill>
                <a:latin typeface="DejaVu Sans"/>
                <a:ea typeface="DejaVu Sans"/>
                <a:cs typeface="DejaVu Sans"/>
              </a:defRPr>
            </a:pPr>
            <a:r>
              <a:rPr sz="2025" b="0">
                <a:solidFill>
                  <a:srgbClr val="1E2852"/>
                </a:solidFill>
                <a:latin typeface="DejaVu Sans"/>
                <a:ea typeface="DejaVu Sans"/>
                <a:cs typeface="DejaVu Sans"/>
              </a:rPr>
              <a:t>Reader đọc A + B, rồi áp dụng D.</a:t>
            </a:r>
          </a:p>
          <a:p xmlns:a="http://schemas.openxmlformats.org/drawingml/2006/main">
            <a:pPr>
              <a:defRPr sz="2025" b="0">
                <a:solidFill>
                  <a:srgbClr val="1E2852"/>
                </a:solidFill>
                <a:latin typeface="DejaVu Sans"/>
                <a:ea typeface="DejaVu Sans"/>
                <a:cs typeface="DejaVu Sans"/>
              </a:defRPr>
            </a:pPr>
            <a:r>
              <a:rPr sz="2025" b="0">
                <a:solidFill>
                  <a:srgbClr val="1E2852"/>
                </a:solidFill>
                <a:latin typeface="DejaVu Sans"/>
                <a:ea typeface="DejaVu Sans"/>
                <a:cs typeface="DejaVu Sans"/>
              </a:rPr>
              <a:t>Kết quả: [101,100] [102,250]</a:t>
            </a:r>
          </a:p>
        </p:txBody>
      </p:sp>
      <p:sp>
        <p:nvSpPr>
          <p:cNvPr id="13" name="shape-224">
            <a:extLst xmlns:a="http://schemas.openxmlformats.org/drawingml/2006/main">
              <a:ext uri="{FF2B5EF4-FFF2-40B4-BE49-F238E27FC236}">
                <a16:creationId xmlns:a16="http://schemas.microsoft.com/office/drawing/2014/main" id="{92BFB261-B600-473D-AFF1-3C72E7ACCAA7}"/>
              </a:ext>
            </a:extLst>
          </p:cNvPr>
          <p:cNvSpPr>
            <a:spLocks xmlns:a="http://schemas.openxmlformats.org/drawingml/2006/main" noGrp="1"/>
          </p:cNvSpPr>
          <p:nvPr/>
        </p:nvSpPr>
        <p:spPr>
          <a:xfrm xmlns:a="http://schemas.openxmlformats.org/drawingml/2006/main">
            <a:off x="647700" y="5629275"/>
            <a:ext cx="10896600" cy="552450"/>
          </a:xfrm>
          <a:prstGeom xmlns:a="http://schemas.openxmlformats.org/drawingml/2006/main" prst="rect">
            <a:avLst/>
          </a:prstGeom>
          <a:solidFill xmlns:a="http://schemas.openxmlformats.org/drawingml/2006/main">
            <a:srgbClr val="F3F0FF"/>
          </a:solidFill>
          <a:ln xmlns:a="http://schemas.openxmlformats.org/drawingml/2006/main" w="0">
            <a:noFill/>
          </a:ln>
        </p:spPr>
      </p:sp>
      <p:sp>
        <p:nvSpPr>
          <p:cNvPr id="14" name="text-225">
            <a:extLst xmlns:a="http://schemas.openxmlformats.org/drawingml/2006/main">
              <a:ext uri="{FF2B5EF4-FFF2-40B4-BE49-F238E27FC236}">
                <a16:creationId xmlns:a16="http://schemas.microsoft.com/office/drawing/2014/main" id="{E027C090-0768-4E3D-8DCF-D22AD9E065C2}"/>
              </a:ext>
            </a:extLst>
          </p:cNvPr>
          <p:cNvSpPr>
            <a:spLocks xmlns:a="http://schemas.openxmlformats.org/drawingml/2006/main" noGrp="1"/>
          </p:cNvSpPr>
          <p:nvPr/>
        </p:nvSpPr>
        <p:spPr>
          <a:xfrm xmlns:a="http://schemas.openxmlformats.org/drawingml/2006/main">
            <a:off x="819150" y="57435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6A"/>
                </a:solidFill>
                <a:latin typeface="DejaVu Sans"/>
                <a:ea typeface="DejaVu Sans"/>
                <a:cs typeface="DejaVu Sans"/>
              </a:defRPr>
            </a:pPr>
            <a:r>
              <a:rPr sz="1875" b="1">
                <a:solidFill>
                  <a:srgbClr val="202D6A"/>
                </a:solidFill>
                <a:latin typeface="DejaVu Sans"/>
                <a:ea typeface="DejaVu Sans"/>
                <a:cs typeface="DejaVu Sans"/>
              </a:rPr>
              <a:t>CoW: rewrite nhiều hơn · MoR: xử lý delete khi đọc</a:t>
            </a:r>
          </a:p>
        </p:txBody>
      </p:sp>
    </p:spTree>
    <p:extLst>
      <p:ext uri="{BB962C8B-B14F-4D97-AF65-F5344CB8AC3E}">
        <p14:creationId xmlns:p14="http://schemas.microsoft.com/office/powerpoint/2010/main" val="71090394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226">
            <a:extLst xmlns:a="http://schemas.openxmlformats.org/drawingml/2006/main">
              <a:ext uri="{FF2B5EF4-FFF2-40B4-BE49-F238E27FC236}">
                <a16:creationId xmlns:a16="http://schemas.microsoft.com/office/drawing/2014/main" id="{CE2EB418-DF4E-4F5A-93EA-653CA5F24439}"/>
              </a:ext>
            </a:extLst>
          </p:cNvPr>
          <p:cNvSpPr>
            <a:spLocks xmlns:a="http://schemas.openxmlformats.org/drawingml/2006/main" noGrp="1"/>
          </p:cNvSpPr>
          <p:nvPr/>
        </p:nvSpPr>
        <p:spPr>
          <a:xfrm xmlns:a="http://schemas.openxmlformats.org/drawingml/2006/main">
            <a:off x="647700" y="4191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D6A"/>
                </a:solidFill>
                <a:latin typeface="DejaVu Sans"/>
                <a:ea typeface="DejaVu Sans"/>
                <a:cs typeface="DejaVu Sans"/>
              </a:defRPr>
            </a:pPr>
            <a:r>
              <a:rPr sz="3450" b="1">
                <a:solidFill>
                  <a:srgbClr val="202D6A"/>
                </a:solidFill>
                <a:latin typeface="DejaVu Sans"/>
                <a:ea typeface="DejaVu Sans"/>
                <a:cs typeface="DejaVu Sans"/>
              </a:rPr>
              <a:t>Maintenance là một phần của vận hành</a:t>
            </a:r>
          </a:p>
        </p:txBody>
      </p:sp>
      <p:sp>
        <p:nvSpPr>
          <p:cNvPr id="2" name="line-227">
            <a:extLst xmlns:a="http://schemas.openxmlformats.org/drawingml/2006/main">
              <a:ext uri="{FF2B5EF4-FFF2-40B4-BE49-F238E27FC236}">
                <a16:creationId xmlns:a16="http://schemas.microsoft.com/office/drawing/2014/main" id="{7982C020-411D-4D59-844E-65CF463F7DE0}"/>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3" name="text-228">
            <a:extLst xmlns:a="http://schemas.openxmlformats.org/drawingml/2006/main">
              <a:ext uri="{FF2B5EF4-FFF2-40B4-BE49-F238E27FC236}">
                <a16:creationId xmlns:a16="http://schemas.microsoft.com/office/drawing/2014/main" id="{67EE6294-0C06-4DDB-AB23-3E6EFBC7B4C2}"/>
              </a:ext>
            </a:extLst>
          </p:cNvPr>
          <p:cNvSpPr>
            <a:spLocks xmlns:a="http://schemas.openxmlformats.org/drawingml/2006/main" noGrp="1"/>
          </p:cNvSpPr>
          <p:nvPr/>
        </p:nvSpPr>
        <p:spPr>
          <a:xfrm xmlns:a="http://schemas.openxmlformats.org/drawingml/2006/main">
            <a:off x="11144250"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82"/>
                </a:solidFill>
                <a:latin typeface="DejaVu Sans"/>
                <a:ea typeface="DejaVu Sans"/>
                <a:cs typeface="DejaVu Sans"/>
              </a:defRPr>
            </a:pPr>
            <a:r>
              <a:rPr sz="1350" b="0">
                <a:solidFill>
                  <a:srgbClr val="5A6482"/>
                </a:solidFill>
                <a:latin typeface="DejaVu Sans"/>
                <a:ea typeface="DejaVu Sans"/>
                <a:cs typeface="DejaVu Sans"/>
              </a:rPr>
              <a:t>18</a:t>
            </a:r>
          </a:p>
        </p:txBody>
      </p:sp>
      <p:sp>
        <p:nvSpPr>
          <p:cNvPr id="4" name="text-229">
            <a:extLst xmlns:a="http://schemas.openxmlformats.org/drawingml/2006/main">
              <a:ext uri="{FF2B5EF4-FFF2-40B4-BE49-F238E27FC236}">
                <a16:creationId xmlns:a16="http://schemas.microsoft.com/office/drawing/2014/main" id="{30EAA770-1F3C-42D8-B351-E18B9CCB1954}"/>
              </a:ext>
            </a:extLst>
          </p:cNvPr>
          <p:cNvSpPr>
            <a:spLocks xmlns:a="http://schemas.openxmlformats.org/drawingml/2006/main" noGrp="1"/>
          </p:cNvSpPr>
          <p:nvPr/>
        </p:nvSpPr>
        <p:spPr>
          <a:xfrm xmlns:a="http://schemas.openxmlformats.org/drawingml/2006/main">
            <a:off x="647700" y="1790700"/>
            <a:ext cx="46767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858D6"/>
                </a:solidFill>
                <a:latin typeface="DejaVu Sans"/>
                <a:ea typeface="DejaVu Sans"/>
                <a:cs typeface="DejaVu Sans"/>
              </a:defRPr>
            </a:pPr>
            <a:r>
              <a:rPr sz="2175" b="1">
                <a:solidFill>
                  <a:srgbClr val="3858D6"/>
                </a:solidFill>
                <a:latin typeface="DejaVu Sans"/>
                <a:ea typeface="DejaVu Sans"/>
                <a:cs typeface="DejaVu Sans"/>
              </a:rPr>
              <a:t>rewrite_data_files</a:t>
            </a:r>
          </a:p>
        </p:txBody>
      </p:sp>
      <p:sp>
        <p:nvSpPr>
          <p:cNvPr id="5" name="text-230">
            <a:extLst xmlns:a="http://schemas.openxmlformats.org/drawingml/2006/main">
              <a:ext uri="{FF2B5EF4-FFF2-40B4-BE49-F238E27FC236}">
                <a16:creationId xmlns:a16="http://schemas.microsoft.com/office/drawing/2014/main" id="{29DBC3C8-FBFC-442F-B66B-25F44244B91F}"/>
              </a:ext>
            </a:extLst>
          </p:cNvPr>
          <p:cNvSpPr>
            <a:spLocks xmlns:a="http://schemas.openxmlformats.org/drawingml/2006/main" noGrp="1"/>
          </p:cNvSpPr>
          <p:nvPr/>
        </p:nvSpPr>
        <p:spPr>
          <a:xfrm xmlns:a="http://schemas.openxmlformats.org/drawingml/2006/main">
            <a:off x="5695950" y="1790700"/>
            <a:ext cx="5848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E2852"/>
                </a:solidFill>
                <a:latin typeface="DejaVu Sans"/>
                <a:ea typeface="DejaVu Sans"/>
                <a:cs typeface="DejaVu Sans"/>
              </a:defRPr>
            </a:pPr>
            <a:r>
              <a:rPr sz="2100" b="0">
                <a:solidFill>
                  <a:srgbClr val="1E2852"/>
                </a:solidFill>
                <a:latin typeface="DejaVu Sans"/>
                <a:ea typeface="DejaVu Sans"/>
                <a:cs typeface="DejaVu Sans"/>
              </a:rPr>
              <a:t>Gộp file nhỏ, tối ưu tổ chức dữ liệu.</a:t>
            </a:r>
          </a:p>
        </p:txBody>
      </p:sp>
      <p:sp>
        <p:nvSpPr>
          <p:cNvPr id="6" name="line-231">
            <a:extLst xmlns:a="http://schemas.openxmlformats.org/drawingml/2006/main">
              <a:ext uri="{FF2B5EF4-FFF2-40B4-BE49-F238E27FC236}">
                <a16:creationId xmlns:a16="http://schemas.microsoft.com/office/drawing/2014/main" id="{270DD5BB-C52C-43B7-B944-9F43FB75DD0C}"/>
              </a:ext>
            </a:extLst>
          </p:cNvPr>
          <p:cNvSpPr>
            <a:spLocks xmlns:a="http://schemas.openxmlformats.org/drawingml/2006/main" noGrp="1"/>
          </p:cNvSpPr>
          <p:nvPr/>
        </p:nvSpPr>
        <p:spPr>
          <a:xfrm xmlns:a="http://schemas.openxmlformats.org/drawingml/2006/main">
            <a:off x="647700" y="251460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7" name="text-232">
            <a:extLst xmlns:a="http://schemas.openxmlformats.org/drawingml/2006/main">
              <a:ext uri="{FF2B5EF4-FFF2-40B4-BE49-F238E27FC236}">
                <a16:creationId xmlns:a16="http://schemas.microsoft.com/office/drawing/2014/main" id="{1D8C695B-C720-4BEB-A547-5C285AD00657}"/>
              </a:ext>
            </a:extLst>
          </p:cNvPr>
          <p:cNvSpPr>
            <a:spLocks xmlns:a="http://schemas.openxmlformats.org/drawingml/2006/main" noGrp="1"/>
          </p:cNvSpPr>
          <p:nvPr/>
        </p:nvSpPr>
        <p:spPr>
          <a:xfrm xmlns:a="http://schemas.openxmlformats.org/drawingml/2006/main">
            <a:off x="647700" y="2686050"/>
            <a:ext cx="46767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858D6"/>
                </a:solidFill>
                <a:latin typeface="DejaVu Sans"/>
                <a:ea typeface="DejaVu Sans"/>
                <a:cs typeface="DejaVu Sans"/>
              </a:defRPr>
            </a:pPr>
            <a:r>
              <a:rPr sz="2175" b="1">
                <a:solidFill>
                  <a:srgbClr val="3858D6"/>
                </a:solidFill>
                <a:latin typeface="DejaVu Sans"/>
                <a:ea typeface="DejaVu Sans"/>
                <a:cs typeface="DejaVu Sans"/>
              </a:rPr>
              <a:t>rewrite_manifests</a:t>
            </a:r>
          </a:p>
        </p:txBody>
      </p:sp>
      <p:sp>
        <p:nvSpPr>
          <p:cNvPr id="8" name="text-233">
            <a:extLst xmlns:a="http://schemas.openxmlformats.org/drawingml/2006/main">
              <a:ext uri="{FF2B5EF4-FFF2-40B4-BE49-F238E27FC236}">
                <a16:creationId xmlns:a16="http://schemas.microsoft.com/office/drawing/2014/main" id="{7BDBA582-9DC1-49EC-A64F-EA9661DBE20D}"/>
              </a:ext>
            </a:extLst>
          </p:cNvPr>
          <p:cNvSpPr>
            <a:spLocks xmlns:a="http://schemas.openxmlformats.org/drawingml/2006/main" noGrp="1"/>
          </p:cNvSpPr>
          <p:nvPr/>
        </p:nvSpPr>
        <p:spPr>
          <a:xfrm xmlns:a="http://schemas.openxmlformats.org/drawingml/2006/main">
            <a:off x="5695950" y="2686050"/>
            <a:ext cx="5848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E2852"/>
                </a:solidFill>
                <a:latin typeface="DejaVu Sans"/>
                <a:ea typeface="DejaVu Sans"/>
                <a:cs typeface="DejaVu Sans"/>
              </a:defRPr>
            </a:pPr>
            <a:r>
              <a:rPr sz="2100" b="0">
                <a:solidFill>
                  <a:srgbClr val="1E2852"/>
                </a:solidFill>
                <a:latin typeface="DejaVu Sans"/>
                <a:ea typeface="DejaVu Sans"/>
                <a:cs typeface="DejaVu Sans"/>
              </a:rPr>
              <a:t>Sắp xếp lại metadata để lập kế hoạch tốt hơn.</a:t>
            </a:r>
          </a:p>
        </p:txBody>
      </p:sp>
      <p:sp>
        <p:nvSpPr>
          <p:cNvPr id="9" name="line-234">
            <a:extLst xmlns:a="http://schemas.openxmlformats.org/drawingml/2006/main">
              <a:ext uri="{FF2B5EF4-FFF2-40B4-BE49-F238E27FC236}">
                <a16:creationId xmlns:a16="http://schemas.microsoft.com/office/drawing/2014/main" id="{2D75A61A-A733-4DF0-9D1D-DCC7BBC488D3}"/>
              </a:ext>
            </a:extLst>
          </p:cNvPr>
          <p:cNvSpPr>
            <a:spLocks xmlns:a="http://schemas.openxmlformats.org/drawingml/2006/main" noGrp="1"/>
          </p:cNvSpPr>
          <p:nvPr/>
        </p:nvSpPr>
        <p:spPr>
          <a:xfrm xmlns:a="http://schemas.openxmlformats.org/drawingml/2006/main">
            <a:off x="647700" y="340995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10" name="text-235">
            <a:extLst xmlns:a="http://schemas.openxmlformats.org/drawingml/2006/main">
              <a:ext uri="{FF2B5EF4-FFF2-40B4-BE49-F238E27FC236}">
                <a16:creationId xmlns:a16="http://schemas.microsoft.com/office/drawing/2014/main" id="{12CD6D6B-5045-46C4-A9F2-3ECF95438D8A}"/>
              </a:ext>
            </a:extLst>
          </p:cNvPr>
          <p:cNvSpPr>
            <a:spLocks xmlns:a="http://schemas.openxmlformats.org/drawingml/2006/main" noGrp="1"/>
          </p:cNvSpPr>
          <p:nvPr/>
        </p:nvSpPr>
        <p:spPr>
          <a:xfrm xmlns:a="http://schemas.openxmlformats.org/drawingml/2006/main">
            <a:off x="647700" y="3581400"/>
            <a:ext cx="46767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858D6"/>
                </a:solidFill>
                <a:latin typeface="DejaVu Sans"/>
                <a:ea typeface="DejaVu Sans"/>
                <a:cs typeface="DejaVu Sans"/>
              </a:defRPr>
            </a:pPr>
            <a:r>
              <a:rPr sz="2175" b="1">
                <a:solidFill>
                  <a:srgbClr val="3858D6"/>
                </a:solidFill>
                <a:latin typeface="DejaVu Sans"/>
                <a:ea typeface="DejaVu Sans"/>
                <a:cs typeface="DejaVu Sans"/>
              </a:rPr>
              <a:t>expire_snapshots</a:t>
            </a:r>
          </a:p>
        </p:txBody>
      </p:sp>
      <p:sp>
        <p:nvSpPr>
          <p:cNvPr id="11" name="text-236">
            <a:extLst xmlns:a="http://schemas.openxmlformats.org/drawingml/2006/main">
              <a:ext uri="{FF2B5EF4-FFF2-40B4-BE49-F238E27FC236}">
                <a16:creationId xmlns:a16="http://schemas.microsoft.com/office/drawing/2014/main" id="{33A4E30B-40BC-4F1F-8E5F-F08E6C895674}"/>
              </a:ext>
            </a:extLst>
          </p:cNvPr>
          <p:cNvSpPr>
            <a:spLocks xmlns:a="http://schemas.openxmlformats.org/drawingml/2006/main" noGrp="1"/>
          </p:cNvSpPr>
          <p:nvPr/>
        </p:nvSpPr>
        <p:spPr>
          <a:xfrm xmlns:a="http://schemas.openxmlformats.org/drawingml/2006/main">
            <a:off x="5695950" y="3581400"/>
            <a:ext cx="5848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E2852"/>
                </a:solidFill>
                <a:latin typeface="DejaVu Sans"/>
                <a:ea typeface="DejaVu Sans"/>
                <a:cs typeface="DejaVu Sans"/>
              </a:defRPr>
            </a:pPr>
            <a:r>
              <a:rPr sz="2100" b="0">
                <a:solidFill>
                  <a:srgbClr val="1E2852"/>
                </a:solidFill>
                <a:latin typeface="DejaVu Sans"/>
                <a:ea typeface="DejaVu Sans"/>
                <a:cs typeface="DejaVu Sans"/>
              </a:rPr>
              <a:t>Loại snapshot cũ theo chính sách giữ lịch sử.</a:t>
            </a:r>
          </a:p>
        </p:txBody>
      </p:sp>
      <p:sp>
        <p:nvSpPr>
          <p:cNvPr id="12" name="line-237">
            <a:extLst xmlns:a="http://schemas.openxmlformats.org/drawingml/2006/main">
              <a:ext uri="{FF2B5EF4-FFF2-40B4-BE49-F238E27FC236}">
                <a16:creationId xmlns:a16="http://schemas.microsoft.com/office/drawing/2014/main" id="{D288FF49-E7F1-43CA-8F35-F685E2BE27A6}"/>
              </a:ext>
            </a:extLst>
          </p:cNvPr>
          <p:cNvSpPr>
            <a:spLocks xmlns:a="http://schemas.openxmlformats.org/drawingml/2006/main" noGrp="1"/>
          </p:cNvSpPr>
          <p:nvPr/>
        </p:nvSpPr>
        <p:spPr>
          <a:xfrm xmlns:a="http://schemas.openxmlformats.org/drawingml/2006/main">
            <a:off x="647700" y="430530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13" name="text-238">
            <a:extLst xmlns:a="http://schemas.openxmlformats.org/drawingml/2006/main">
              <a:ext uri="{FF2B5EF4-FFF2-40B4-BE49-F238E27FC236}">
                <a16:creationId xmlns:a16="http://schemas.microsoft.com/office/drawing/2014/main" id="{77F70E59-9707-49DF-B53B-044BF645F5DF}"/>
              </a:ext>
            </a:extLst>
          </p:cNvPr>
          <p:cNvSpPr>
            <a:spLocks xmlns:a="http://schemas.openxmlformats.org/drawingml/2006/main" noGrp="1"/>
          </p:cNvSpPr>
          <p:nvPr/>
        </p:nvSpPr>
        <p:spPr>
          <a:xfrm xmlns:a="http://schemas.openxmlformats.org/drawingml/2006/main">
            <a:off x="647700" y="4476750"/>
            <a:ext cx="46767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858D6"/>
                </a:solidFill>
                <a:latin typeface="DejaVu Sans"/>
                <a:ea typeface="DejaVu Sans"/>
                <a:cs typeface="DejaVu Sans"/>
              </a:defRPr>
            </a:pPr>
            <a:r>
              <a:rPr sz="2175" b="1">
                <a:solidFill>
                  <a:srgbClr val="3858D6"/>
                </a:solidFill>
                <a:latin typeface="DejaVu Sans"/>
                <a:ea typeface="DejaVu Sans"/>
                <a:cs typeface="DejaVu Sans"/>
              </a:rPr>
              <a:t>remove_orphan_files</a:t>
            </a:r>
          </a:p>
        </p:txBody>
      </p:sp>
      <p:sp>
        <p:nvSpPr>
          <p:cNvPr id="14" name="text-239">
            <a:extLst xmlns:a="http://schemas.openxmlformats.org/drawingml/2006/main">
              <a:ext uri="{FF2B5EF4-FFF2-40B4-BE49-F238E27FC236}">
                <a16:creationId xmlns:a16="http://schemas.microsoft.com/office/drawing/2014/main" id="{8D1E9A33-58D8-4ED4-A975-E4EE1FC19FAB}"/>
              </a:ext>
            </a:extLst>
          </p:cNvPr>
          <p:cNvSpPr>
            <a:spLocks xmlns:a="http://schemas.openxmlformats.org/drawingml/2006/main" noGrp="1"/>
          </p:cNvSpPr>
          <p:nvPr/>
        </p:nvSpPr>
        <p:spPr>
          <a:xfrm xmlns:a="http://schemas.openxmlformats.org/drawingml/2006/main">
            <a:off x="5695950" y="4476750"/>
            <a:ext cx="5848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E2852"/>
                </a:solidFill>
                <a:latin typeface="DejaVu Sans"/>
                <a:ea typeface="DejaVu Sans"/>
                <a:cs typeface="DejaVu Sans"/>
              </a:defRPr>
            </a:pPr>
            <a:r>
              <a:rPr sz="2100" b="0">
                <a:solidFill>
                  <a:srgbClr val="1E2852"/>
                </a:solidFill>
                <a:latin typeface="DejaVu Sans"/>
                <a:ea typeface="DejaVu Sans"/>
                <a:cs typeface="DejaVu Sans"/>
              </a:rPr>
              <a:t>Dọn file không được metadata tham chiếu.</a:t>
            </a:r>
          </a:p>
        </p:txBody>
      </p:sp>
      <p:sp>
        <p:nvSpPr>
          <p:cNvPr id="15" name="line-240">
            <a:extLst xmlns:a="http://schemas.openxmlformats.org/drawingml/2006/main">
              <a:ext uri="{FF2B5EF4-FFF2-40B4-BE49-F238E27FC236}">
                <a16:creationId xmlns:a16="http://schemas.microsoft.com/office/drawing/2014/main" id="{747E723A-A2E7-4D42-A134-267BD67BC34C}"/>
              </a:ext>
            </a:extLst>
          </p:cNvPr>
          <p:cNvSpPr>
            <a:spLocks xmlns:a="http://schemas.openxmlformats.org/drawingml/2006/main" noGrp="1"/>
          </p:cNvSpPr>
          <p:nvPr/>
        </p:nvSpPr>
        <p:spPr>
          <a:xfrm xmlns:a="http://schemas.openxmlformats.org/drawingml/2006/main">
            <a:off x="647700" y="520065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16" name="shape-241">
            <a:extLst xmlns:a="http://schemas.openxmlformats.org/drawingml/2006/main">
              <a:ext uri="{FF2B5EF4-FFF2-40B4-BE49-F238E27FC236}">
                <a16:creationId xmlns:a16="http://schemas.microsoft.com/office/drawing/2014/main" id="{727EC737-0C67-4B3E-A048-498FC1966D35}"/>
              </a:ext>
            </a:extLst>
          </p:cNvPr>
          <p:cNvSpPr>
            <a:spLocks xmlns:a="http://schemas.openxmlformats.org/drawingml/2006/main" noGrp="1"/>
          </p:cNvSpPr>
          <p:nvPr/>
        </p:nvSpPr>
        <p:spPr>
          <a:xfrm xmlns:a="http://schemas.openxmlformats.org/drawingml/2006/main">
            <a:off x="647700" y="5629275"/>
            <a:ext cx="10896600" cy="552450"/>
          </a:xfrm>
          <a:prstGeom xmlns:a="http://schemas.openxmlformats.org/drawingml/2006/main" prst="rect">
            <a:avLst/>
          </a:prstGeom>
          <a:solidFill xmlns:a="http://schemas.openxmlformats.org/drawingml/2006/main">
            <a:srgbClr val="F3F0FF"/>
          </a:solidFill>
          <a:ln xmlns:a="http://schemas.openxmlformats.org/drawingml/2006/main" w="0">
            <a:noFill/>
          </a:ln>
        </p:spPr>
      </p:sp>
      <p:sp>
        <p:nvSpPr>
          <p:cNvPr id="17" name="text-242">
            <a:extLst xmlns:a="http://schemas.openxmlformats.org/drawingml/2006/main">
              <a:ext uri="{FF2B5EF4-FFF2-40B4-BE49-F238E27FC236}">
                <a16:creationId xmlns:a16="http://schemas.microsoft.com/office/drawing/2014/main" id="{A6458CDB-8F86-41A8-BE32-13C7C66474C5}"/>
              </a:ext>
            </a:extLst>
          </p:cNvPr>
          <p:cNvSpPr>
            <a:spLocks xmlns:a="http://schemas.openxmlformats.org/drawingml/2006/main" noGrp="1"/>
          </p:cNvSpPr>
          <p:nvPr/>
        </p:nvSpPr>
        <p:spPr>
          <a:xfrm xmlns:a="http://schemas.openxmlformats.org/drawingml/2006/main">
            <a:off x="819150" y="57435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6A"/>
                </a:solidFill>
                <a:latin typeface="DejaVu Sans"/>
                <a:ea typeface="DejaVu Sans"/>
                <a:cs typeface="DejaVu Sans"/>
              </a:defRPr>
            </a:pPr>
            <a:r>
              <a:rPr sz="1875" b="1">
                <a:solidFill>
                  <a:srgbClr val="202D6A"/>
                </a:solidFill>
                <a:latin typeface="DejaVu Sans"/>
                <a:ea typeface="DejaVu Sans"/>
                <a:cs typeface="DejaVu Sans"/>
              </a:rPr>
              <a:t>Đặt retention phù hợp với time travel và thời gian chạy dài nhất.</a:t>
            </a:r>
          </a:p>
        </p:txBody>
      </p:sp>
    </p:spTree>
    <p:extLst>
      <p:ext uri="{BB962C8B-B14F-4D97-AF65-F5344CB8AC3E}">
        <p14:creationId xmlns:p14="http://schemas.microsoft.com/office/powerpoint/2010/main" val="2025642319"/>
      </p:ext>
    </p:extLst>
  </p:cSld>
</p:sld>
</file>

<file path=ppt/slides/slide19.xml><?xml version="1.0" encoding="utf-8"?>
<p:sld xmlns:p="http://schemas.openxmlformats.org/presentationml/2006/main">
  <p:cSld>
    <p:bg>
      <p:bgPr>
        <a:solidFill xmlns:a="http://schemas.openxmlformats.org/drawingml/2006/main">
          <a:srgbClr val="F3F0FF"/>
        </a:solidFill>
      </p:bgPr>
    </p:bg>
    <p:spTree>
      <p:nvGrpSpPr>
        <p:cNvPr id="1" name=""/>
        <p:cNvGrpSpPr/>
        <p:nvPr/>
      </p:nvGrpSpPr>
      <p:grpSpPr>
        <a:xfrm xmlns:a="http://schemas.openxmlformats.org/drawingml/2006/main"/>
      </p:grpSpPr>
      <p:sp>
        <p:nvSpPr>
          <p:cNvPr id="7" name="text-243">
            <a:extLst xmlns:a="http://schemas.openxmlformats.org/drawingml/2006/main">
              <a:ext uri="{FF2B5EF4-FFF2-40B4-BE49-F238E27FC236}">
                <a16:creationId xmlns:a16="http://schemas.microsoft.com/office/drawing/2014/main" id="{3F0DAD4D-C144-4745-847D-3B7CD65C6E61}"/>
              </a:ext>
            </a:extLst>
          </p:cNvPr>
          <p:cNvSpPr>
            <a:spLocks xmlns:a="http://schemas.openxmlformats.org/drawingml/2006/main" noGrp="1"/>
          </p:cNvSpPr>
          <p:nvPr/>
        </p:nvSpPr>
        <p:spPr>
          <a:xfrm xmlns:a="http://schemas.openxmlformats.org/drawingml/2006/main">
            <a:off x="647700" y="4191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D6A"/>
                </a:solidFill>
                <a:latin typeface="DejaVu Sans"/>
                <a:ea typeface="DejaVu Sans"/>
                <a:cs typeface="DejaVu Sans"/>
              </a:defRPr>
            </a:pPr>
            <a:r>
              <a:rPr sz="3450" b="1">
                <a:solidFill>
                  <a:srgbClr val="202D6A"/>
                </a:solidFill>
                <a:latin typeface="DejaVu Sans"/>
                <a:ea typeface="DejaVu Sans"/>
                <a:cs typeface="DejaVu Sans"/>
              </a:rPr>
              <a:t>Iceberg, Delta Lake và Hudi</a:t>
            </a:r>
          </a:p>
        </p:txBody>
      </p:sp>
      <p:sp>
        <p:nvSpPr>
          <p:cNvPr id="2" name="line-244">
            <a:extLst xmlns:a="http://schemas.openxmlformats.org/drawingml/2006/main">
              <a:ext uri="{FF2B5EF4-FFF2-40B4-BE49-F238E27FC236}">
                <a16:creationId xmlns:a16="http://schemas.microsoft.com/office/drawing/2014/main" id="{86161DBC-240B-4B68-9082-3178BB21CDE7}"/>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15240">
            <a:solidFill>
              <a:srgbClr val="CDD4EB"/>
            </a:solidFill>
          </a:ln>
        </p:spPr>
      </p:sp>
      <p:sp>
        <p:nvSpPr>
          <p:cNvPr id="3" name="text-245">
            <a:extLst xmlns:a="http://schemas.openxmlformats.org/drawingml/2006/main">
              <a:ext uri="{FF2B5EF4-FFF2-40B4-BE49-F238E27FC236}">
                <a16:creationId xmlns:a16="http://schemas.microsoft.com/office/drawing/2014/main" id="{AAD7DAB4-0351-4E61-87AE-A9AF9ACF9219}"/>
              </a:ext>
            </a:extLst>
          </p:cNvPr>
          <p:cNvSpPr>
            <a:spLocks xmlns:a="http://schemas.openxmlformats.org/drawingml/2006/main" noGrp="1"/>
          </p:cNvSpPr>
          <p:nvPr/>
        </p:nvSpPr>
        <p:spPr>
          <a:xfrm xmlns:a="http://schemas.openxmlformats.org/drawingml/2006/main">
            <a:off x="11144250"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82"/>
                </a:solidFill>
                <a:latin typeface="DejaVu Sans"/>
                <a:ea typeface="DejaVu Sans"/>
                <a:cs typeface="DejaVu Sans"/>
              </a:defRPr>
            </a:pPr>
            <a:r>
              <a:rPr sz="1350" b="0">
                <a:solidFill>
                  <a:srgbClr val="5A6482"/>
                </a:solidFill>
                <a:latin typeface="DejaVu Sans"/>
                <a:ea typeface="DejaVu Sans"/>
                <a:cs typeface="DejaVu Sans"/>
              </a:rPr>
              <a:t>19</a:t>
            </a:r>
          </a:p>
        </p:txBody>
      </p:sp>
      <p:graphicFrame>
        <p:nvGraphicFramePr>
          <p:cNvPr id="10" name=""/>
          <p:cNvGraphicFramePr/>
          <p:nvPr/>
        </p:nvGraphicFramePr>
        <p:xfrm>
          <a:off xmlns:a="http://schemas.openxmlformats.org/drawingml/2006/main" x="647700" y="1695450"/>
          <a:ext xmlns:a="http://schemas.openxmlformats.org/drawingml/2006/main" cx="10896600" cy="3390900"/>
        </p:xfrm>
        <a:graphic xmlns:a="http://schemas.openxmlformats.org/drawingml/2006/main">
          <a:graphicData uri="http://schemas.openxmlformats.org/drawingml/2006/table">
            <a:tbl>
              <a:tblPr/>
              <a:tblGrid>
                <a:gridCol w="1752600"/>
                <a:gridCol w="3048000"/>
                <a:gridCol w="3048000"/>
                <a:gridCol w="3048000"/>
              </a:tblGrid>
              <a:tr h="847725">
                <a:tc>
                  <a:txBody>
                    <a:bodyPr/>
                    <a:lstStyle/>
                    <a:p>
                      <a:r>
                        <a:rPr sz="1800" b="1">
                          <a:solidFill>
                            <a:srgbClr val="FFFFFF"/>
                          </a:solidFill>
                          <a:latin typeface="DejaVu Sans"/>
                          <a:ea typeface="DejaVu Sans"/>
                          <a:cs typeface="DejaVu Sans"/>
                        </a:rPr>
                        <a:t>Góc nhìn</a:t>
                      </a:r>
                    </a:p>
                  </a:txBody>
                  <a:tcPr marL="91440" marR="91440" marT="45720" marB="45720">
                    <a:solidFill>
                      <a:srgbClr val="202D6A"/>
                    </a:solidFill>
                  </a:tcPr>
                </a:tc>
                <a:tc>
                  <a:txBody>
                    <a:bodyPr/>
                    <a:lstStyle/>
                    <a:p>
                      <a:r>
                        <a:rPr sz="1800" b="1">
                          <a:solidFill>
                            <a:srgbClr val="FFFFFF"/>
                          </a:solidFill>
                          <a:latin typeface="DejaVu Sans"/>
                          <a:ea typeface="DejaVu Sans"/>
                          <a:cs typeface="DejaVu Sans"/>
                        </a:rPr>
                        <a:t>Apache Iceberg</a:t>
                      </a:r>
                    </a:p>
                  </a:txBody>
                  <a:tcPr marL="91440" marR="91440" marT="45720" marB="45720">
                    <a:solidFill>
                      <a:srgbClr val="202D6A"/>
                    </a:solidFill>
                  </a:tcPr>
                </a:tc>
                <a:tc>
                  <a:txBody>
                    <a:bodyPr/>
                    <a:lstStyle/>
                    <a:p>
                      <a:r>
                        <a:rPr sz="1800" b="1">
                          <a:solidFill>
                            <a:srgbClr val="FFFFFF"/>
                          </a:solidFill>
                          <a:latin typeface="DejaVu Sans"/>
                          <a:ea typeface="DejaVu Sans"/>
                          <a:cs typeface="DejaVu Sans"/>
                        </a:rPr>
                        <a:t>Delta Lake</a:t>
                      </a:r>
                    </a:p>
                  </a:txBody>
                  <a:tcPr marL="91440" marR="91440" marT="45720" marB="45720">
                    <a:solidFill>
                      <a:srgbClr val="202D6A"/>
                    </a:solidFill>
                  </a:tcPr>
                </a:tc>
                <a:tc>
                  <a:txBody>
                    <a:bodyPr/>
                    <a:lstStyle/>
                    <a:p>
                      <a:r>
                        <a:rPr sz="1800" b="1">
                          <a:solidFill>
                            <a:srgbClr val="FFFFFF"/>
                          </a:solidFill>
                          <a:latin typeface="DejaVu Sans"/>
                          <a:ea typeface="DejaVu Sans"/>
                          <a:cs typeface="DejaVu Sans"/>
                        </a:rPr>
                        <a:t>Apache Hudi</a:t>
                      </a:r>
                    </a:p>
                  </a:txBody>
                  <a:tcPr marL="91440" marR="91440" marT="45720" marB="45720">
                    <a:solidFill>
                      <a:srgbClr val="202D6A"/>
                    </a:solidFill>
                  </a:tcPr>
                </a:tc>
              </a:tr>
              <a:tr h="847725">
                <a:tc>
                  <a:txBody>
                    <a:bodyPr/>
                    <a:lstStyle/>
                    <a:p>
                      <a:r>
                        <a:rPr sz="1800" b="0">
                          <a:solidFill>
                            <a:srgbClr val="1E2852"/>
                          </a:solidFill>
                          <a:latin typeface="DejaVu Sans"/>
                          <a:ea typeface="DejaVu Sans"/>
                          <a:cs typeface="DejaVu Sans"/>
                        </a:rPr>
                        <a:t>Trọng tâm</a:t>
                      </a:r>
                    </a:p>
                  </a:txBody>
                  <a:tcPr marL="91440" marR="91440" marT="45720" marB="45720">
                    <a:solidFill>
                      <a:srgbClr val="F3F0FF"/>
                    </a:solidFill>
                  </a:tcPr>
                </a:tc>
                <a:tc>
                  <a:txBody>
                    <a:bodyPr/>
                    <a:lstStyle/>
                    <a:p>
                      <a:r>
                        <a:rPr sz="1800" b="0">
                          <a:solidFill>
                            <a:srgbClr val="1E2852"/>
                          </a:solidFill>
                          <a:latin typeface="DejaVu Sans"/>
                          <a:ea typeface="DejaVu Sans"/>
                          <a:cs typeface="DejaVu Sans"/>
                        </a:rPr>
                        <a:t>Table format mở,</a:t>
                      </a:r>
                    </a:p>
                    <a:p>
                      <a:r>
                        <a:rPr sz="1800" b="0">
                          <a:solidFill>
                            <a:srgbClr val="1E2852"/>
                          </a:solidFill>
                          <a:latin typeface="DejaVu Sans"/>
                          <a:ea typeface="DejaVu Sans"/>
                          <a:cs typeface="DejaVu Sans"/>
                        </a:rPr>
                        <a:t>nhiều engine</a:t>
                      </a:r>
                    </a:p>
                  </a:txBody>
                  <a:tcPr marL="91440" marR="91440" marT="45720" marB="45720">
                    <a:solidFill>
                      <a:srgbClr val="F3F0FF"/>
                    </a:solidFill>
                  </a:tcPr>
                </a:tc>
                <a:tc>
                  <a:txBody>
                    <a:bodyPr/>
                    <a:lstStyle/>
                    <a:p>
                      <a:r>
                        <a:rPr sz="1800" b="0">
                          <a:solidFill>
                            <a:srgbClr val="1E2852"/>
                          </a:solidFill>
                          <a:latin typeface="DejaVu Sans"/>
                          <a:ea typeface="DejaVu Sans"/>
                          <a:cs typeface="DejaVu Sans"/>
                        </a:rPr>
                        <a:t>Lakehouse và</a:t>
                      </a:r>
                    </a:p>
                    <a:p>
                      <a:r>
                        <a:rPr sz="1800" b="0">
                          <a:solidFill>
                            <a:srgbClr val="1E2852"/>
                          </a:solidFill>
                          <a:latin typeface="DejaVu Sans"/>
                          <a:ea typeface="DejaVu Sans"/>
                          <a:cs typeface="DejaVu Sans"/>
                        </a:rPr>
                        <a:t>hệ sinh thái Delta</a:t>
                      </a:r>
                    </a:p>
                  </a:txBody>
                  <a:tcPr marL="91440" marR="91440" marT="45720" marB="45720">
                    <a:solidFill>
                      <a:srgbClr val="F3F0FF"/>
                    </a:solidFill>
                  </a:tcPr>
                </a:tc>
                <a:tc>
                  <a:txBody>
                    <a:bodyPr/>
                    <a:lstStyle/>
                    <a:p>
                      <a:r>
                        <a:rPr sz="1800" b="0">
                          <a:solidFill>
                            <a:srgbClr val="1E2852"/>
                          </a:solidFill>
                          <a:latin typeface="DejaVu Sans"/>
                          <a:ea typeface="DejaVu Sans"/>
                          <a:cs typeface="DejaVu Sans"/>
                        </a:rPr>
                        <a:t>Upsert, CDC và</a:t>
                      </a:r>
                    </a:p>
                    <a:p>
                      <a:r>
                        <a:rPr sz="1800" b="0">
                          <a:solidFill>
                            <a:srgbClr val="1E2852"/>
                          </a:solidFill>
                          <a:latin typeface="DejaVu Sans"/>
                          <a:ea typeface="DejaVu Sans"/>
                          <a:cs typeface="DejaVu Sans"/>
                        </a:rPr>
                        <a:t>xử lý tăng dần</a:t>
                      </a:r>
                    </a:p>
                  </a:txBody>
                  <a:tcPr marL="91440" marR="91440" marT="45720" marB="45720">
                    <a:solidFill>
                      <a:srgbClr val="F3F0FF"/>
                    </a:solidFill>
                  </a:tcPr>
                </a:tc>
              </a:tr>
              <a:tr h="847725">
                <a:tc>
                  <a:txBody>
                    <a:bodyPr/>
                    <a:lstStyle/>
                    <a:p>
                      <a:r>
                        <a:rPr sz="1800" b="0">
                          <a:solidFill>
                            <a:srgbClr val="1E2852"/>
                          </a:solidFill>
                          <a:latin typeface="DejaVu Sans"/>
                          <a:ea typeface="DejaVu Sans"/>
                          <a:cs typeface="DejaVu Sans"/>
                        </a:rPr>
                        <a:t>Metadata</a:t>
                      </a:r>
                    </a:p>
                  </a:txBody>
                  <a:tcPr marL="91440" marR="91440" marT="45720" marB="45720">
                    <a:solidFill>
                      <a:srgbClr val="EDF3FF"/>
                    </a:solidFill>
                  </a:tcPr>
                </a:tc>
                <a:tc>
                  <a:txBody>
                    <a:bodyPr/>
                    <a:lstStyle/>
                    <a:p>
                      <a:r>
                        <a:rPr sz="1800" b="0">
                          <a:solidFill>
                            <a:srgbClr val="1E2852"/>
                          </a:solidFill>
                          <a:latin typeface="DejaVu Sans"/>
                          <a:ea typeface="DejaVu Sans"/>
                          <a:cs typeface="DejaVu Sans"/>
                        </a:rPr>
                        <a:t>JSON +</a:t>
                      </a:r>
                    </a:p>
                    <a:p>
                      <a:r>
                        <a:rPr sz="1800" b="0">
                          <a:solidFill>
                            <a:srgbClr val="1E2852"/>
                          </a:solidFill>
                          <a:latin typeface="DejaVu Sans"/>
                          <a:ea typeface="DejaVu Sans"/>
                          <a:cs typeface="DejaVu Sans"/>
                        </a:rPr>
                        <a:t>Avro manifests</a:t>
                      </a:r>
                    </a:p>
                  </a:txBody>
                  <a:tcPr marL="91440" marR="91440" marT="45720" marB="45720">
                    <a:solidFill>
                      <a:srgbClr val="EDF3FF"/>
                    </a:solidFill>
                  </a:tcPr>
                </a:tc>
                <a:tc>
                  <a:txBody>
                    <a:bodyPr/>
                    <a:lstStyle/>
                    <a:p>
                      <a:r>
                        <a:rPr sz="1800" b="0">
                          <a:solidFill>
                            <a:srgbClr val="1E2852"/>
                          </a:solidFill>
                          <a:latin typeface="DejaVu Sans"/>
                          <a:ea typeface="DejaVu Sans"/>
                          <a:cs typeface="DejaVu Sans"/>
                        </a:rPr>
                        <a:t>Transaction log</a:t>
                      </a:r>
                    </a:p>
                    <a:p>
                      <a:r>
                        <a:rPr sz="1800" b="0">
                          <a:solidFill>
                            <a:srgbClr val="1E2852"/>
                          </a:solidFill>
                          <a:latin typeface="DejaVu Sans"/>
                          <a:ea typeface="DejaVu Sans"/>
                          <a:cs typeface="DejaVu Sans"/>
                        </a:rPr>
                        <a:t>+ checkpoints</a:t>
                      </a:r>
                    </a:p>
                  </a:txBody>
                  <a:tcPr marL="91440" marR="91440" marT="45720" marB="45720">
                    <a:solidFill>
                      <a:srgbClr val="EDF3FF"/>
                    </a:solidFill>
                  </a:tcPr>
                </a:tc>
                <a:tc>
                  <a:txBody>
                    <a:bodyPr/>
                    <a:lstStyle/>
                    <a:p>
                      <a:r>
                        <a:rPr sz="1800" b="0">
                          <a:solidFill>
                            <a:srgbClr val="1E2852"/>
                          </a:solidFill>
                          <a:latin typeface="DejaVu Sans"/>
                          <a:ea typeface="DejaVu Sans"/>
                          <a:cs typeface="DejaVu Sans"/>
                        </a:rPr>
                        <a:t>Timeline +</a:t>
                      </a:r>
                    </a:p>
                    <a:p>
                      <a:r>
                        <a:rPr sz="1800" b="0">
                          <a:solidFill>
                            <a:srgbClr val="1E2852"/>
                          </a:solidFill>
                          <a:latin typeface="DejaVu Sans"/>
                          <a:ea typeface="DejaVu Sans"/>
                          <a:cs typeface="DejaVu Sans"/>
                        </a:rPr>
                        <a:t>metadata/index</a:t>
                      </a:r>
                    </a:p>
                  </a:txBody>
                  <a:tcPr marL="91440" marR="91440" marT="45720" marB="45720">
                    <a:solidFill>
                      <a:srgbClr val="EDF3FF"/>
                    </a:solidFill>
                  </a:tcPr>
                </a:tc>
              </a:tr>
              <a:tr h="847725">
                <a:tc>
                  <a:txBody>
                    <a:bodyPr/>
                    <a:lstStyle/>
                    <a:p>
                      <a:r>
                        <a:rPr sz="1800" b="0">
                          <a:solidFill>
                            <a:srgbClr val="1E2852"/>
                          </a:solidFill>
                          <a:latin typeface="DejaVu Sans"/>
                          <a:ea typeface="DejaVu Sans"/>
                          <a:cs typeface="DejaVu Sans"/>
                        </a:rPr>
                        <a:t>Quản trị</a:t>
                      </a:r>
                    </a:p>
                  </a:txBody>
                  <a:tcPr marL="91440" marR="91440" marT="45720" marB="45720">
                    <a:solidFill>
                      <a:srgbClr val="F3F0FF"/>
                    </a:solidFill>
                  </a:tcPr>
                </a:tc>
                <a:tc>
                  <a:txBody>
                    <a:bodyPr/>
                    <a:lstStyle/>
                    <a:p>
                      <a:r>
                        <a:rPr sz="1800" b="0">
                          <a:solidFill>
                            <a:srgbClr val="1E2852"/>
                          </a:solidFill>
                          <a:latin typeface="DejaVu Sans"/>
                          <a:ea typeface="DejaVu Sans"/>
                          <a:cs typeface="DejaVu Sans"/>
                        </a:rPr>
                        <a:t>Apache Software</a:t>
                      </a:r>
                    </a:p>
                    <a:p>
                      <a:r>
                        <a:rPr sz="1800" b="0">
                          <a:solidFill>
                            <a:srgbClr val="1E2852"/>
                          </a:solidFill>
                          <a:latin typeface="DejaVu Sans"/>
                          <a:ea typeface="DejaVu Sans"/>
                          <a:cs typeface="DejaVu Sans"/>
                        </a:rPr>
                        <a:t>Foundation</a:t>
                      </a:r>
                    </a:p>
                  </a:txBody>
                  <a:tcPr marL="91440" marR="91440" marT="45720" marB="45720">
                    <a:solidFill>
                      <a:srgbClr val="F3F0FF"/>
                    </a:solidFill>
                  </a:tcPr>
                </a:tc>
                <a:tc>
                  <a:txBody>
                    <a:bodyPr/>
                    <a:lstStyle/>
                    <a:p>
                      <a:r>
                        <a:rPr sz="1800" b="0">
                          <a:solidFill>
                            <a:srgbClr val="1E2852"/>
                          </a:solidFill>
                          <a:latin typeface="DejaVu Sans"/>
                          <a:ea typeface="DejaVu Sans"/>
                          <a:cs typeface="DejaVu Sans"/>
                        </a:rPr>
                        <a:t>Linux Foundation</a:t>
                      </a:r>
                    </a:p>
                    <a:p>
                      <a:r>
                        <a:rPr sz="1800" b="0">
                          <a:solidFill>
                            <a:srgbClr val="1E2852"/>
                          </a:solidFill>
                          <a:latin typeface="DejaVu Sans"/>
                          <a:ea typeface="DejaVu Sans"/>
                          <a:cs typeface="DejaVu Sans"/>
                        </a:rPr>
                        <a:t>Projects</a:t>
                      </a:r>
                    </a:p>
                  </a:txBody>
                  <a:tcPr marL="91440" marR="91440" marT="45720" marB="45720">
                    <a:solidFill>
                      <a:srgbClr val="F3F0FF"/>
                    </a:solidFill>
                  </a:tcPr>
                </a:tc>
                <a:tc>
                  <a:txBody>
                    <a:bodyPr/>
                    <a:lstStyle/>
                    <a:p>
                      <a:r>
                        <a:rPr sz="1800" b="0">
                          <a:solidFill>
                            <a:srgbClr val="1E2852"/>
                          </a:solidFill>
                          <a:latin typeface="DejaVu Sans"/>
                          <a:ea typeface="DejaVu Sans"/>
                          <a:cs typeface="DejaVu Sans"/>
                        </a:rPr>
                        <a:t>Apache Software</a:t>
                      </a:r>
                    </a:p>
                    <a:p>
                      <a:r>
                        <a:rPr sz="1800" b="0">
                          <a:solidFill>
                            <a:srgbClr val="1E2852"/>
                          </a:solidFill>
                          <a:latin typeface="DejaVu Sans"/>
                          <a:ea typeface="DejaVu Sans"/>
                          <a:cs typeface="DejaVu Sans"/>
                        </a:rPr>
                        <a:t>Foundation</a:t>
                      </a:r>
                    </a:p>
                  </a:txBody>
                  <a:tcPr marL="91440" marR="91440" marT="45720" marB="45720">
                    <a:solidFill>
                      <a:srgbClr val="F3F0FF"/>
                    </a:solidFill>
                  </a:tcPr>
                </a:tc>
              </a:tr>
            </a:tbl>
          </a:graphicData>
        </a:graphic>
      </p:graphicFrame>
      <p:sp>
        <p:nvSpPr>
          <p:cNvPr id="5" name="shape-246">
            <a:extLst xmlns:a="http://schemas.openxmlformats.org/drawingml/2006/main">
              <a:ext uri="{FF2B5EF4-FFF2-40B4-BE49-F238E27FC236}">
                <a16:creationId xmlns:a16="http://schemas.microsoft.com/office/drawing/2014/main" id="{7DB516FF-D576-4EDB-AE60-1C3464BD3470}"/>
              </a:ext>
            </a:extLst>
          </p:cNvPr>
          <p:cNvSpPr>
            <a:spLocks xmlns:a="http://schemas.openxmlformats.org/drawingml/2006/main" noGrp="1"/>
          </p:cNvSpPr>
          <p:nvPr/>
        </p:nvSpPr>
        <p:spPr>
          <a:xfrm xmlns:a="http://schemas.openxmlformats.org/drawingml/2006/main">
            <a:off x="647700" y="5629275"/>
            <a:ext cx="10896600" cy="552450"/>
          </a:xfrm>
          <a:prstGeom xmlns:a="http://schemas.openxmlformats.org/drawingml/2006/main" prst="rect">
            <a:avLst/>
          </a:prstGeom>
          <a:solidFill xmlns:a="http://schemas.openxmlformats.org/drawingml/2006/main">
            <a:srgbClr val="F3F0FF"/>
          </a:solidFill>
          <a:ln xmlns:a="http://schemas.openxmlformats.org/drawingml/2006/main" w="0">
            <a:noFill/>
          </a:ln>
        </p:spPr>
      </p:sp>
      <p:sp>
        <p:nvSpPr>
          <p:cNvPr id="6" name="text-247">
            <a:extLst xmlns:a="http://schemas.openxmlformats.org/drawingml/2006/main">
              <a:ext uri="{FF2B5EF4-FFF2-40B4-BE49-F238E27FC236}">
                <a16:creationId xmlns:a16="http://schemas.microsoft.com/office/drawing/2014/main" id="{FA148657-CBA7-4946-9A56-C6D0BC6702EB}"/>
              </a:ext>
            </a:extLst>
          </p:cNvPr>
          <p:cNvSpPr>
            <a:spLocks xmlns:a="http://schemas.openxmlformats.org/drawingml/2006/main" noGrp="1"/>
          </p:cNvSpPr>
          <p:nvPr/>
        </p:nvSpPr>
        <p:spPr>
          <a:xfrm xmlns:a="http://schemas.openxmlformats.org/drawingml/2006/main">
            <a:off x="819150" y="57435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6A"/>
                </a:solidFill>
                <a:latin typeface="DejaVu Sans"/>
                <a:ea typeface="DejaVu Sans"/>
                <a:cs typeface="DejaVu Sans"/>
              </a:defRPr>
            </a:pPr>
            <a:r>
              <a:rPr sz="1875" b="1">
                <a:solidFill>
                  <a:srgbClr val="202D6A"/>
                </a:solidFill>
                <a:latin typeface="DejaVu Sans"/>
                <a:ea typeface="DejaVu Sans"/>
                <a:cs typeface="DejaVu Sans"/>
              </a:rPr>
              <a:t>Chọn theo workload và mức hỗ trợ của engine đang dùng.</a:t>
            </a:r>
          </a:p>
        </p:txBody>
      </p:sp>
    </p:spTree>
    <p:extLst>
      <p:ext uri="{BB962C8B-B14F-4D97-AF65-F5344CB8AC3E}">
        <p14:creationId xmlns:p14="http://schemas.microsoft.com/office/powerpoint/2010/main" val="1263682098"/>
      </p:ext>
    </p:extLst>
  </p:cSld>
</p:sld>
</file>

<file path=ppt/slides/slide20.xml><?xml version="1.0" encoding="utf-8"?>
<p:sld xmlns:p="http://schemas.openxmlformats.org/presentationml/2006/main">
  <p:cSld>
    <p:bg>
      <p:bgPr>
        <a:solidFill xmlns:a="http://schemas.openxmlformats.org/drawingml/2006/main">
          <a:srgbClr val="DCD4FA"/>
        </a:solidFill>
      </p:bgPr>
    </p:bg>
    <p:spTree>
      <p:nvGrpSpPr>
        <p:cNvPr id="1" name=""/>
        <p:cNvGrpSpPr/>
        <p:nvPr/>
      </p:nvGrpSpPr>
      <p:grpSpPr>
        <a:xfrm xmlns:a="http://schemas.openxmlformats.org/drawingml/2006/main"/>
      </p:grpSpPr>
      <p:sp>
        <p:nvSpPr>
          <p:cNvPr id="10" name="text-248">
            <a:extLst xmlns:a="http://schemas.openxmlformats.org/drawingml/2006/main">
              <a:ext uri="{FF2B5EF4-FFF2-40B4-BE49-F238E27FC236}">
                <a16:creationId xmlns:a16="http://schemas.microsoft.com/office/drawing/2014/main" id="{B4BE5AE2-824F-40C7-8EFA-9D0B59E90504}"/>
              </a:ext>
            </a:extLst>
          </p:cNvPr>
          <p:cNvSpPr>
            <a:spLocks xmlns:a="http://schemas.openxmlformats.org/drawingml/2006/main" noGrp="1"/>
          </p:cNvSpPr>
          <p:nvPr/>
        </p:nvSpPr>
        <p:spPr>
          <a:xfrm xmlns:a="http://schemas.openxmlformats.org/drawingml/2006/main">
            <a:off x="647700" y="6477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75" b="1">
                <a:solidFill>
                  <a:srgbClr val="202D6A"/>
                </a:solidFill>
                <a:latin typeface="DejaVu Sans"/>
                <a:ea typeface="DejaVu Sans"/>
                <a:cs typeface="DejaVu Sans"/>
              </a:defRPr>
            </a:pPr>
            <a:r>
              <a:rPr sz="6075" b="1">
                <a:solidFill>
                  <a:srgbClr val="202D6A"/>
                </a:solidFill>
                <a:latin typeface="DejaVu Sans"/>
                <a:ea typeface="DejaVu Sans"/>
                <a:cs typeface="DejaVu Sans"/>
              </a:rPr>
              <a:t>CẢM ƠN!</a:t>
            </a:r>
          </a:p>
        </p:txBody>
      </p:sp>
      <p:sp>
        <p:nvSpPr>
          <p:cNvPr id="2" name="text-249">
            <a:extLst xmlns:a="http://schemas.openxmlformats.org/drawingml/2006/main">
              <a:ext uri="{FF2B5EF4-FFF2-40B4-BE49-F238E27FC236}">
                <a16:creationId xmlns:a16="http://schemas.microsoft.com/office/drawing/2014/main" id="{A03F1911-63B9-4FBE-86F2-4F41E87FB705}"/>
              </a:ext>
            </a:extLst>
          </p:cNvPr>
          <p:cNvSpPr>
            <a:spLocks xmlns:a="http://schemas.openxmlformats.org/drawingml/2006/main" noGrp="1"/>
          </p:cNvSpPr>
          <p:nvPr/>
        </p:nvSpPr>
        <p:spPr>
          <a:xfrm xmlns:a="http://schemas.openxmlformats.org/drawingml/2006/main">
            <a:off x="704850" y="2190750"/>
            <a:ext cx="10839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3858D6"/>
                </a:solidFill>
                <a:latin typeface="DejaVu Sans"/>
                <a:ea typeface="DejaVu Sans"/>
                <a:cs typeface="DejaVu Sans"/>
              </a:defRPr>
            </a:pPr>
            <a:r>
              <a:rPr sz="2925" b="1">
                <a:solidFill>
                  <a:srgbClr val="3858D6"/>
                </a:solidFill>
                <a:latin typeface="DejaVu Sans"/>
                <a:ea typeface="DejaVu Sans"/>
                <a:cs typeface="DejaVu Sans"/>
              </a:rPr>
              <a:t>Ba điều cần nhớ về Iceberg</a:t>
            </a:r>
          </a:p>
        </p:txBody>
      </p:sp>
      <p:sp>
        <p:nvSpPr>
          <p:cNvPr id="3" name="text-250">
            <a:extLst xmlns:a="http://schemas.openxmlformats.org/drawingml/2006/main">
              <a:ext uri="{FF2B5EF4-FFF2-40B4-BE49-F238E27FC236}">
                <a16:creationId xmlns:a16="http://schemas.microsoft.com/office/drawing/2014/main" id="{FCEBBD28-47C3-43FA-9035-F9D047EDC70D}"/>
              </a:ext>
            </a:extLst>
          </p:cNvPr>
          <p:cNvSpPr>
            <a:spLocks xmlns:a="http://schemas.openxmlformats.org/drawingml/2006/main" noGrp="1"/>
          </p:cNvSpPr>
          <p:nvPr/>
        </p:nvSpPr>
        <p:spPr>
          <a:xfrm xmlns:a="http://schemas.openxmlformats.org/drawingml/2006/main">
            <a:off x="704850" y="310515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858D6"/>
                </a:solidFill>
                <a:latin typeface="DejaVu Sans"/>
                <a:ea typeface="DejaVu Sans"/>
                <a:cs typeface="DejaVu Sans"/>
              </a:defRPr>
            </a:pPr>
            <a:r>
              <a:rPr sz="2250" b="1">
                <a:solidFill>
                  <a:srgbClr val="3858D6"/>
                </a:solidFill>
                <a:latin typeface="DejaVu Sans"/>
                <a:ea typeface="DejaVu Sans"/>
                <a:cs typeface="DejaVu Sans"/>
              </a:rPr>
              <a:t>01</a:t>
            </a:r>
          </a:p>
        </p:txBody>
      </p:sp>
      <p:sp>
        <p:nvSpPr>
          <p:cNvPr id="4" name="text-251">
            <a:extLst xmlns:a="http://schemas.openxmlformats.org/drawingml/2006/main">
              <a:ext uri="{FF2B5EF4-FFF2-40B4-BE49-F238E27FC236}">
                <a16:creationId xmlns:a16="http://schemas.microsoft.com/office/drawing/2014/main" id="{1EE1C7CD-D2B5-4621-8D6C-BE8B111ECDF8}"/>
              </a:ext>
            </a:extLst>
          </p:cNvPr>
          <p:cNvSpPr>
            <a:spLocks xmlns:a="http://schemas.openxmlformats.org/drawingml/2006/main" noGrp="1"/>
          </p:cNvSpPr>
          <p:nvPr/>
        </p:nvSpPr>
        <p:spPr>
          <a:xfrm xmlns:a="http://schemas.openxmlformats.org/drawingml/2006/main">
            <a:off x="1552575" y="3105150"/>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02D6A"/>
                </a:solidFill>
                <a:latin typeface="DejaVu Sans"/>
                <a:ea typeface="DejaVu Sans"/>
                <a:cs typeface="DejaVu Sans"/>
              </a:defRPr>
            </a:pPr>
            <a:r>
              <a:rPr sz="2250" b="0">
                <a:solidFill>
                  <a:srgbClr val="202D6A"/>
                </a:solidFill>
                <a:latin typeface="DejaVu Sans"/>
                <a:ea typeface="DejaVu Sans"/>
                <a:cs typeface="DejaVu Sans"/>
              </a:rPr>
              <a:t>Metadata xác định chính xác trạng thái bảng.</a:t>
            </a:r>
          </a:p>
        </p:txBody>
      </p:sp>
      <p:sp>
        <p:nvSpPr>
          <p:cNvPr id="5" name="text-252">
            <a:extLst xmlns:a="http://schemas.openxmlformats.org/drawingml/2006/main">
              <a:ext uri="{FF2B5EF4-FFF2-40B4-BE49-F238E27FC236}">
                <a16:creationId xmlns:a16="http://schemas.microsoft.com/office/drawing/2014/main" id="{B78A698D-C2F9-4171-889B-F26EE5E8EE75}"/>
              </a:ext>
            </a:extLst>
          </p:cNvPr>
          <p:cNvSpPr>
            <a:spLocks xmlns:a="http://schemas.openxmlformats.org/drawingml/2006/main" noGrp="1"/>
          </p:cNvSpPr>
          <p:nvPr/>
        </p:nvSpPr>
        <p:spPr>
          <a:xfrm xmlns:a="http://schemas.openxmlformats.org/drawingml/2006/main">
            <a:off x="704850" y="38957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858D6"/>
                </a:solidFill>
                <a:latin typeface="DejaVu Sans"/>
                <a:ea typeface="DejaVu Sans"/>
                <a:cs typeface="DejaVu Sans"/>
              </a:defRPr>
            </a:pPr>
            <a:r>
              <a:rPr sz="2250" b="1">
                <a:solidFill>
                  <a:srgbClr val="3858D6"/>
                </a:solidFill>
                <a:latin typeface="DejaVu Sans"/>
                <a:ea typeface="DejaVu Sans"/>
                <a:cs typeface="DejaVu Sans"/>
              </a:rPr>
              <a:t>02</a:t>
            </a:r>
          </a:p>
        </p:txBody>
      </p:sp>
      <p:sp>
        <p:nvSpPr>
          <p:cNvPr id="6" name="text-253">
            <a:extLst xmlns:a="http://schemas.openxmlformats.org/drawingml/2006/main">
              <a:ext uri="{FF2B5EF4-FFF2-40B4-BE49-F238E27FC236}">
                <a16:creationId xmlns:a16="http://schemas.microsoft.com/office/drawing/2014/main" id="{1B1B9FD4-F1D7-4B81-A1EC-D2EFC4AD7973}"/>
              </a:ext>
            </a:extLst>
          </p:cNvPr>
          <p:cNvSpPr>
            <a:spLocks xmlns:a="http://schemas.openxmlformats.org/drawingml/2006/main" noGrp="1"/>
          </p:cNvSpPr>
          <p:nvPr/>
        </p:nvSpPr>
        <p:spPr>
          <a:xfrm xmlns:a="http://schemas.openxmlformats.org/drawingml/2006/main">
            <a:off x="1552575" y="38957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02D6A"/>
                </a:solidFill>
                <a:latin typeface="DejaVu Sans"/>
                <a:ea typeface="DejaVu Sans"/>
                <a:cs typeface="DejaVu Sans"/>
              </a:defRPr>
            </a:pPr>
            <a:r>
              <a:rPr sz="2250" b="0">
                <a:solidFill>
                  <a:srgbClr val="202D6A"/>
                </a:solidFill>
                <a:latin typeface="DejaVu Sans"/>
                <a:ea typeface="DejaVu Sans"/>
                <a:cs typeface="DejaVu Sans"/>
              </a:rPr>
              <a:t>Snapshot + commit nguyên tử tạo nền tảng nhất quán.</a:t>
            </a:r>
          </a:p>
        </p:txBody>
      </p:sp>
      <p:sp>
        <p:nvSpPr>
          <p:cNvPr id="7" name="text-254">
            <a:extLst xmlns:a="http://schemas.openxmlformats.org/drawingml/2006/main">
              <a:ext uri="{FF2B5EF4-FFF2-40B4-BE49-F238E27FC236}">
                <a16:creationId xmlns:a16="http://schemas.microsoft.com/office/drawing/2014/main" id="{D98CD804-CF98-41FC-8702-70DEFCA645A3}"/>
              </a:ext>
            </a:extLst>
          </p:cNvPr>
          <p:cNvSpPr>
            <a:spLocks xmlns:a="http://schemas.openxmlformats.org/drawingml/2006/main" noGrp="1"/>
          </p:cNvSpPr>
          <p:nvPr/>
        </p:nvSpPr>
        <p:spPr>
          <a:xfrm xmlns:a="http://schemas.openxmlformats.org/drawingml/2006/main">
            <a:off x="704850" y="468630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858D6"/>
                </a:solidFill>
                <a:latin typeface="DejaVu Sans"/>
                <a:ea typeface="DejaVu Sans"/>
                <a:cs typeface="DejaVu Sans"/>
              </a:defRPr>
            </a:pPr>
            <a:r>
              <a:rPr sz="2250" b="1">
                <a:solidFill>
                  <a:srgbClr val="3858D6"/>
                </a:solidFill>
                <a:latin typeface="DejaVu Sans"/>
                <a:ea typeface="DejaVu Sans"/>
                <a:cs typeface="DejaVu Sans"/>
              </a:rPr>
              <a:t>03</a:t>
            </a:r>
          </a:p>
        </p:txBody>
      </p:sp>
      <p:sp>
        <p:nvSpPr>
          <p:cNvPr id="8" name="text-255">
            <a:extLst xmlns:a="http://schemas.openxmlformats.org/drawingml/2006/main">
              <a:ext uri="{FF2B5EF4-FFF2-40B4-BE49-F238E27FC236}">
                <a16:creationId xmlns:a16="http://schemas.microsoft.com/office/drawing/2014/main" id="{4B9C3F43-A6AF-4F4A-AE28-9CACCDE847B6}"/>
              </a:ext>
            </a:extLst>
          </p:cNvPr>
          <p:cNvSpPr>
            <a:spLocks xmlns:a="http://schemas.openxmlformats.org/drawingml/2006/main" noGrp="1"/>
          </p:cNvSpPr>
          <p:nvPr/>
        </p:nvSpPr>
        <p:spPr>
          <a:xfrm xmlns:a="http://schemas.openxmlformats.org/drawingml/2006/main">
            <a:off x="1552575" y="4686300"/>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02D6A"/>
                </a:solidFill>
                <a:latin typeface="DejaVu Sans"/>
                <a:ea typeface="DejaVu Sans"/>
                <a:cs typeface="DejaVu Sans"/>
              </a:defRPr>
            </a:pPr>
            <a:r>
              <a:rPr sz="2250" b="0">
                <a:solidFill>
                  <a:srgbClr val="202D6A"/>
                </a:solidFill>
                <a:latin typeface="DejaVu Sans"/>
                <a:ea typeface="DejaVu Sans"/>
                <a:cs typeface="DejaVu Sans"/>
              </a:rPr>
              <a:t>Thiết kế file và maintenance quyết định hiệu năng.</a:t>
            </a:r>
          </a:p>
        </p:txBody>
      </p:sp>
      <p:sp>
        <p:nvSpPr>
          <p:cNvPr id="9" name="text-256">
            <a:extLst xmlns:a="http://schemas.openxmlformats.org/drawingml/2006/main">
              <a:ext uri="{FF2B5EF4-FFF2-40B4-BE49-F238E27FC236}">
                <a16:creationId xmlns:a16="http://schemas.microsoft.com/office/drawing/2014/main" id="{C0894A94-FEDD-4F4D-BC09-9F952AD6DF28}"/>
              </a:ext>
            </a:extLst>
          </p:cNvPr>
          <p:cNvSpPr>
            <a:spLocks xmlns:a="http://schemas.openxmlformats.org/drawingml/2006/main" noGrp="1"/>
          </p:cNvSpPr>
          <p:nvPr/>
        </p:nvSpPr>
        <p:spPr>
          <a:xfrm xmlns:a="http://schemas.openxmlformats.org/drawingml/2006/main">
            <a:off x="704850" y="5800725"/>
            <a:ext cx="10839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02D6A"/>
                </a:solidFill>
                <a:latin typeface="DejaVu Sans"/>
                <a:ea typeface="DejaVu Sans"/>
                <a:cs typeface="DejaVu Sans"/>
              </a:defRPr>
            </a:pPr>
            <a:r>
              <a:rPr sz="3150" b="1">
                <a:solidFill>
                  <a:srgbClr val="202D6A"/>
                </a:solidFill>
                <a:latin typeface="DejaVu Sans"/>
                <a:ea typeface="DejaVu Sans"/>
                <a:cs typeface="DejaVu Sans"/>
              </a:rPr>
              <a:t>Q&amp;A</a:t>
            </a:r>
          </a:p>
        </p:txBody>
      </p:sp>
    </p:spTree>
    <p:extLst>
      <p:ext uri="{BB962C8B-B14F-4D97-AF65-F5344CB8AC3E}">
        <p14:creationId xmlns:p14="http://schemas.microsoft.com/office/powerpoint/2010/main" val="1992333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2026-09-10T15:58:57.5100000Z</dcterms:created>
  <dcterms:modified xsi:type="dcterms:W3CDTF">2026-09-10T15:58:57.5100000Z</dcterms:modified>
</coreProperties>
</file>